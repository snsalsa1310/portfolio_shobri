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Teko"/>
      <p:regular r:id="rId43"/>
      <p:bold r:id="rId44"/>
    </p:embeddedFont>
    <p:embeddedFont>
      <p:font typeface="Roboto"/>
      <p:regular r:id="rId45"/>
      <p:bold r:id="rId46"/>
      <p:italic r:id="rId47"/>
      <p:boldItalic r:id="rId48"/>
    </p:embeddedFont>
    <p:embeddedFont>
      <p:font typeface="Bodoni"/>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7E7156-9326-4E86-A50B-C3B2185A36B2}">
  <a:tblStyle styleId="{F07E7156-9326-4E86-A50B-C3B2185A36B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Teko-bold.fntdata"/><Relationship Id="rId43" Type="http://schemas.openxmlformats.org/officeDocument/2006/relationships/font" Target="fonts/Teko-regular.fntdata"/><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Bodoni-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Bodoni-italic.fntdata"/><Relationship Id="rId50" Type="http://schemas.openxmlformats.org/officeDocument/2006/relationships/font" Target="fonts/Bodoni-bold.fntdata"/><Relationship Id="rId52" Type="http://schemas.openxmlformats.org/officeDocument/2006/relationships/font" Target="fonts/Bodon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79f4bb849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g279f4bb8491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279f4bb8491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79f4bb8491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g279f4bb8491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g279f4bb8491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79dadf500b_0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g279dadf500b_0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2" name="Google Shape;222;g279dadf500b_0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0" name="Google Shape;2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279dadf500b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g279dadf500b_0_1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g279dadf500b_0_1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79dadf500b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g279dadf500b_0_13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279dadf500b_0_13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79dadf500b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g279dadf500b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1" name="Google Shape;311;g279dadf500b_0_1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279d5fcbd63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g279d5fcbd63_0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4" name="Google Shape;324;g279d5fcbd63_0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79dadf500b_0_1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7" name="Google Shape;337;g279dadf500b_0_1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279dadf500b_0_1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ef9438991b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g2ef9438991b_0_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1" name="Google Shape;351;g2ef9438991b_0_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279dadf500b_0_1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2" name="Google Shape;362;g279dadf500b_0_1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g279dadf500b_0_1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ef9438991b_0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g2ef9438991b_0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g2ef9438991b_0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79dadf500b_0_1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279dadf500b_0_19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279dadf500b_0_19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ef9438991b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g2ef9438991b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6" name="Google Shape;406;g2ef9438991b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79dadf500b_0_2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279dadf500b_0_2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g279dadf500b_0_2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1" name="Google Shape;431;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2" name="Google Shape;432;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279dadf500b_0_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g279dadf500b_0_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g279dadf500b_0_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79ed395497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g279ed395497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5" name="Google Shape;455;g279ed395497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79dadf500b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279dadf500b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5" name="Google Shape;465;g279dadf500b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279dadf500b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g279dadf500b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279dadf500b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79dadf500b_0_2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g279dadf500b_0_2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g279dadf500b_0_2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279dadf500b_0_2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g279dadf500b_0_2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g279dadf500b_0_2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79dadf500b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g279dadf500b_0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g279dadf500b_0_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2efe7c50ca5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g2efe7c50ca5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g2efe7c50ca5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279ed39549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6" name="Google Shape;546;g279ed39549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g279ed39549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79ed395497_0_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1" name="Google Shape;561;g279ed395497_0_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2" name="Google Shape;562;g279ed395497_0_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279f4bb8491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279f4bb8491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g279f4bb8491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ID"/>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2" name="Shape 22"/>
        <p:cNvGrpSpPr/>
        <p:nvPr/>
      </p:nvGrpSpPr>
      <p:grpSpPr>
        <a:xfrm>
          <a:off x="0" y="0"/>
          <a:ext cx="0" cy="0"/>
          <a:chOff x="0" y="0"/>
          <a:chExt cx="0" cy="0"/>
        </a:xfrm>
      </p:grpSpPr>
      <p:sp>
        <p:nvSpPr>
          <p:cNvPr id="23" name="Google Shape;23;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5" name="Google Shape;25;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7" name="Google Shape;37;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0" name="Shape 40"/>
        <p:cNvGrpSpPr/>
        <p:nvPr/>
      </p:nvGrpSpPr>
      <p:grpSpPr>
        <a:xfrm>
          <a:off x="0" y="0"/>
          <a:ext cx="0" cy="0"/>
          <a:chOff x="0" y="0"/>
          <a:chExt cx="0" cy="0"/>
        </a:xfrm>
      </p:grpSpPr>
      <p:sp>
        <p:nvSpPr>
          <p:cNvPr id="41" name="Google Shape;41;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7" name="Shape 47"/>
        <p:cNvGrpSpPr/>
        <p:nvPr/>
      </p:nvGrpSpPr>
      <p:grpSpPr>
        <a:xfrm>
          <a:off x="0" y="0"/>
          <a:ext cx="0" cy="0"/>
          <a:chOff x="0" y="0"/>
          <a:chExt cx="0" cy="0"/>
        </a:xfrm>
      </p:grpSpPr>
      <p:sp>
        <p:nvSpPr>
          <p:cNvPr id="48" name="Google Shape;48;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sp>
        <p:nvSpPr>
          <p:cNvPr id="57" name="Google Shape;57;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0"/>
          <p:cNvSpPr/>
          <p:nvPr>
            <p:ph idx="2" type="pic"/>
          </p:nvPr>
        </p:nvSpPr>
        <p:spPr>
          <a:xfrm>
            <a:off x="5183188" y="987425"/>
            <a:ext cx="6172200" cy="4873625"/>
          </a:xfrm>
          <a:prstGeom prst="rect">
            <a:avLst/>
          </a:prstGeom>
          <a:noFill/>
          <a:ln>
            <a:noFill/>
          </a:ln>
        </p:spPr>
      </p:sp>
      <p:sp>
        <p:nvSpPr>
          <p:cNvPr id="75" name="Google Shape;75;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6.xml"/><Relationship Id="rId10" Type="http://schemas.openxmlformats.org/officeDocument/2006/relationships/slideLayout" Target="../slideLayouts/slideLayout5.xml"/><Relationship Id="rId13" Type="http://schemas.openxmlformats.org/officeDocument/2006/relationships/slideLayout" Target="../slideLayouts/slideLayout8.xml"/><Relationship Id="rId12" Type="http://schemas.openxmlformats.org/officeDocument/2006/relationships/slideLayout" Target="../slideLayouts/slideLayout7.xml"/><Relationship Id="rId1" Type="http://schemas.openxmlformats.org/officeDocument/2006/relationships/image" Target="../media/image14.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9" Type="http://schemas.openxmlformats.org/officeDocument/2006/relationships/slideLayout" Target="../slideLayouts/slideLayout4.xml"/><Relationship Id="rId15" Type="http://schemas.openxmlformats.org/officeDocument/2006/relationships/slideLayout" Target="../slideLayouts/slideLayout10.xml"/><Relationship Id="rId14" Type="http://schemas.openxmlformats.org/officeDocument/2006/relationships/slideLayout" Target="../slideLayouts/slideLayout9.xml"/><Relationship Id="rId17" Type="http://schemas.openxmlformats.org/officeDocument/2006/relationships/theme" Target="../theme/theme2.xml"/><Relationship Id="rId16" Type="http://schemas.openxmlformats.org/officeDocument/2006/relationships/slideLayout" Target="../slideLayouts/slideLayout11.xml"/><Relationship Id="rId5"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slideLayout" Target="../slideLayouts/slideLayout2.xml"/><Relationship Id="rId8"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D"/>
              <a:t>‹#›</a:t>
            </a:fld>
            <a:endParaRPr/>
          </a:p>
        </p:txBody>
      </p:sp>
      <p:sp>
        <p:nvSpPr>
          <p:cNvPr id="15" name="Google Shape;15;p1"/>
          <p:cNvSpPr/>
          <p:nvPr/>
        </p:nvSpPr>
        <p:spPr>
          <a:xfrm>
            <a:off x="2083253" y="6506093"/>
            <a:ext cx="9364840" cy="300222"/>
          </a:xfrm>
          <a:prstGeom prst="rect">
            <a:avLst/>
          </a:prstGeom>
          <a:gradFill>
            <a:gsLst>
              <a:gs pos="0">
                <a:srgbClr val="9C9C9C"/>
              </a:gs>
              <a:gs pos="50000">
                <a:srgbClr val="C3C3C3"/>
              </a:gs>
              <a:gs pos="100000">
                <a:srgbClr val="E2E2E2"/>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ID" sz="1800" u="none" cap="none" strike="noStrike">
                <a:solidFill>
                  <a:srgbClr val="FF0000"/>
                </a:solidFill>
                <a:latin typeface="Calibri"/>
                <a:ea typeface="Calibri"/>
                <a:cs typeface="Calibri"/>
                <a:sym typeface="Calibri"/>
              </a:rPr>
              <a:t>C</a:t>
            </a:r>
            <a:r>
              <a:rPr b="0" i="1" lang="en-ID" sz="1400" u="none" cap="none" strike="noStrike">
                <a:solidFill>
                  <a:srgbClr val="002060"/>
                </a:solidFill>
                <a:latin typeface="Calibri"/>
                <a:ea typeface="Calibri"/>
                <a:cs typeface="Calibri"/>
                <a:sym typeface="Calibri"/>
              </a:rPr>
              <a:t>reative &amp; innovative – </a:t>
            </a:r>
            <a:r>
              <a:rPr b="1" i="1" lang="en-ID" sz="1800" u="none" cap="none" strike="noStrike">
                <a:solidFill>
                  <a:srgbClr val="FF0000"/>
                </a:solidFill>
                <a:latin typeface="Calibri"/>
                <a:ea typeface="Calibri"/>
                <a:cs typeface="Calibri"/>
                <a:sym typeface="Calibri"/>
              </a:rPr>
              <a:t>H</a:t>
            </a:r>
            <a:r>
              <a:rPr b="0" i="1" lang="en-ID" sz="1400" u="none" cap="none" strike="noStrike">
                <a:solidFill>
                  <a:srgbClr val="002060"/>
                </a:solidFill>
                <a:latin typeface="Calibri"/>
                <a:ea typeface="Calibri"/>
                <a:cs typeface="Calibri"/>
                <a:sym typeface="Calibri"/>
              </a:rPr>
              <a:t>uman capital development – </a:t>
            </a:r>
            <a:r>
              <a:rPr b="1" i="1" lang="en-ID" sz="1800" u="none" cap="none" strike="noStrike">
                <a:solidFill>
                  <a:srgbClr val="FF0000"/>
                </a:solidFill>
                <a:latin typeface="Calibri"/>
                <a:ea typeface="Calibri"/>
                <a:cs typeface="Calibri"/>
                <a:sym typeface="Calibri"/>
              </a:rPr>
              <a:t>A</a:t>
            </a:r>
            <a:r>
              <a:rPr b="0" i="1" lang="en-ID" sz="1400" u="none" cap="none" strike="noStrike">
                <a:solidFill>
                  <a:srgbClr val="002060"/>
                </a:solidFill>
                <a:latin typeface="Calibri"/>
                <a:ea typeface="Calibri"/>
                <a:cs typeface="Calibri"/>
                <a:sym typeface="Calibri"/>
              </a:rPr>
              <a:t>gile &amp; accelerate – </a:t>
            </a:r>
            <a:r>
              <a:rPr b="1" i="1" lang="en-ID" sz="1800" u="none" cap="none" strike="noStrike">
                <a:solidFill>
                  <a:srgbClr val="FF0000"/>
                </a:solidFill>
                <a:latin typeface="Calibri"/>
                <a:ea typeface="Calibri"/>
                <a:cs typeface="Calibri"/>
                <a:sym typeface="Calibri"/>
              </a:rPr>
              <a:t>R</a:t>
            </a:r>
            <a:r>
              <a:rPr b="0" i="1" lang="en-ID" sz="1400" u="none" cap="none" strike="noStrike">
                <a:solidFill>
                  <a:srgbClr val="002060"/>
                </a:solidFill>
                <a:latin typeface="Calibri"/>
                <a:ea typeface="Calibri"/>
                <a:cs typeface="Calibri"/>
                <a:sym typeface="Calibri"/>
              </a:rPr>
              <a:t>esilience – </a:t>
            </a:r>
            <a:r>
              <a:rPr b="1" i="1" lang="en-ID" sz="1800" u="none" cap="none" strike="noStrike">
                <a:solidFill>
                  <a:srgbClr val="FF0000"/>
                </a:solidFill>
                <a:latin typeface="Calibri"/>
                <a:ea typeface="Calibri"/>
                <a:cs typeface="Calibri"/>
                <a:sym typeface="Calibri"/>
              </a:rPr>
              <a:t>G</a:t>
            </a:r>
            <a:r>
              <a:rPr b="0" i="1" lang="en-ID" sz="1400" u="none" cap="none" strike="noStrike">
                <a:solidFill>
                  <a:srgbClr val="002060"/>
                </a:solidFill>
                <a:latin typeface="Calibri"/>
                <a:ea typeface="Calibri"/>
                <a:cs typeface="Calibri"/>
                <a:sym typeface="Calibri"/>
              </a:rPr>
              <a:t>rowth – </a:t>
            </a:r>
            <a:r>
              <a:rPr b="1" i="1" lang="en-ID" sz="1800" u="none" cap="none" strike="noStrike">
                <a:solidFill>
                  <a:srgbClr val="FF0000"/>
                </a:solidFill>
                <a:latin typeface="Calibri"/>
                <a:ea typeface="Calibri"/>
                <a:cs typeface="Calibri"/>
                <a:sym typeface="Calibri"/>
              </a:rPr>
              <a:t>E</a:t>
            </a:r>
            <a:r>
              <a:rPr b="0" i="1" lang="en-ID" sz="1400" u="none" cap="none" strike="noStrike">
                <a:solidFill>
                  <a:srgbClr val="002060"/>
                </a:solidFill>
                <a:latin typeface="Calibri"/>
                <a:ea typeface="Calibri"/>
                <a:cs typeface="Calibri"/>
                <a:sym typeface="Calibri"/>
              </a:rPr>
              <a:t>nergize with care</a:t>
            </a:r>
            <a:endParaRPr/>
          </a:p>
        </p:txBody>
      </p:sp>
      <p:pic>
        <p:nvPicPr>
          <p:cNvPr id="16" name="Google Shape;16;p1"/>
          <p:cNvPicPr preferRelativeResize="0"/>
          <p:nvPr/>
        </p:nvPicPr>
        <p:blipFill rotWithShape="1">
          <a:blip r:embed="rId1">
            <a:alphaModFix/>
          </a:blip>
          <a:srcRect b="0" l="0" r="0" t="0"/>
          <a:stretch/>
        </p:blipFill>
        <p:spPr>
          <a:xfrm>
            <a:off x="140338" y="107011"/>
            <a:ext cx="2221200" cy="660867"/>
          </a:xfrm>
          <a:prstGeom prst="rect">
            <a:avLst/>
          </a:prstGeom>
          <a:noFill/>
          <a:ln>
            <a:noFill/>
          </a:ln>
        </p:spPr>
      </p:pic>
      <p:pic>
        <p:nvPicPr>
          <p:cNvPr id="17" name="Google Shape;17;p1"/>
          <p:cNvPicPr preferRelativeResize="0"/>
          <p:nvPr/>
        </p:nvPicPr>
        <p:blipFill rotWithShape="1">
          <a:blip r:embed="rId2">
            <a:alphaModFix/>
          </a:blip>
          <a:srcRect b="0" l="0" r="0" t="0"/>
          <a:stretch/>
        </p:blipFill>
        <p:spPr>
          <a:xfrm>
            <a:off x="10320794" y="107011"/>
            <a:ext cx="1767466" cy="694599"/>
          </a:xfrm>
          <a:prstGeom prst="rect">
            <a:avLst/>
          </a:prstGeom>
          <a:noFill/>
          <a:ln>
            <a:noFill/>
          </a:ln>
        </p:spPr>
      </p:pic>
      <p:pic>
        <p:nvPicPr>
          <p:cNvPr descr="C:\Users\dellaa027797\Desktop\OJT (2)\Core Values\Lambang core values\Icon Core Values.png" id="18" name="Google Shape;18;p1"/>
          <p:cNvPicPr preferRelativeResize="0"/>
          <p:nvPr/>
        </p:nvPicPr>
        <p:blipFill rotWithShape="1">
          <a:blip r:embed="rId3">
            <a:alphaModFix/>
          </a:blip>
          <a:srcRect b="0" l="0" r="0" t="0"/>
          <a:stretch/>
        </p:blipFill>
        <p:spPr>
          <a:xfrm>
            <a:off x="11515270" y="5961820"/>
            <a:ext cx="626933" cy="645848"/>
          </a:xfrm>
          <a:prstGeom prst="rect">
            <a:avLst/>
          </a:prstGeom>
          <a:noFill/>
          <a:ln>
            <a:noFill/>
          </a:ln>
        </p:spPr>
      </p:pic>
      <p:pic>
        <p:nvPicPr>
          <p:cNvPr id="19" name="Google Shape;19;p1"/>
          <p:cNvPicPr preferRelativeResize="0"/>
          <p:nvPr/>
        </p:nvPicPr>
        <p:blipFill rotWithShape="1">
          <a:blip r:embed="rId4">
            <a:alphaModFix/>
          </a:blip>
          <a:srcRect b="0" l="0" r="0" t="0"/>
          <a:stretch/>
        </p:blipFill>
        <p:spPr>
          <a:xfrm>
            <a:off x="11481682" y="6534501"/>
            <a:ext cx="694110" cy="295122"/>
          </a:xfrm>
          <a:prstGeom prst="rect">
            <a:avLst/>
          </a:prstGeom>
          <a:noFill/>
          <a:ln>
            <a:noFill/>
          </a:ln>
        </p:spPr>
      </p:pic>
      <p:pic>
        <p:nvPicPr>
          <p:cNvPr id="20" name="Google Shape;20;p1"/>
          <p:cNvPicPr preferRelativeResize="0"/>
          <p:nvPr/>
        </p:nvPicPr>
        <p:blipFill rotWithShape="1">
          <a:blip r:embed="rId5">
            <a:alphaModFix/>
          </a:blip>
          <a:srcRect b="0" l="0" r="24271" t="0"/>
          <a:stretch/>
        </p:blipFill>
        <p:spPr>
          <a:xfrm>
            <a:off x="0" y="6157626"/>
            <a:ext cx="952592" cy="671997"/>
          </a:xfrm>
          <a:prstGeom prst="rect">
            <a:avLst/>
          </a:prstGeom>
          <a:noFill/>
          <a:ln>
            <a:noFill/>
          </a:ln>
        </p:spPr>
      </p:pic>
      <p:sp>
        <p:nvSpPr>
          <p:cNvPr id="21" name="Google Shape;21;p1"/>
          <p:cNvSpPr/>
          <p:nvPr/>
        </p:nvSpPr>
        <p:spPr>
          <a:xfrm>
            <a:off x="1028310" y="6456459"/>
            <a:ext cx="1261674" cy="377688"/>
          </a:xfrm>
          <a:prstGeom prst="homePlate">
            <a:avLst>
              <a:gd fmla="val 50000" name="adj"/>
            </a:avLst>
          </a:prstGeom>
          <a:gradFill>
            <a:gsLst>
              <a:gs pos="0">
                <a:srgbClr val="9E0000"/>
              </a:gs>
              <a:gs pos="50000">
                <a:srgbClr val="E40000"/>
              </a:gs>
              <a:gs pos="100000">
                <a:srgbClr val="FF0000"/>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ID" sz="1800" u="none" cap="none" strike="noStrike">
                <a:solidFill>
                  <a:schemeClr val="lt1"/>
                </a:solidFill>
                <a:latin typeface="Calibri"/>
                <a:ea typeface="Calibri"/>
                <a:cs typeface="Calibri"/>
                <a:sym typeface="Calibri"/>
              </a:rPr>
              <a:t>CHARGE</a:t>
            </a:r>
            <a:endParaRPr/>
          </a:p>
        </p:txBody>
      </p:sp>
    </p:spTree>
  </p:cSld>
  <p:clrMap accent1="accent1" accent2="accent2" accent3="accent3" accent4="accent4" accent5="accent5" accent6="accent6" bg1="lt1" bg2="dk2" tx1="dk1" tx2="lt2" folHlink="folHlink" hlink="hlink"/>
  <p:sldLayoutIdLst>
    <p:sldLayoutId id="2147483648" r:id="rId6"/>
    <p:sldLayoutId id="2147483649" r:id="rId7"/>
    <p:sldLayoutId id="2147483650"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23.png"/><Relationship Id="rId6" Type="http://schemas.openxmlformats.org/officeDocument/2006/relationships/image" Target="../media/image12.png"/><Relationship Id="rId7" Type="http://schemas.openxmlformats.org/officeDocument/2006/relationships/image" Target="../media/image9.png"/><Relationship Id="rId8"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20.png"/><Relationship Id="rId5" Type="http://schemas.openxmlformats.org/officeDocument/2006/relationships/image" Target="../media/image5.png"/><Relationship Id="rId6"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6.jp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4.png"/><Relationship Id="rId4" Type="http://schemas.openxmlformats.org/officeDocument/2006/relationships/image" Target="../media/image22.png"/><Relationship Id="rId5" Type="http://schemas.openxmlformats.org/officeDocument/2006/relationships/image" Target="../media/image3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0.jpg"/><Relationship Id="rId4" Type="http://schemas.openxmlformats.org/officeDocument/2006/relationships/image" Target="../media/image3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1.png"/><Relationship Id="rId4" Type="http://schemas.openxmlformats.org/officeDocument/2006/relationships/image" Target="../media/image52.png"/><Relationship Id="rId5" Type="http://schemas.openxmlformats.org/officeDocument/2006/relationships/image" Target="../media/image18.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jpg"/><Relationship Id="rId4" Type="http://schemas.openxmlformats.org/officeDocument/2006/relationships/image" Target="../media/image2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0.png"/><Relationship Id="rId4" Type="http://schemas.openxmlformats.org/officeDocument/2006/relationships/image" Target="../media/image26.png"/><Relationship Id="rId5"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9.jpg"/><Relationship Id="rId4" Type="http://schemas.openxmlformats.org/officeDocument/2006/relationships/image" Target="../media/image3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5.png"/><Relationship Id="rId4" Type="http://schemas.openxmlformats.org/officeDocument/2006/relationships/image" Target="../media/image56.png"/><Relationship Id="rId5" Type="http://schemas.openxmlformats.org/officeDocument/2006/relationships/image" Target="../media/image5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4.jpg"/><Relationship Id="rId4" Type="http://schemas.openxmlformats.org/officeDocument/2006/relationships/image" Target="../media/image4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 Id="rId4" Type="http://schemas.openxmlformats.org/officeDocument/2006/relationships/image" Target="../media/image68.png"/><Relationship Id="rId5" Type="http://schemas.openxmlformats.org/officeDocument/2006/relationships/image" Target="../media/image6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6.png"/><Relationship Id="rId4" Type="http://schemas.openxmlformats.org/officeDocument/2006/relationships/image" Target="../media/image5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4.png"/><Relationship Id="rId4" Type="http://schemas.openxmlformats.org/officeDocument/2006/relationships/hyperlink" Target="https://docs.google.com/spreadsheets/d/1uASMRgPzpYLvQbQxpWKci5oY7r-zxhoKANCmjxLM2Iw/edit?usp=sharing" TargetMode="External"/><Relationship Id="rId5" Type="http://schemas.openxmlformats.org/officeDocument/2006/relationships/image" Target="../media/image4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59.png"/><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5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2.png"/><Relationship Id="rId4" Type="http://schemas.openxmlformats.org/officeDocument/2006/relationships/image" Target="../media/image5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2.png"/><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3.jpg"/><Relationship Id="rId4" Type="http://schemas.openxmlformats.org/officeDocument/2006/relationships/image" Target="../media/image70.png"/><Relationship Id="rId5" Type="http://schemas.openxmlformats.org/officeDocument/2006/relationships/image" Target="../media/image64.jpg"/><Relationship Id="rId6" Type="http://schemas.openxmlformats.org/officeDocument/2006/relationships/image" Target="../media/image69.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6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65.png"/><Relationship Id="rId4" Type="http://schemas.openxmlformats.org/officeDocument/2006/relationships/image" Target="../media/image61.png"/><Relationship Id="rId5" Type="http://schemas.openxmlformats.org/officeDocument/2006/relationships/image" Target="../media/image5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60.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grpSp>
        <p:nvGrpSpPr>
          <p:cNvPr id="96" name="Google Shape;96;p13"/>
          <p:cNvGrpSpPr/>
          <p:nvPr/>
        </p:nvGrpSpPr>
        <p:grpSpPr>
          <a:xfrm>
            <a:off x="4182386" y="2154803"/>
            <a:ext cx="3586038" cy="2299352"/>
            <a:chOff x="4182386" y="2154803"/>
            <a:chExt cx="3586038" cy="2299352"/>
          </a:xfrm>
        </p:grpSpPr>
        <p:pic>
          <p:nvPicPr>
            <p:cNvPr descr="6.538.290 Gambar, Foto Stok, Objek 3D, &amp; Vektor Laptop | Shutterstock" id="97" name="Google Shape;97;p13"/>
            <p:cNvPicPr preferRelativeResize="0"/>
            <p:nvPr/>
          </p:nvPicPr>
          <p:blipFill rotWithShape="1">
            <a:blip r:embed="rId3">
              <a:alphaModFix/>
            </a:blip>
            <a:srcRect b="9474" l="2687" r="1408" t="6612"/>
            <a:stretch/>
          </p:blipFill>
          <p:spPr>
            <a:xfrm>
              <a:off x="4182386" y="2154803"/>
              <a:ext cx="3586038" cy="2299352"/>
            </a:xfrm>
            <a:prstGeom prst="rect">
              <a:avLst/>
            </a:prstGeom>
            <a:noFill/>
            <a:ln>
              <a:noFill/>
            </a:ln>
          </p:spPr>
        </p:pic>
        <p:pic>
          <p:nvPicPr>
            <p:cNvPr id="98" name="Google Shape;98;p13"/>
            <p:cNvPicPr preferRelativeResize="0"/>
            <p:nvPr/>
          </p:nvPicPr>
          <p:blipFill rotWithShape="1">
            <a:blip r:embed="rId4">
              <a:alphaModFix/>
            </a:blip>
            <a:srcRect b="0" l="0" r="0" t="1623"/>
            <a:stretch/>
          </p:blipFill>
          <p:spPr>
            <a:xfrm>
              <a:off x="4747229" y="2385394"/>
              <a:ext cx="2399780" cy="1455085"/>
            </a:xfrm>
            <a:prstGeom prst="rect">
              <a:avLst/>
            </a:prstGeom>
            <a:noFill/>
            <a:ln>
              <a:noFill/>
            </a:ln>
          </p:spPr>
        </p:pic>
      </p:grpSp>
      <p:sp>
        <p:nvSpPr>
          <p:cNvPr id="99" name="Google Shape;99;p13"/>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0" name="Google Shape;100;p13"/>
          <p:cNvSpPr txBox="1"/>
          <p:nvPr/>
        </p:nvSpPr>
        <p:spPr>
          <a:xfrm>
            <a:off x="0" y="547610"/>
            <a:ext cx="1219200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ID" sz="2400" u="none" cap="none" strike="noStrike">
                <a:solidFill>
                  <a:schemeClr val="dk1"/>
                </a:solidFill>
                <a:latin typeface="Bodoni"/>
                <a:ea typeface="Bodoni"/>
                <a:cs typeface="Bodoni"/>
                <a:sym typeface="Bodoni"/>
              </a:rPr>
              <a:t>RULES 0F PRESENTATION</a:t>
            </a:r>
            <a:endParaRPr/>
          </a:p>
        </p:txBody>
      </p:sp>
      <p:grpSp>
        <p:nvGrpSpPr>
          <p:cNvPr id="101" name="Google Shape;101;p13"/>
          <p:cNvGrpSpPr/>
          <p:nvPr/>
        </p:nvGrpSpPr>
        <p:grpSpPr>
          <a:xfrm>
            <a:off x="3068320" y="2058282"/>
            <a:ext cx="685800" cy="730637"/>
            <a:chOff x="3068320" y="2058282"/>
            <a:chExt cx="685800" cy="730637"/>
          </a:xfrm>
        </p:grpSpPr>
        <p:sp>
          <p:nvSpPr>
            <p:cNvPr id="102" name="Google Shape;102;p13"/>
            <p:cNvSpPr/>
            <p:nvPr/>
          </p:nvSpPr>
          <p:spPr>
            <a:xfrm>
              <a:off x="3068320" y="2058282"/>
              <a:ext cx="685800" cy="730637"/>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3" name="Google Shape;103;p13"/>
            <p:cNvPicPr preferRelativeResize="0"/>
            <p:nvPr/>
          </p:nvPicPr>
          <p:blipFill rotWithShape="1">
            <a:blip r:embed="rId5">
              <a:alphaModFix/>
            </a:blip>
            <a:srcRect b="9662" l="7529" r="3726" t="17710"/>
            <a:stretch/>
          </p:blipFill>
          <p:spPr>
            <a:xfrm>
              <a:off x="3228266" y="2245800"/>
              <a:ext cx="365907" cy="355600"/>
            </a:xfrm>
            <a:prstGeom prst="rect">
              <a:avLst/>
            </a:prstGeom>
            <a:noFill/>
            <a:ln>
              <a:noFill/>
            </a:ln>
          </p:spPr>
        </p:pic>
      </p:grpSp>
      <p:grpSp>
        <p:nvGrpSpPr>
          <p:cNvPr id="104" name="Google Shape;104;p13"/>
          <p:cNvGrpSpPr/>
          <p:nvPr/>
        </p:nvGrpSpPr>
        <p:grpSpPr>
          <a:xfrm>
            <a:off x="3068320" y="3691712"/>
            <a:ext cx="685800" cy="730637"/>
            <a:chOff x="3068320" y="3691712"/>
            <a:chExt cx="685800" cy="730637"/>
          </a:xfrm>
        </p:grpSpPr>
        <p:pic>
          <p:nvPicPr>
            <p:cNvPr id="105" name="Google Shape;105;p13"/>
            <p:cNvPicPr preferRelativeResize="0"/>
            <p:nvPr/>
          </p:nvPicPr>
          <p:blipFill rotWithShape="1">
            <a:blip r:embed="rId6">
              <a:alphaModFix/>
            </a:blip>
            <a:srcRect b="0" l="0" r="0" t="0"/>
            <a:stretch/>
          </p:blipFill>
          <p:spPr>
            <a:xfrm>
              <a:off x="3186419" y="3826910"/>
              <a:ext cx="438933" cy="460240"/>
            </a:xfrm>
            <a:prstGeom prst="rect">
              <a:avLst/>
            </a:prstGeom>
            <a:noFill/>
            <a:ln>
              <a:noFill/>
            </a:ln>
          </p:spPr>
        </p:pic>
        <p:sp>
          <p:nvSpPr>
            <p:cNvPr id="106" name="Google Shape;106;p13"/>
            <p:cNvSpPr/>
            <p:nvPr/>
          </p:nvSpPr>
          <p:spPr>
            <a:xfrm>
              <a:off x="3068320" y="3691712"/>
              <a:ext cx="685800" cy="730637"/>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grpSp>
      <p:sp>
        <p:nvSpPr>
          <p:cNvPr id="107" name="Google Shape;107;p13"/>
          <p:cNvSpPr txBox="1"/>
          <p:nvPr/>
        </p:nvSpPr>
        <p:spPr>
          <a:xfrm>
            <a:off x="1669815" y="1951475"/>
            <a:ext cx="1447137"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ID" sz="2000" u="none" cap="none" strike="noStrike">
                <a:solidFill>
                  <a:schemeClr val="dk1"/>
                </a:solidFill>
                <a:latin typeface="Teko"/>
                <a:ea typeface="Teko"/>
                <a:cs typeface="Teko"/>
                <a:sym typeface="Teko"/>
              </a:rPr>
              <a:t>Factor Time</a:t>
            </a:r>
            <a:endParaRPr/>
          </a:p>
        </p:txBody>
      </p:sp>
      <p:sp>
        <p:nvSpPr>
          <p:cNvPr id="108" name="Google Shape;108;p13"/>
          <p:cNvSpPr txBox="1"/>
          <p:nvPr/>
        </p:nvSpPr>
        <p:spPr>
          <a:xfrm>
            <a:off x="262394" y="2256503"/>
            <a:ext cx="2805926" cy="52322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400"/>
              <a:buFont typeface="Calibri"/>
              <a:buAutoNum type="arabicPeriod"/>
            </a:pPr>
            <a:r>
              <a:rPr lang="en-ID" sz="1400">
                <a:solidFill>
                  <a:schemeClr val="dk1"/>
                </a:solidFill>
                <a:latin typeface="Calibri"/>
                <a:ea typeface="Calibri"/>
                <a:cs typeface="Calibri"/>
                <a:sym typeface="Calibri"/>
              </a:rPr>
              <a:t>The Presentation is 15 minutes</a:t>
            </a:r>
            <a:endParaRPr/>
          </a:p>
          <a:p>
            <a:pPr indent="-342900" lvl="0" marL="342900" marR="0" rtl="0" algn="l">
              <a:spcBef>
                <a:spcPts val="0"/>
              </a:spcBef>
              <a:spcAft>
                <a:spcPts val="0"/>
              </a:spcAft>
              <a:buClr>
                <a:schemeClr val="dk1"/>
              </a:buClr>
              <a:buSzPts val="1400"/>
              <a:buFont typeface="Calibri"/>
              <a:buAutoNum type="arabicPeriod"/>
            </a:pPr>
            <a:r>
              <a:rPr lang="en-ID" sz="1400">
                <a:solidFill>
                  <a:schemeClr val="dk1"/>
                </a:solidFill>
                <a:latin typeface="Calibri"/>
                <a:ea typeface="Calibri"/>
                <a:cs typeface="Calibri"/>
                <a:sym typeface="Calibri"/>
              </a:rPr>
              <a:t>Q&amp;A is 45 minutes</a:t>
            </a:r>
            <a:endParaRPr/>
          </a:p>
        </p:txBody>
      </p:sp>
      <p:sp>
        <p:nvSpPr>
          <p:cNvPr id="109" name="Google Shape;109;p13"/>
          <p:cNvSpPr txBox="1"/>
          <p:nvPr/>
        </p:nvSpPr>
        <p:spPr>
          <a:xfrm>
            <a:off x="1669778" y="3640424"/>
            <a:ext cx="1447173"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D" sz="2000">
                <a:solidFill>
                  <a:schemeClr val="dk1"/>
                </a:solidFill>
                <a:latin typeface="Teko"/>
                <a:ea typeface="Teko"/>
                <a:cs typeface="Teko"/>
                <a:sym typeface="Teko"/>
              </a:rPr>
              <a:t>Factor Method</a:t>
            </a:r>
            <a:endParaRPr/>
          </a:p>
        </p:txBody>
      </p:sp>
      <p:sp>
        <p:nvSpPr>
          <p:cNvPr id="110" name="Google Shape;110;p13"/>
          <p:cNvSpPr txBox="1"/>
          <p:nvPr/>
        </p:nvSpPr>
        <p:spPr>
          <a:xfrm>
            <a:off x="262394" y="3950417"/>
            <a:ext cx="2805926" cy="52322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400"/>
              <a:buFont typeface="Calibri"/>
              <a:buAutoNum type="arabicPeriod"/>
            </a:pPr>
            <a:r>
              <a:rPr lang="en-ID" sz="1400">
                <a:solidFill>
                  <a:schemeClr val="dk1"/>
                </a:solidFill>
                <a:latin typeface="Calibri"/>
                <a:ea typeface="Calibri"/>
                <a:cs typeface="Calibri"/>
                <a:sym typeface="Calibri"/>
              </a:rPr>
              <a:t>Total Slide max. 20 slides</a:t>
            </a:r>
            <a:endParaRPr/>
          </a:p>
          <a:p>
            <a:pPr indent="-342900" lvl="0" marL="342900" marR="0" rtl="0" algn="l">
              <a:spcBef>
                <a:spcPts val="0"/>
              </a:spcBef>
              <a:spcAft>
                <a:spcPts val="0"/>
              </a:spcAft>
              <a:buClr>
                <a:schemeClr val="dk1"/>
              </a:buClr>
              <a:buSzPts val="1400"/>
              <a:buFont typeface="Calibri"/>
              <a:buAutoNum type="arabicPeriod"/>
            </a:pPr>
            <a:r>
              <a:rPr lang="en-ID" sz="1400">
                <a:solidFill>
                  <a:schemeClr val="dk1"/>
                </a:solidFill>
                <a:latin typeface="Calibri"/>
                <a:ea typeface="Calibri"/>
                <a:cs typeface="Calibri"/>
                <a:sym typeface="Calibri"/>
              </a:rPr>
              <a:t>Total attachment max. 10 slides</a:t>
            </a:r>
            <a:endParaRPr/>
          </a:p>
        </p:txBody>
      </p:sp>
      <p:grpSp>
        <p:nvGrpSpPr>
          <p:cNvPr id="111" name="Google Shape;111;p13"/>
          <p:cNvGrpSpPr/>
          <p:nvPr/>
        </p:nvGrpSpPr>
        <p:grpSpPr>
          <a:xfrm>
            <a:off x="7814443" y="2058282"/>
            <a:ext cx="685800" cy="730637"/>
            <a:chOff x="7814443" y="2058282"/>
            <a:chExt cx="685800" cy="730637"/>
          </a:xfrm>
        </p:grpSpPr>
        <p:sp>
          <p:nvSpPr>
            <p:cNvPr id="112" name="Google Shape;112;p13"/>
            <p:cNvSpPr/>
            <p:nvPr/>
          </p:nvSpPr>
          <p:spPr>
            <a:xfrm>
              <a:off x="7814443" y="2058282"/>
              <a:ext cx="685800" cy="730637"/>
            </a:xfrm>
            <a:prstGeom prst="ellipse">
              <a:avLst/>
            </a:prstGeom>
            <a:noFill/>
            <a:ln cap="flat" cmpd="sng" w="381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13" name="Google Shape;113;p13"/>
            <p:cNvPicPr preferRelativeResize="0"/>
            <p:nvPr/>
          </p:nvPicPr>
          <p:blipFill rotWithShape="1">
            <a:blip r:embed="rId7">
              <a:alphaModFix/>
            </a:blip>
            <a:srcRect b="0" l="0" r="0" t="0"/>
            <a:stretch/>
          </p:blipFill>
          <p:spPr>
            <a:xfrm>
              <a:off x="7972618" y="2262906"/>
              <a:ext cx="369449" cy="347928"/>
            </a:xfrm>
            <a:prstGeom prst="rect">
              <a:avLst/>
            </a:prstGeom>
            <a:noFill/>
            <a:ln>
              <a:noFill/>
            </a:ln>
          </p:spPr>
        </p:pic>
      </p:grpSp>
      <p:sp>
        <p:nvSpPr>
          <p:cNvPr id="114" name="Google Shape;114;p13"/>
          <p:cNvSpPr txBox="1"/>
          <p:nvPr/>
        </p:nvSpPr>
        <p:spPr>
          <a:xfrm>
            <a:off x="8547067" y="1951475"/>
            <a:ext cx="1749872"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D" sz="2000">
                <a:solidFill>
                  <a:schemeClr val="dk1"/>
                </a:solidFill>
                <a:latin typeface="Teko"/>
                <a:ea typeface="Teko"/>
                <a:cs typeface="Teko"/>
                <a:sym typeface="Teko"/>
              </a:rPr>
              <a:t>Factor Content</a:t>
            </a:r>
            <a:endParaRPr/>
          </a:p>
        </p:txBody>
      </p:sp>
      <p:sp>
        <p:nvSpPr>
          <p:cNvPr id="115" name="Google Shape;115;p13"/>
          <p:cNvSpPr txBox="1"/>
          <p:nvPr/>
        </p:nvSpPr>
        <p:spPr>
          <a:xfrm>
            <a:off x="8531500" y="2252280"/>
            <a:ext cx="2805926" cy="52322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1400"/>
              <a:buFont typeface="Calibri"/>
              <a:buAutoNum type="arabicPeriod"/>
            </a:pPr>
            <a:r>
              <a:rPr lang="en-ID" sz="1400">
                <a:solidFill>
                  <a:schemeClr val="dk1"/>
                </a:solidFill>
                <a:latin typeface="Calibri"/>
                <a:ea typeface="Calibri"/>
                <a:cs typeface="Calibri"/>
                <a:sym typeface="Calibri"/>
              </a:rPr>
              <a:t>Size font min. 12</a:t>
            </a:r>
            <a:endParaRPr/>
          </a:p>
          <a:p>
            <a:pPr indent="-342900" lvl="0" marL="342900" marR="0" rtl="0" algn="l">
              <a:spcBef>
                <a:spcPts val="0"/>
              </a:spcBef>
              <a:spcAft>
                <a:spcPts val="0"/>
              </a:spcAft>
              <a:buClr>
                <a:schemeClr val="dk1"/>
              </a:buClr>
              <a:buSzPts val="1400"/>
              <a:buFont typeface="Calibri"/>
              <a:buAutoNum type="arabicPeriod"/>
            </a:pPr>
            <a:r>
              <a:rPr lang="en-ID" sz="1400">
                <a:solidFill>
                  <a:schemeClr val="dk1"/>
                </a:solidFill>
                <a:latin typeface="Calibri"/>
                <a:ea typeface="Calibri"/>
                <a:cs typeface="Calibri"/>
                <a:sym typeface="Calibri"/>
              </a:rPr>
              <a:t>Size all Video max. 500 Mb</a:t>
            </a:r>
            <a:endParaRPr/>
          </a:p>
        </p:txBody>
      </p:sp>
      <p:pic>
        <p:nvPicPr>
          <p:cNvPr id="116" name="Google Shape;116;p13"/>
          <p:cNvPicPr preferRelativeResize="0"/>
          <p:nvPr/>
        </p:nvPicPr>
        <p:blipFill rotWithShape="1">
          <a:blip r:embed="rId8">
            <a:alphaModFix/>
          </a:blip>
          <a:srcRect b="0" l="0" r="0" t="0"/>
          <a:stretch/>
        </p:blipFill>
        <p:spPr>
          <a:xfrm>
            <a:off x="5019681" y="4599059"/>
            <a:ext cx="1911448" cy="3238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4"/>
          <p:cNvSpPr/>
          <p:nvPr/>
        </p:nvSpPr>
        <p:spPr>
          <a:xfrm>
            <a:off x="0" y="2021131"/>
            <a:ext cx="12192000" cy="92333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5400">
                <a:solidFill>
                  <a:srgbClr val="939393"/>
                </a:solidFill>
                <a:latin typeface="Arial"/>
                <a:ea typeface="Arial"/>
                <a:cs typeface="Arial"/>
                <a:sym typeface="Arial"/>
              </a:rPr>
              <a:t>PRESENTA</a:t>
            </a:r>
            <a:r>
              <a:rPr b="1" lang="en-ID" sz="5400">
                <a:solidFill>
                  <a:srgbClr val="939393"/>
                </a:solidFill>
              </a:rPr>
              <a:t>SI</a:t>
            </a:r>
            <a:r>
              <a:rPr b="1" lang="en-ID" sz="5400">
                <a:solidFill>
                  <a:srgbClr val="939393"/>
                </a:solidFill>
                <a:latin typeface="Arial"/>
                <a:ea typeface="Arial"/>
                <a:cs typeface="Arial"/>
                <a:sym typeface="Arial"/>
              </a:rPr>
              <a:t> L</a:t>
            </a:r>
            <a:r>
              <a:rPr b="1" lang="en-ID" sz="5400">
                <a:solidFill>
                  <a:srgbClr val="939393"/>
                </a:solidFill>
              </a:rPr>
              <a:t>APORAN </a:t>
            </a:r>
            <a:r>
              <a:rPr b="1" lang="en-ID" sz="5400">
                <a:solidFill>
                  <a:srgbClr val="939393"/>
                </a:solidFill>
                <a:latin typeface="Arial"/>
                <a:ea typeface="Arial"/>
                <a:cs typeface="Arial"/>
                <a:sym typeface="Arial"/>
              </a:rPr>
              <a:t>MAGANG</a:t>
            </a:r>
            <a:endParaRPr b="1" sz="5400" cap="none">
              <a:solidFill>
                <a:srgbClr val="939393"/>
              </a:solidFill>
              <a:latin typeface="Arial"/>
              <a:ea typeface="Arial"/>
              <a:cs typeface="Arial"/>
              <a:sym typeface="Arial"/>
            </a:endParaRPr>
          </a:p>
        </p:txBody>
      </p:sp>
      <p:sp>
        <p:nvSpPr>
          <p:cNvPr id="122" name="Google Shape;122;p14"/>
          <p:cNvSpPr txBox="1"/>
          <p:nvPr/>
        </p:nvSpPr>
        <p:spPr>
          <a:xfrm>
            <a:off x="1" y="4241848"/>
            <a:ext cx="12192000" cy="415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ID" sz="2100">
                <a:solidFill>
                  <a:schemeClr val="dk1"/>
                </a:solidFill>
              </a:rPr>
              <a:t>Created by : Muhammad Shobri </a:t>
            </a:r>
            <a:endParaRPr sz="2100">
              <a:solidFill>
                <a:schemeClr val="dk1"/>
              </a:solidFill>
            </a:endParaRPr>
          </a:p>
        </p:txBody>
      </p:sp>
      <p:sp>
        <p:nvSpPr>
          <p:cNvPr id="123" name="Google Shape;123;p14"/>
          <p:cNvSpPr/>
          <p:nvPr/>
        </p:nvSpPr>
        <p:spPr>
          <a:xfrm>
            <a:off x="0" y="3181361"/>
            <a:ext cx="121920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4000">
                <a:solidFill>
                  <a:schemeClr val="accent4"/>
                </a:solidFill>
              </a:rPr>
              <a:t>Product Engineering</a:t>
            </a:r>
            <a:endParaRPr b="1" sz="4000" cap="none">
              <a:solidFill>
                <a:schemeClr val="accent4"/>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S-analyse.jpg" id="130" name="Google Shape;130;p15"/>
          <p:cNvPicPr preferRelativeResize="0"/>
          <p:nvPr/>
        </p:nvPicPr>
        <p:blipFill rotWithShape="1">
          <a:blip r:embed="rId3">
            <a:alphaModFix/>
          </a:blip>
          <a:srcRect b="0" l="0" r="0" t="0"/>
          <a:stretch/>
        </p:blipFill>
        <p:spPr>
          <a:xfrm>
            <a:off x="1188168" y="1395116"/>
            <a:ext cx="2729408" cy="3056937"/>
          </a:xfrm>
          <a:prstGeom prst="rect">
            <a:avLst/>
          </a:prstGeom>
          <a:noFill/>
          <a:ln>
            <a:noFill/>
          </a:ln>
        </p:spPr>
      </p:pic>
      <p:sp>
        <p:nvSpPr>
          <p:cNvPr id="131" name="Google Shape;131;p15"/>
          <p:cNvSpPr txBox="1"/>
          <p:nvPr/>
        </p:nvSpPr>
        <p:spPr>
          <a:xfrm flipH="1">
            <a:off x="3266519" y="1982610"/>
            <a:ext cx="5312468" cy="3693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ID" sz="2400">
                <a:solidFill>
                  <a:srgbClr val="002060"/>
                </a:solidFill>
                <a:latin typeface="Calibri"/>
                <a:ea typeface="Calibri"/>
                <a:cs typeface="Calibri"/>
                <a:sym typeface="Calibri"/>
              </a:rPr>
              <a:t>Introduction</a:t>
            </a:r>
            <a:endParaRPr sz="2400">
              <a:solidFill>
                <a:schemeClr val="dk1"/>
              </a:solidFill>
              <a:latin typeface="Calibri"/>
              <a:ea typeface="Calibri"/>
              <a:cs typeface="Calibri"/>
              <a:sym typeface="Calibri"/>
            </a:endParaRPr>
          </a:p>
        </p:txBody>
      </p:sp>
      <p:sp>
        <p:nvSpPr>
          <p:cNvPr id="132" name="Google Shape;132;p15"/>
          <p:cNvSpPr txBox="1"/>
          <p:nvPr/>
        </p:nvSpPr>
        <p:spPr>
          <a:xfrm>
            <a:off x="9186809" y="1934983"/>
            <a:ext cx="49564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D" sz="2400">
                <a:solidFill>
                  <a:srgbClr val="002060"/>
                </a:solidFill>
                <a:latin typeface="Calibri"/>
                <a:ea typeface="Calibri"/>
                <a:cs typeface="Calibri"/>
                <a:sym typeface="Calibri"/>
              </a:rPr>
              <a:t>01</a:t>
            </a:r>
            <a:endParaRPr/>
          </a:p>
        </p:txBody>
      </p:sp>
      <p:sp>
        <p:nvSpPr>
          <p:cNvPr id="133" name="Google Shape;133;p15"/>
          <p:cNvSpPr txBox="1"/>
          <p:nvPr/>
        </p:nvSpPr>
        <p:spPr>
          <a:xfrm>
            <a:off x="9186809" y="2461919"/>
            <a:ext cx="495649"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D" sz="2400">
                <a:solidFill>
                  <a:srgbClr val="2E75B5"/>
                </a:solidFill>
                <a:latin typeface="Calibri"/>
                <a:ea typeface="Calibri"/>
                <a:cs typeface="Calibri"/>
                <a:sym typeface="Calibri"/>
              </a:rPr>
              <a:t>02</a:t>
            </a:r>
            <a:endParaRPr/>
          </a:p>
        </p:txBody>
      </p:sp>
      <p:sp>
        <p:nvSpPr>
          <p:cNvPr id="134" name="Google Shape;134;p15"/>
          <p:cNvSpPr txBox="1"/>
          <p:nvPr/>
        </p:nvSpPr>
        <p:spPr>
          <a:xfrm flipH="1">
            <a:off x="4658746" y="4026855"/>
            <a:ext cx="3920241" cy="3693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ID" sz="2400">
                <a:solidFill>
                  <a:srgbClr val="8296B0"/>
                </a:solidFill>
                <a:latin typeface="Calibri"/>
                <a:ea typeface="Calibri"/>
                <a:cs typeface="Calibri"/>
                <a:sym typeface="Calibri"/>
              </a:rPr>
              <a:t>Next Activity Plan</a:t>
            </a:r>
            <a:endParaRPr/>
          </a:p>
        </p:txBody>
      </p:sp>
      <p:sp>
        <p:nvSpPr>
          <p:cNvPr id="135" name="Google Shape;135;p15"/>
          <p:cNvSpPr txBox="1"/>
          <p:nvPr/>
        </p:nvSpPr>
        <p:spPr>
          <a:xfrm>
            <a:off x="9187073" y="4006291"/>
            <a:ext cx="49565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D" sz="2400">
                <a:solidFill>
                  <a:srgbClr val="8296B0"/>
                </a:solidFill>
                <a:latin typeface="Calibri"/>
                <a:ea typeface="Calibri"/>
                <a:cs typeface="Calibri"/>
                <a:sym typeface="Calibri"/>
              </a:rPr>
              <a:t>05</a:t>
            </a:r>
            <a:endParaRPr/>
          </a:p>
        </p:txBody>
      </p:sp>
      <p:cxnSp>
        <p:nvCxnSpPr>
          <p:cNvPr id="136" name="Google Shape;136;p15"/>
          <p:cNvCxnSpPr/>
          <p:nvPr/>
        </p:nvCxnSpPr>
        <p:spPr>
          <a:xfrm>
            <a:off x="10412197" y="1576447"/>
            <a:ext cx="0" cy="3422162"/>
          </a:xfrm>
          <a:prstGeom prst="straightConnector1">
            <a:avLst/>
          </a:prstGeom>
          <a:noFill/>
          <a:ln cap="flat" cmpd="sng" w="76200">
            <a:solidFill>
              <a:srgbClr val="595959"/>
            </a:solidFill>
            <a:prstDash val="solid"/>
            <a:miter lim="800000"/>
            <a:headEnd len="sm" w="sm" type="none"/>
            <a:tailEnd len="sm" w="sm" type="none"/>
          </a:ln>
        </p:spPr>
      </p:cxnSp>
      <p:sp>
        <p:nvSpPr>
          <p:cNvPr id="137" name="Google Shape;137;p15"/>
          <p:cNvSpPr txBox="1"/>
          <p:nvPr/>
        </p:nvSpPr>
        <p:spPr>
          <a:xfrm flipH="1">
            <a:off x="4658746" y="2487306"/>
            <a:ext cx="3920241" cy="3693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ID" sz="2400">
                <a:solidFill>
                  <a:srgbClr val="2E75B5"/>
                </a:solidFill>
                <a:latin typeface="Calibri"/>
                <a:ea typeface="Calibri"/>
                <a:cs typeface="Calibri"/>
                <a:sym typeface="Calibri"/>
              </a:rPr>
              <a:t>Organization Structure </a:t>
            </a:r>
            <a:endParaRPr b="1" sz="2400">
              <a:solidFill>
                <a:schemeClr val="dk1"/>
              </a:solidFill>
              <a:latin typeface="Calibri"/>
              <a:ea typeface="Calibri"/>
              <a:cs typeface="Calibri"/>
              <a:sym typeface="Calibri"/>
            </a:endParaRPr>
          </a:p>
        </p:txBody>
      </p:sp>
      <p:sp>
        <p:nvSpPr>
          <p:cNvPr id="138" name="Google Shape;138;p15"/>
          <p:cNvSpPr txBox="1"/>
          <p:nvPr/>
        </p:nvSpPr>
        <p:spPr>
          <a:xfrm flipH="1">
            <a:off x="3266519" y="2992629"/>
            <a:ext cx="5312468" cy="3693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ID" sz="2400">
                <a:solidFill>
                  <a:srgbClr val="C55A11"/>
                </a:solidFill>
                <a:latin typeface="Calibri"/>
                <a:ea typeface="Calibri"/>
                <a:cs typeface="Calibri"/>
                <a:sym typeface="Calibri"/>
              </a:rPr>
              <a:t>Role &amp; Responsibility</a:t>
            </a:r>
            <a:endParaRPr sz="2400">
              <a:solidFill>
                <a:srgbClr val="C55A11"/>
              </a:solidFill>
              <a:latin typeface="Calibri"/>
              <a:ea typeface="Calibri"/>
              <a:cs typeface="Calibri"/>
              <a:sym typeface="Calibri"/>
            </a:endParaRPr>
          </a:p>
        </p:txBody>
      </p:sp>
      <p:sp>
        <p:nvSpPr>
          <p:cNvPr id="139" name="Google Shape;139;p15"/>
          <p:cNvSpPr txBox="1"/>
          <p:nvPr/>
        </p:nvSpPr>
        <p:spPr>
          <a:xfrm>
            <a:off x="9186808" y="2945002"/>
            <a:ext cx="49565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D" sz="2400">
                <a:solidFill>
                  <a:srgbClr val="C55A11"/>
                </a:solidFill>
                <a:latin typeface="Calibri"/>
                <a:ea typeface="Calibri"/>
                <a:cs typeface="Calibri"/>
                <a:sym typeface="Calibri"/>
              </a:rPr>
              <a:t>03</a:t>
            </a:r>
            <a:endParaRPr/>
          </a:p>
        </p:txBody>
      </p:sp>
      <p:sp>
        <p:nvSpPr>
          <p:cNvPr id="140" name="Google Shape;140;p15"/>
          <p:cNvSpPr txBox="1"/>
          <p:nvPr/>
        </p:nvSpPr>
        <p:spPr>
          <a:xfrm>
            <a:off x="9186808" y="3500513"/>
            <a:ext cx="495650"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ID" sz="2400">
                <a:solidFill>
                  <a:srgbClr val="385623"/>
                </a:solidFill>
                <a:latin typeface="Calibri"/>
                <a:ea typeface="Calibri"/>
                <a:cs typeface="Calibri"/>
                <a:sym typeface="Calibri"/>
              </a:rPr>
              <a:t>04</a:t>
            </a:r>
            <a:endParaRPr/>
          </a:p>
        </p:txBody>
      </p:sp>
      <p:sp>
        <p:nvSpPr>
          <p:cNvPr id="141" name="Google Shape;141;p15"/>
          <p:cNvSpPr txBox="1"/>
          <p:nvPr/>
        </p:nvSpPr>
        <p:spPr>
          <a:xfrm flipH="1">
            <a:off x="4157934" y="3525900"/>
            <a:ext cx="4421053" cy="369332"/>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ID" sz="2400">
                <a:solidFill>
                  <a:srgbClr val="385623"/>
                </a:solidFill>
                <a:latin typeface="Calibri"/>
                <a:ea typeface="Calibri"/>
                <a:cs typeface="Calibri"/>
                <a:sym typeface="Calibri"/>
              </a:rPr>
              <a:t>Projects/Activity &amp; Improvements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36"/>
                                        </p:tgtEl>
                                        <p:attrNameLst>
                                          <p:attrName>style.visibility</p:attrName>
                                        </p:attrNameLst>
                                      </p:cBhvr>
                                      <p:to>
                                        <p:strVal val="visible"/>
                                      </p:to>
                                    </p:set>
                                    <p:animEffect filter="fade" transition="in">
                                      <p:cBhvr>
                                        <p:cTn dur="500"/>
                                        <p:tgtEl>
                                          <p:spTgt spid="1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6"/>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16"/>
          <p:cNvSpPr/>
          <p:nvPr/>
        </p:nvSpPr>
        <p:spPr>
          <a:xfrm>
            <a:off x="640488" y="811431"/>
            <a:ext cx="7104789"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01. Introduction</a:t>
            </a:r>
            <a:endParaRPr b="1" sz="2800">
              <a:solidFill>
                <a:srgbClr val="3F3F3F"/>
              </a:solidFill>
              <a:latin typeface="Microsoft Yahei"/>
              <a:ea typeface="Microsoft Yahei"/>
              <a:cs typeface="Microsoft Yahei"/>
              <a:sym typeface="Microsoft Yahei"/>
            </a:endParaRPr>
          </a:p>
        </p:txBody>
      </p:sp>
      <p:sp>
        <p:nvSpPr>
          <p:cNvPr id="149" name="Google Shape;149;p16"/>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150" name="Google Shape;150;p16"/>
          <p:cNvSpPr/>
          <p:nvPr/>
        </p:nvSpPr>
        <p:spPr>
          <a:xfrm>
            <a:off x="11568608" y="885046"/>
            <a:ext cx="623392" cy="288032"/>
          </a:xfrm>
          <a:prstGeom prst="rect">
            <a:avLst/>
          </a:prstGeom>
          <a:solidFill>
            <a:srgbClr val="002060">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151" name="Google Shape;151;p16"/>
          <p:cNvSpPr/>
          <p:nvPr/>
        </p:nvSpPr>
        <p:spPr>
          <a:xfrm>
            <a:off x="373475" y="1246426"/>
            <a:ext cx="11195100" cy="1665900"/>
          </a:xfrm>
          <a:prstGeom prst="roundRect">
            <a:avLst>
              <a:gd fmla="val 16667" name="adj"/>
            </a:avLst>
          </a:prstGeom>
          <a:solidFill>
            <a:schemeClr val="lt1"/>
          </a:solidFill>
          <a:ln cap="flat" cmpd="sng" w="38100">
            <a:solidFill>
              <a:srgbClr val="2F549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16"/>
          <p:cNvSpPr txBox="1"/>
          <p:nvPr/>
        </p:nvSpPr>
        <p:spPr>
          <a:xfrm>
            <a:off x="623391" y="1321745"/>
            <a:ext cx="9236100" cy="15906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400"/>
              <a:buFont typeface="Noto Sans Symbols"/>
              <a:buChar char="❑"/>
            </a:pPr>
            <a:r>
              <a:rPr lang="en-ID" sz="1400">
                <a:solidFill>
                  <a:schemeClr val="dk1"/>
                </a:solidFill>
                <a:latin typeface="Microsoft YaHei"/>
                <a:ea typeface="Microsoft YaHei"/>
                <a:cs typeface="Microsoft YaHei"/>
                <a:sym typeface="Microsoft YaHei"/>
              </a:rPr>
              <a:t>Name					: Muhammad Shobri</a:t>
            </a:r>
            <a:endParaRPr/>
          </a:p>
          <a:p>
            <a:pPr indent="-285750" lvl="0" marL="285750" marR="0" rtl="0" algn="l">
              <a:spcBef>
                <a:spcPts val="400"/>
              </a:spcBef>
              <a:spcAft>
                <a:spcPts val="0"/>
              </a:spcAft>
              <a:buClr>
                <a:schemeClr val="dk1"/>
              </a:buClr>
              <a:buSzPts val="1400"/>
              <a:buFont typeface="Noto Sans Symbols"/>
              <a:buChar char="❑"/>
            </a:pPr>
            <a:r>
              <a:rPr lang="en-ID" sz="1400">
                <a:solidFill>
                  <a:schemeClr val="dk1"/>
                </a:solidFill>
                <a:latin typeface="Microsoft YaHei"/>
                <a:ea typeface="Microsoft YaHei"/>
                <a:cs typeface="Microsoft YaHei"/>
                <a:sym typeface="Microsoft YaHei"/>
              </a:rPr>
              <a:t>Place, Date of Birth / Age	: Jakarta, 04 – 08 – 2002 (21)</a:t>
            </a:r>
            <a:endParaRPr/>
          </a:p>
          <a:p>
            <a:pPr indent="-285750" lvl="0" marL="285750" marR="0" rtl="0" algn="l">
              <a:spcBef>
                <a:spcPts val="400"/>
              </a:spcBef>
              <a:spcAft>
                <a:spcPts val="0"/>
              </a:spcAft>
              <a:buClr>
                <a:schemeClr val="dk1"/>
              </a:buClr>
              <a:buSzPts val="1400"/>
              <a:buFont typeface="Noto Sans Symbols"/>
              <a:buChar char="❑"/>
            </a:pPr>
            <a:r>
              <a:rPr lang="en-ID" sz="1400">
                <a:solidFill>
                  <a:schemeClr val="dk1"/>
                </a:solidFill>
                <a:latin typeface="Microsoft YaHei"/>
                <a:ea typeface="Microsoft YaHei"/>
                <a:cs typeface="Microsoft YaHei"/>
                <a:sym typeface="Microsoft YaHei"/>
              </a:rPr>
              <a:t>Education				: </a:t>
            </a:r>
            <a:r>
              <a:rPr lang="en-ID">
                <a:solidFill>
                  <a:schemeClr val="dk1"/>
                </a:solidFill>
                <a:latin typeface="Microsoft YaHei"/>
                <a:ea typeface="Microsoft YaHei"/>
                <a:cs typeface="Microsoft YaHei"/>
                <a:sym typeface="Microsoft YaHei"/>
              </a:rPr>
              <a:t>Mechanical Engineering - University</a:t>
            </a:r>
            <a:r>
              <a:rPr lang="en-ID" sz="1400">
                <a:solidFill>
                  <a:schemeClr val="dk1"/>
                </a:solidFill>
                <a:latin typeface="Microsoft YaHei"/>
                <a:ea typeface="Microsoft YaHei"/>
                <a:cs typeface="Microsoft YaHei"/>
                <a:sym typeface="Microsoft YaHei"/>
              </a:rPr>
              <a:t> of Arizona (Bachelor)</a:t>
            </a:r>
            <a:br>
              <a:rPr lang="en-ID" sz="1400">
                <a:solidFill>
                  <a:schemeClr val="dk1"/>
                </a:solidFill>
                <a:latin typeface="Microsoft YaHei"/>
                <a:ea typeface="Microsoft YaHei"/>
                <a:cs typeface="Microsoft YaHei"/>
                <a:sym typeface="Microsoft YaHei"/>
              </a:rPr>
            </a:br>
            <a:r>
              <a:rPr lang="en-ID" sz="1400">
                <a:solidFill>
                  <a:schemeClr val="dk1"/>
                </a:solidFill>
                <a:latin typeface="Microsoft YaHei"/>
                <a:ea typeface="Microsoft YaHei"/>
                <a:cs typeface="Microsoft YaHei"/>
                <a:sym typeface="Microsoft YaHei"/>
              </a:rPr>
              <a:t>						: Teknik Mesin </a:t>
            </a:r>
            <a:r>
              <a:rPr lang="en-ID">
                <a:solidFill>
                  <a:schemeClr val="dk1"/>
                </a:solidFill>
                <a:latin typeface="Microsoft YaHei"/>
                <a:ea typeface="Microsoft YaHei"/>
                <a:cs typeface="Microsoft YaHei"/>
                <a:sym typeface="Microsoft YaHei"/>
              </a:rPr>
              <a:t>- Sampoerna University (S1)</a:t>
            </a:r>
            <a:endParaRPr/>
          </a:p>
          <a:p>
            <a:pPr indent="-285750" lvl="0" marL="285750" marR="0" rtl="0" algn="l">
              <a:spcBef>
                <a:spcPts val="400"/>
              </a:spcBef>
              <a:spcAft>
                <a:spcPts val="0"/>
              </a:spcAft>
              <a:buClr>
                <a:schemeClr val="dk1"/>
              </a:buClr>
              <a:buSzPts val="1400"/>
              <a:buFont typeface="Noto Sans Symbols"/>
              <a:buChar char="❑"/>
            </a:pPr>
            <a:r>
              <a:rPr lang="en-ID" sz="1400">
                <a:solidFill>
                  <a:schemeClr val="dk1"/>
                </a:solidFill>
                <a:latin typeface="Microsoft YaHei"/>
                <a:ea typeface="Microsoft YaHei"/>
                <a:cs typeface="Microsoft YaHei"/>
                <a:sym typeface="Microsoft YaHei"/>
              </a:rPr>
              <a:t>Department				: P</a:t>
            </a:r>
            <a:r>
              <a:rPr lang="en-ID">
                <a:solidFill>
                  <a:schemeClr val="dk1"/>
                </a:solidFill>
                <a:latin typeface="Microsoft YaHei"/>
                <a:ea typeface="Microsoft YaHei"/>
                <a:cs typeface="Microsoft YaHei"/>
                <a:sym typeface="Microsoft YaHei"/>
              </a:rPr>
              <a:t>roduct </a:t>
            </a:r>
            <a:r>
              <a:rPr lang="en-ID" sz="1400">
                <a:solidFill>
                  <a:schemeClr val="dk1"/>
                </a:solidFill>
                <a:latin typeface="Microsoft YaHei"/>
                <a:ea typeface="Microsoft YaHei"/>
                <a:cs typeface="Microsoft YaHei"/>
                <a:sym typeface="Microsoft YaHei"/>
              </a:rPr>
              <a:t>Engineering</a:t>
            </a:r>
            <a:endParaRPr/>
          </a:p>
          <a:p>
            <a:pPr indent="-285750" lvl="0" marL="285750" marR="0" rtl="0" algn="l">
              <a:spcBef>
                <a:spcPts val="400"/>
              </a:spcBef>
              <a:spcAft>
                <a:spcPts val="0"/>
              </a:spcAft>
              <a:buClr>
                <a:schemeClr val="dk1"/>
              </a:buClr>
              <a:buSzPts val="1400"/>
              <a:buFont typeface="Noto Sans Symbols"/>
              <a:buChar char="❑"/>
            </a:pPr>
            <a:r>
              <a:rPr lang="en-ID" sz="1400">
                <a:solidFill>
                  <a:schemeClr val="dk1"/>
                </a:solidFill>
                <a:latin typeface="Microsoft YaHei"/>
                <a:ea typeface="Microsoft YaHei"/>
                <a:cs typeface="Microsoft YaHei"/>
                <a:sym typeface="Microsoft YaHei"/>
              </a:rPr>
              <a:t>Section				: Process Development</a:t>
            </a:r>
            <a:endParaRPr sz="1400">
              <a:solidFill>
                <a:schemeClr val="dk1"/>
              </a:solidFill>
              <a:latin typeface="Microsoft YaHei"/>
              <a:ea typeface="Microsoft YaHei"/>
              <a:cs typeface="Microsoft YaHei"/>
              <a:sym typeface="Microsoft YaHei"/>
            </a:endParaRPr>
          </a:p>
        </p:txBody>
      </p:sp>
      <p:sp>
        <p:nvSpPr>
          <p:cNvPr id="153" name="Google Shape;153;p16"/>
          <p:cNvSpPr txBox="1"/>
          <p:nvPr/>
        </p:nvSpPr>
        <p:spPr>
          <a:xfrm>
            <a:off x="5383452" y="3329439"/>
            <a:ext cx="5722500" cy="831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Student Ambassador Sampoerna University, Jakarta, Indonesia</a:t>
            </a:r>
            <a:endParaRPr/>
          </a:p>
          <a:p>
            <a:pPr indent="-285750" lvl="0" marL="285750" marR="0" rtl="0" algn="l">
              <a:lnSpc>
                <a:spcPct val="150000"/>
              </a:lnSpc>
              <a:spcBef>
                <a:spcPts val="0"/>
              </a:spcBef>
              <a:spcAft>
                <a:spcPts val="0"/>
              </a:spcAft>
              <a:buClr>
                <a:srgbClr val="000000"/>
              </a:buClr>
              <a:buSzPts val="1200"/>
              <a:buFont typeface="Arial"/>
              <a:buChar char="•"/>
            </a:pPr>
            <a:r>
              <a:rPr lang="en-ID" sz="1200">
                <a:latin typeface="Microsoft YaHei"/>
                <a:ea typeface="Microsoft YaHei"/>
                <a:cs typeface="Microsoft YaHei"/>
                <a:sym typeface="Microsoft YaHei"/>
              </a:rPr>
              <a:t>Supervisor at Roxie Café, Medan, Indonesia</a:t>
            </a:r>
            <a:endParaRPr sz="1200">
              <a:latin typeface="Microsoft YaHei"/>
              <a:ea typeface="Microsoft YaHei"/>
              <a:cs typeface="Microsoft YaHei"/>
              <a:sym typeface="Microsoft YaHei"/>
            </a:endParaRPr>
          </a:p>
          <a:p>
            <a:pPr indent="-285750" lvl="0" marL="285750" marR="0" rtl="0" algn="l">
              <a:lnSpc>
                <a:spcPct val="150000"/>
              </a:lnSpc>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Barista at Roxie Café, Medan, </a:t>
            </a:r>
            <a:r>
              <a:rPr lang="en-ID" sz="1200">
                <a:solidFill>
                  <a:srgbClr val="000000"/>
                </a:solidFill>
                <a:latin typeface="Microsoft YaHei"/>
                <a:ea typeface="Microsoft YaHei"/>
                <a:cs typeface="Microsoft YaHei"/>
                <a:sym typeface="Microsoft YaHei"/>
              </a:rPr>
              <a:t>Indonesia</a:t>
            </a:r>
            <a:endParaRPr i="0" sz="1200" u="none" strike="noStrike">
              <a:solidFill>
                <a:srgbClr val="000000"/>
              </a:solidFill>
              <a:latin typeface="Microsoft YaHei"/>
              <a:ea typeface="Microsoft YaHei"/>
              <a:cs typeface="Microsoft YaHei"/>
              <a:sym typeface="Microsoft YaHei"/>
            </a:endParaRPr>
          </a:p>
        </p:txBody>
      </p:sp>
      <p:pic>
        <p:nvPicPr>
          <p:cNvPr id="154" name="Google Shape;154;p16"/>
          <p:cNvPicPr preferRelativeResize="0"/>
          <p:nvPr/>
        </p:nvPicPr>
        <p:blipFill rotWithShape="1">
          <a:blip r:embed="rId3">
            <a:alphaModFix/>
          </a:blip>
          <a:srcRect b="0" l="0" r="0" t="0"/>
          <a:stretch/>
        </p:blipFill>
        <p:spPr>
          <a:xfrm>
            <a:off x="9999290" y="4359891"/>
            <a:ext cx="2407224" cy="1876558"/>
          </a:xfrm>
          <a:prstGeom prst="rect">
            <a:avLst/>
          </a:prstGeom>
          <a:noFill/>
          <a:ln>
            <a:noFill/>
          </a:ln>
        </p:spPr>
      </p:pic>
      <p:pic>
        <p:nvPicPr>
          <p:cNvPr id="155" name="Google Shape;155;p16"/>
          <p:cNvPicPr preferRelativeResize="0"/>
          <p:nvPr/>
        </p:nvPicPr>
        <p:blipFill rotWithShape="1">
          <a:blip r:embed="rId4">
            <a:alphaModFix/>
          </a:blip>
          <a:srcRect b="0" l="6828" r="9157" t="19307"/>
          <a:stretch/>
        </p:blipFill>
        <p:spPr>
          <a:xfrm>
            <a:off x="10209848" y="1283185"/>
            <a:ext cx="1103366" cy="1590600"/>
          </a:xfrm>
          <a:prstGeom prst="rect">
            <a:avLst/>
          </a:prstGeom>
          <a:noFill/>
          <a:ln>
            <a:noFill/>
          </a:ln>
        </p:spPr>
      </p:pic>
      <p:sp>
        <p:nvSpPr>
          <p:cNvPr id="156" name="Google Shape;156;p16"/>
          <p:cNvSpPr txBox="1"/>
          <p:nvPr/>
        </p:nvSpPr>
        <p:spPr>
          <a:xfrm>
            <a:off x="382111" y="4218936"/>
            <a:ext cx="4992600" cy="1985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ID" sz="1400">
                <a:solidFill>
                  <a:schemeClr val="dk1"/>
                </a:solidFill>
                <a:latin typeface="Microsoft YaHei"/>
                <a:ea typeface="Microsoft YaHei"/>
                <a:cs typeface="Microsoft YaHei"/>
                <a:sym typeface="Microsoft YaHei"/>
              </a:rPr>
              <a:t>Organizational Experience :</a:t>
            </a:r>
            <a:br>
              <a:rPr b="1" lang="en-ID" sz="1400">
                <a:solidFill>
                  <a:schemeClr val="dk1"/>
                </a:solidFill>
                <a:latin typeface="Microsoft YaHei"/>
                <a:ea typeface="Microsoft YaHei"/>
                <a:cs typeface="Microsoft YaHei"/>
                <a:sym typeface="Microsoft YaHei"/>
              </a:rPr>
            </a:br>
            <a:r>
              <a:rPr b="1" lang="en-ID" sz="500">
                <a:solidFill>
                  <a:schemeClr val="dk1"/>
                </a:solidFill>
                <a:latin typeface="Microsoft YaHei"/>
                <a:ea typeface="Microsoft YaHei"/>
                <a:cs typeface="Microsoft YaHei"/>
                <a:sym typeface="Microsoft YaHei"/>
              </a:rPr>
              <a:t> </a:t>
            </a:r>
            <a:endParaRPr b="1" sz="1200">
              <a:solidFill>
                <a:schemeClr val="dk1"/>
              </a:solidFill>
              <a:latin typeface="Microsoft YaHei"/>
              <a:ea typeface="Microsoft YaHei"/>
              <a:cs typeface="Microsoft YaHei"/>
              <a:sym typeface="Microsoft YaHei"/>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highlight>
                  <a:srgbClr val="C0C0C0"/>
                </a:highlight>
                <a:latin typeface="Microsoft YaHei"/>
                <a:ea typeface="Microsoft YaHei"/>
                <a:cs typeface="Microsoft YaHei"/>
                <a:sym typeface="Microsoft YaHei"/>
              </a:rPr>
              <a:t>Institution of Mechanical Engineers Sampoerna University Student Chapter (IMechE SUSC) – Jakarta, Indonesia</a:t>
            </a:r>
            <a:br>
              <a:rPr i="0" lang="en-ID" sz="1200" u="none" strike="noStrike">
                <a:solidFill>
                  <a:srgbClr val="000000"/>
                </a:solidFill>
                <a:highlight>
                  <a:srgbClr val="C0C0C0"/>
                </a:highlight>
                <a:latin typeface="Microsoft YaHei"/>
                <a:ea typeface="Microsoft YaHei"/>
                <a:cs typeface="Microsoft YaHei"/>
                <a:sym typeface="Microsoft YaHei"/>
              </a:rPr>
            </a:br>
            <a:r>
              <a:rPr b="0" i="1" lang="en-ID" sz="1100" u="none" strike="noStrike">
                <a:solidFill>
                  <a:srgbClr val="000000"/>
                </a:solidFill>
                <a:highlight>
                  <a:srgbClr val="C0C0C0"/>
                </a:highlight>
                <a:latin typeface="Microsoft YaHei"/>
                <a:ea typeface="Microsoft YaHei"/>
                <a:cs typeface="Microsoft YaHei"/>
                <a:sym typeface="Microsoft YaHei"/>
              </a:rPr>
              <a:t>Head of Program and Event Division</a:t>
            </a:r>
            <a:endParaRPr sz="1100">
              <a:solidFill>
                <a:schemeClr val="dk1"/>
              </a:solidFill>
              <a:highlight>
                <a:srgbClr val="C0C0C0"/>
              </a:highlight>
              <a:latin typeface="Microsoft YaHei"/>
              <a:ea typeface="Microsoft YaHei"/>
              <a:cs typeface="Microsoft YaHei"/>
              <a:sym typeface="Microsoft YaHei"/>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TEDx Sampoerna University</a:t>
            </a:r>
            <a:r>
              <a:rPr i="0" lang="en-ID" sz="1200" u="none" strike="noStrike">
                <a:solidFill>
                  <a:srgbClr val="425154"/>
                </a:solidFill>
                <a:latin typeface="Microsoft YaHei"/>
                <a:ea typeface="Microsoft YaHei"/>
                <a:cs typeface="Microsoft YaHei"/>
                <a:sym typeface="Microsoft YaHei"/>
              </a:rPr>
              <a:t> </a:t>
            </a:r>
            <a:r>
              <a:rPr i="0" lang="en-ID" sz="1200" u="none" strike="noStrike">
                <a:solidFill>
                  <a:srgbClr val="000000"/>
                </a:solidFill>
                <a:latin typeface="Microsoft YaHei"/>
                <a:ea typeface="Microsoft YaHei"/>
                <a:cs typeface="Microsoft YaHei"/>
                <a:sym typeface="Microsoft YaHei"/>
              </a:rPr>
              <a:t>– Jakarta, Indonesia</a:t>
            </a:r>
            <a:br>
              <a:rPr i="0" lang="en-ID" sz="1200" u="none" strike="noStrike">
                <a:solidFill>
                  <a:srgbClr val="000000"/>
                </a:solidFill>
                <a:latin typeface="Microsoft YaHei"/>
                <a:ea typeface="Microsoft YaHei"/>
                <a:cs typeface="Microsoft YaHei"/>
                <a:sym typeface="Microsoft YaHei"/>
              </a:rPr>
            </a:br>
            <a:r>
              <a:rPr i="1" lang="en-ID" sz="1100" u="none" strike="noStrike">
                <a:solidFill>
                  <a:srgbClr val="000000"/>
                </a:solidFill>
                <a:latin typeface="Microsoft YaHei"/>
                <a:ea typeface="Microsoft YaHei"/>
                <a:cs typeface="Microsoft YaHei"/>
                <a:sym typeface="Microsoft YaHei"/>
              </a:rPr>
              <a:t>Event Division</a:t>
            </a:r>
            <a:endParaRPr i="1" sz="1200" u="none" strike="noStrike">
              <a:solidFill>
                <a:srgbClr val="000000"/>
              </a:solidFill>
              <a:latin typeface="Microsoft YaHei"/>
              <a:ea typeface="Microsoft YaHei"/>
              <a:cs typeface="Microsoft YaHei"/>
              <a:sym typeface="Microsoft YaHei"/>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highlight>
                  <a:srgbClr val="C0C0C0"/>
                </a:highlight>
                <a:latin typeface="Microsoft YaHei"/>
                <a:ea typeface="Microsoft YaHei"/>
                <a:cs typeface="Microsoft YaHei"/>
                <a:sym typeface="Microsoft YaHei"/>
              </a:rPr>
              <a:t>BPM Sampoerna University– Jakarta, Indonesia</a:t>
            </a:r>
            <a:br>
              <a:rPr i="0" lang="en-ID" sz="1200" u="none" strike="noStrike">
                <a:solidFill>
                  <a:srgbClr val="000000"/>
                </a:solidFill>
                <a:highlight>
                  <a:srgbClr val="C0C0C0"/>
                </a:highlight>
                <a:latin typeface="Microsoft YaHei"/>
                <a:ea typeface="Microsoft YaHei"/>
                <a:cs typeface="Microsoft YaHei"/>
                <a:sym typeface="Microsoft YaHei"/>
              </a:rPr>
            </a:br>
            <a:r>
              <a:rPr b="0" i="1" lang="en-ID" sz="1100" u="none" strike="noStrike">
                <a:solidFill>
                  <a:srgbClr val="000000"/>
                </a:solidFill>
                <a:highlight>
                  <a:srgbClr val="C0C0C0"/>
                </a:highlight>
                <a:latin typeface="Microsoft YaHei"/>
                <a:ea typeface="Microsoft YaHei"/>
                <a:cs typeface="Microsoft YaHei"/>
                <a:sym typeface="Microsoft YaHei"/>
              </a:rPr>
              <a:t>Commission 2: Aspiration</a:t>
            </a:r>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Lembaga Dakwah Kampus (LDK) Syamil</a:t>
            </a:r>
            <a:r>
              <a:rPr lang="en-ID" sz="1200">
                <a:solidFill>
                  <a:srgbClr val="000000"/>
                </a:solidFill>
                <a:latin typeface="Microsoft YaHei"/>
                <a:ea typeface="Microsoft YaHei"/>
                <a:cs typeface="Microsoft YaHei"/>
                <a:sym typeface="Microsoft YaHei"/>
              </a:rPr>
              <a:t> – Jakarta, Indonesia</a:t>
            </a:r>
            <a:br>
              <a:rPr i="0" lang="en-ID" sz="1100" u="none" strike="noStrike">
                <a:solidFill>
                  <a:srgbClr val="000000"/>
                </a:solidFill>
                <a:latin typeface="Microsoft YaHei"/>
                <a:ea typeface="Microsoft YaHei"/>
                <a:cs typeface="Microsoft YaHei"/>
                <a:sym typeface="Microsoft YaHei"/>
              </a:rPr>
            </a:br>
            <a:r>
              <a:rPr b="0" i="1" lang="en-ID" sz="1100" u="none" strike="noStrike">
                <a:solidFill>
                  <a:srgbClr val="000000"/>
                </a:solidFill>
                <a:latin typeface="Microsoft YaHei"/>
                <a:ea typeface="Microsoft YaHei"/>
                <a:cs typeface="Microsoft YaHei"/>
                <a:sym typeface="Microsoft YaHei"/>
              </a:rPr>
              <a:t>Vice Head</a:t>
            </a:r>
            <a:endParaRPr i="0" sz="1100" u="none" strike="noStrike">
              <a:solidFill>
                <a:srgbClr val="000000"/>
              </a:solidFill>
              <a:latin typeface="Microsoft YaHei"/>
              <a:ea typeface="Microsoft YaHei"/>
              <a:cs typeface="Microsoft YaHei"/>
              <a:sym typeface="Microsoft YaHei"/>
            </a:endParaRPr>
          </a:p>
        </p:txBody>
      </p:sp>
      <p:sp>
        <p:nvSpPr>
          <p:cNvPr id="157" name="Google Shape;157;p16"/>
          <p:cNvSpPr txBox="1"/>
          <p:nvPr/>
        </p:nvSpPr>
        <p:spPr>
          <a:xfrm>
            <a:off x="5374828" y="4331811"/>
            <a:ext cx="4992600" cy="187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1" sz="1200">
              <a:solidFill>
                <a:schemeClr val="dk1"/>
              </a:solidFill>
              <a:latin typeface="Microsoft YaHei"/>
              <a:ea typeface="Microsoft YaHei"/>
              <a:cs typeface="Microsoft YaHei"/>
              <a:sym typeface="Microsoft YaHei"/>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Sampoerna University New Student Orientation 2024</a:t>
            </a:r>
            <a:r>
              <a:rPr i="0" lang="en-ID" sz="1200" u="none" strike="noStrike">
                <a:solidFill>
                  <a:srgbClr val="425154"/>
                </a:solidFill>
                <a:latin typeface="Microsoft YaHei"/>
                <a:ea typeface="Microsoft YaHei"/>
                <a:cs typeface="Microsoft YaHei"/>
                <a:sym typeface="Microsoft YaHei"/>
              </a:rPr>
              <a:t> </a:t>
            </a:r>
            <a:r>
              <a:rPr i="0" lang="en-ID" sz="1200" u="none" strike="noStrike">
                <a:solidFill>
                  <a:srgbClr val="000000"/>
                </a:solidFill>
                <a:latin typeface="Microsoft YaHei"/>
                <a:ea typeface="Microsoft YaHei"/>
                <a:cs typeface="Microsoft YaHei"/>
                <a:sym typeface="Microsoft YaHei"/>
              </a:rPr>
              <a:t>– Jakarta, Indonesia</a:t>
            </a:r>
            <a:br>
              <a:rPr i="0" lang="en-ID" sz="1200" u="none" strike="noStrike">
                <a:solidFill>
                  <a:srgbClr val="000000"/>
                </a:solidFill>
                <a:latin typeface="Microsoft YaHei"/>
                <a:ea typeface="Microsoft YaHei"/>
                <a:cs typeface="Microsoft YaHei"/>
                <a:sym typeface="Microsoft YaHei"/>
              </a:rPr>
            </a:br>
            <a:r>
              <a:rPr i="1" lang="en-ID" sz="1100" u="none" strike="noStrike">
                <a:solidFill>
                  <a:srgbClr val="000000"/>
                </a:solidFill>
                <a:latin typeface="Microsoft YaHei"/>
                <a:ea typeface="Microsoft YaHei"/>
                <a:cs typeface="Microsoft YaHei"/>
                <a:sym typeface="Microsoft YaHei"/>
              </a:rPr>
              <a:t>Head Division of </a:t>
            </a:r>
            <a:r>
              <a:rPr b="0" i="1" lang="en-ID" sz="1100" u="none" strike="noStrike">
                <a:solidFill>
                  <a:srgbClr val="000000"/>
                </a:solidFill>
                <a:latin typeface="Microsoft YaHei"/>
                <a:ea typeface="Microsoft YaHei"/>
                <a:cs typeface="Microsoft YaHei"/>
                <a:sym typeface="Microsoft YaHei"/>
              </a:rPr>
              <a:t>Group Leader</a:t>
            </a:r>
            <a:endParaRPr sz="1100">
              <a:solidFill>
                <a:schemeClr val="dk1"/>
              </a:solidFill>
              <a:latin typeface="Microsoft YaHei"/>
              <a:ea typeface="Microsoft YaHei"/>
              <a:cs typeface="Microsoft YaHei"/>
              <a:sym typeface="Microsoft YaHei"/>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highlight>
                  <a:srgbClr val="C0C0C0"/>
                </a:highlight>
                <a:latin typeface="Microsoft YaHei"/>
                <a:ea typeface="Microsoft YaHei"/>
                <a:cs typeface="Microsoft YaHei"/>
                <a:sym typeface="Microsoft YaHei"/>
              </a:rPr>
              <a:t>Festival of Engineering and Technology – Jakarta, Indonesia</a:t>
            </a:r>
            <a:br>
              <a:rPr i="0" lang="en-ID" sz="1200" u="none" strike="noStrike">
                <a:solidFill>
                  <a:srgbClr val="000000"/>
                </a:solidFill>
                <a:highlight>
                  <a:srgbClr val="C0C0C0"/>
                </a:highlight>
                <a:latin typeface="Microsoft YaHei"/>
                <a:ea typeface="Microsoft YaHei"/>
                <a:cs typeface="Microsoft YaHei"/>
                <a:sym typeface="Microsoft YaHei"/>
              </a:rPr>
            </a:br>
            <a:r>
              <a:rPr i="1" lang="en-ID" sz="1100">
                <a:solidFill>
                  <a:srgbClr val="000000"/>
                </a:solidFill>
                <a:highlight>
                  <a:srgbClr val="C0C0C0"/>
                </a:highlight>
                <a:latin typeface="Microsoft YaHei"/>
                <a:ea typeface="Microsoft YaHei"/>
                <a:cs typeface="Microsoft YaHei"/>
                <a:sym typeface="Microsoft YaHei"/>
              </a:rPr>
              <a:t>Competition Division</a:t>
            </a:r>
            <a:endParaRPr i="1" sz="1200" u="none" strike="noStrike">
              <a:solidFill>
                <a:srgbClr val="000000"/>
              </a:solidFill>
              <a:highlight>
                <a:srgbClr val="C0C0C0"/>
              </a:highlight>
              <a:latin typeface="Microsoft YaHei"/>
              <a:ea typeface="Microsoft YaHei"/>
              <a:cs typeface="Microsoft YaHei"/>
              <a:sym typeface="Microsoft YaHei"/>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Halloween 2022: Escape room, Jakarta Indonesia</a:t>
            </a:r>
            <a:br>
              <a:rPr i="0" lang="en-ID" sz="1200" u="none" strike="noStrike">
                <a:solidFill>
                  <a:srgbClr val="000000"/>
                </a:solidFill>
                <a:latin typeface="Microsoft YaHei"/>
                <a:ea typeface="Microsoft YaHei"/>
                <a:cs typeface="Microsoft YaHei"/>
                <a:sym typeface="Microsoft YaHei"/>
              </a:rPr>
            </a:br>
            <a:r>
              <a:rPr b="0" i="1" lang="en-ID" sz="1100" u="none" strike="noStrike">
                <a:solidFill>
                  <a:srgbClr val="000000"/>
                </a:solidFill>
                <a:latin typeface="Microsoft YaHei"/>
                <a:ea typeface="Microsoft YaHei"/>
                <a:cs typeface="Microsoft YaHei"/>
                <a:sym typeface="Microsoft YaHei"/>
              </a:rPr>
              <a:t>Event Division</a:t>
            </a:r>
            <a:endParaRPr/>
          </a:p>
          <a:p>
            <a:pPr indent="-285750" lvl="0" marL="285750" marR="0" rtl="0" algn="l">
              <a:spcBef>
                <a:spcPts val="0"/>
              </a:spcBef>
              <a:spcAft>
                <a:spcPts val="0"/>
              </a:spcAft>
              <a:buClr>
                <a:srgbClr val="000000"/>
              </a:buClr>
              <a:buSzPts val="1200"/>
              <a:buFont typeface="Arial"/>
              <a:buChar char="•"/>
            </a:pPr>
            <a:r>
              <a:rPr i="0" lang="en-ID" sz="1200" u="none" strike="noStrike">
                <a:solidFill>
                  <a:srgbClr val="000000"/>
                </a:solidFill>
                <a:highlight>
                  <a:srgbClr val="C0C0C0"/>
                </a:highlight>
                <a:latin typeface="Microsoft YaHei"/>
                <a:ea typeface="Microsoft YaHei"/>
                <a:cs typeface="Microsoft YaHei"/>
                <a:sym typeface="Microsoft YaHei"/>
              </a:rPr>
              <a:t>Sampoerna University Olympics – Jakarta, Indonesia</a:t>
            </a:r>
            <a:br>
              <a:rPr i="0" lang="en-ID" sz="1100" u="none" strike="noStrike">
                <a:solidFill>
                  <a:srgbClr val="000000"/>
                </a:solidFill>
                <a:highlight>
                  <a:srgbClr val="C0C0C0"/>
                </a:highlight>
                <a:latin typeface="Microsoft YaHei"/>
                <a:ea typeface="Microsoft YaHei"/>
                <a:cs typeface="Microsoft YaHei"/>
                <a:sym typeface="Microsoft YaHei"/>
              </a:rPr>
            </a:br>
            <a:r>
              <a:rPr b="0" i="1" lang="en-ID" sz="1100" u="none" strike="noStrike">
                <a:solidFill>
                  <a:srgbClr val="000000"/>
                </a:solidFill>
                <a:highlight>
                  <a:srgbClr val="C0C0C0"/>
                </a:highlight>
                <a:latin typeface="Microsoft YaHei"/>
                <a:ea typeface="Microsoft YaHei"/>
                <a:cs typeface="Microsoft YaHei"/>
                <a:sym typeface="Microsoft YaHei"/>
              </a:rPr>
              <a:t>Cohort Manager</a:t>
            </a:r>
            <a:endParaRPr i="0" sz="1100" u="none" strike="noStrike">
              <a:solidFill>
                <a:srgbClr val="000000"/>
              </a:solidFill>
              <a:highlight>
                <a:srgbClr val="C0C0C0"/>
              </a:highlight>
              <a:latin typeface="Microsoft YaHei"/>
              <a:ea typeface="Microsoft YaHei"/>
              <a:cs typeface="Microsoft YaHei"/>
              <a:sym typeface="Microsoft YaHei"/>
            </a:endParaRPr>
          </a:p>
        </p:txBody>
      </p:sp>
      <p:sp>
        <p:nvSpPr>
          <p:cNvPr id="158" name="Google Shape;158;p16"/>
          <p:cNvSpPr txBox="1"/>
          <p:nvPr/>
        </p:nvSpPr>
        <p:spPr>
          <a:xfrm>
            <a:off x="382111" y="2993462"/>
            <a:ext cx="5001300" cy="11544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1" lang="en-ID" sz="1400">
                <a:solidFill>
                  <a:schemeClr val="dk1"/>
                </a:solidFill>
                <a:latin typeface="Microsoft YaHei"/>
                <a:ea typeface="Microsoft YaHei"/>
                <a:cs typeface="Microsoft YaHei"/>
                <a:sym typeface="Microsoft YaHei"/>
              </a:rPr>
              <a:t>Work Experience :</a:t>
            </a:r>
            <a:endParaRPr i="0" sz="1400" u="none" strike="noStrike">
              <a:solidFill>
                <a:srgbClr val="000000"/>
              </a:solidFill>
              <a:latin typeface="Microsoft YaHei"/>
              <a:ea typeface="Microsoft YaHei"/>
              <a:cs typeface="Microsoft YaHei"/>
              <a:sym typeface="Microsoft YaHei"/>
            </a:endParaRPr>
          </a:p>
          <a:p>
            <a:pPr indent="-285750" lvl="0" marL="285750" marR="0" rtl="0" algn="l">
              <a:lnSpc>
                <a:spcPct val="150000"/>
              </a:lnSpc>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Manufacturing Laboratory Assistant at</a:t>
            </a:r>
            <a:r>
              <a:rPr lang="en-ID" sz="1200">
                <a:solidFill>
                  <a:srgbClr val="000000"/>
                </a:solidFill>
                <a:latin typeface="Microsoft YaHei"/>
                <a:ea typeface="Microsoft YaHei"/>
                <a:cs typeface="Microsoft YaHei"/>
                <a:sym typeface="Microsoft YaHei"/>
              </a:rPr>
              <a:t> Sampoerna University,</a:t>
            </a:r>
            <a:r>
              <a:rPr i="0" lang="en-ID" sz="1200" u="none" strike="noStrike">
                <a:solidFill>
                  <a:srgbClr val="000000"/>
                </a:solidFill>
                <a:latin typeface="Microsoft YaHei"/>
                <a:ea typeface="Microsoft YaHei"/>
                <a:cs typeface="Microsoft YaHei"/>
                <a:sym typeface="Microsoft YaHei"/>
              </a:rPr>
              <a:t> Jakarta, Indonesia</a:t>
            </a:r>
            <a:endParaRPr/>
          </a:p>
          <a:p>
            <a:pPr indent="-285750" lvl="0" marL="285750" marR="0" rtl="0" algn="l">
              <a:lnSpc>
                <a:spcPct val="150000"/>
              </a:lnSpc>
              <a:spcBef>
                <a:spcPts val="0"/>
              </a:spcBef>
              <a:spcAft>
                <a:spcPts val="0"/>
              </a:spcAft>
              <a:buClr>
                <a:srgbClr val="000000"/>
              </a:buClr>
              <a:buSzPts val="1200"/>
              <a:buFont typeface="Arial"/>
              <a:buChar char="•"/>
            </a:pPr>
            <a:r>
              <a:rPr i="0" lang="en-ID" sz="1200" u="none" strike="noStrike">
                <a:solidFill>
                  <a:srgbClr val="000000"/>
                </a:solidFill>
                <a:latin typeface="Microsoft YaHei"/>
                <a:ea typeface="Microsoft YaHei"/>
                <a:cs typeface="Microsoft YaHei"/>
                <a:sym typeface="Microsoft YaHei"/>
              </a:rPr>
              <a:t>3D Design Freelancer, Jakarta, Indonesia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7"/>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17"/>
          <p:cNvSpPr/>
          <p:nvPr/>
        </p:nvSpPr>
        <p:spPr>
          <a:xfrm>
            <a:off x="632536" y="837309"/>
            <a:ext cx="5208091"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02. Organization Structure </a:t>
            </a:r>
            <a:endParaRPr/>
          </a:p>
        </p:txBody>
      </p:sp>
      <p:sp>
        <p:nvSpPr>
          <p:cNvPr id="166" name="Google Shape;166;p17"/>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167" name="Google Shape;167;p17"/>
          <p:cNvSpPr/>
          <p:nvPr/>
        </p:nvSpPr>
        <p:spPr>
          <a:xfrm>
            <a:off x="6472913" y="837309"/>
            <a:ext cx="5557485"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03. Role &amp; Responsibility</a:t>
            </a:r>
            <a:endParaRPr/>
          </a:p>
        </p:txBody>
      </p:sp>
      <p:sp>
        <p:nvSpPr>
          <p:cNvPr id="168" name="Google Shape;168;p17"/>
          <p:cNvSpPr/>
          <p:nvPr/>
        </p:nvSpPr>
        <p:spPr>
          <a:xfrm>
            <a:off x="5840377"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cxnSp>
        <p:nvCxnSpPr>
          <p:cNvPr id="169" name="Google Shape;169;p17"/>
          <p:cNvCxnSpPr/>
          <p:nvPr/>
        </p:nvCxnSpPr>
        <p:spPr>
          <a:xfrm>
            <a:off x="5840627" y="700216"/>
            <a:ext cx="0" cy="5741773"/>
          </a:xfrm>
          <a:prstGeom prst="straightConnector1">
            <a:avLst/>
          </a:prstGeom>
          <a:noFill/>
          <a:ln cap="flat" cmpd="sng" w="19050">
            <a:solidFill>
              <a:srgbClr val="FF0000"/>
            </a:solidFill>
            <a:prstDash val="lgDash"/>
            <a:miter lim="800000"/>
            <a:headEnd len="sm" w="sm" type="none"/>
            <a:tailEnd len="sm" w="sm" type="none"/>
          </a:ln>
        </p:spPr>
      </p:cxnSp>
      <p:sp>
        <p:nvSpPr>
          <p:cNvPr id="170" name="Google Shape;170;p17"/>
          <p:cNvSpPr/>
          <p:nvPr/>
        </p:nvSpPr>
        <p:spPr>
          <a:xfrm>
            <a:off x="1371600" y="1526875"/>
            <a:ext cx="2734574" cy="862642"/>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D" sz="1800">
                <a:solidFill>
                  <a:schemeClr val="dk1"/>
                </a:solidFill>
                <a:latin typeface="Calibri"/>
                <a:ea typeface="Calibri"/>
                <a:cs typeface="Calibri"/>
                <a:sym typeface="Calibri"/>
              </a:rPr>
              <a:t>COO</a:t>
            </a:r>
            <a:endParaRPr/>
          </a:p>
          <a:p>
            <a:pPr indent="0" lvl="0" marL="0" marR="0" rtl="0" algn="ctr">
              <a:spcBef>
                <a:spcPts val="0"/>
              </a:spcBef>
              <a:spcAft>
                <a:spcPts val="0"/>
              </a:spcAft>
              <a:buNone/>
            </a:pPr>
            <a:r>
              <a:rPr lang="en-ID" sz="1800">
                <a:solidFill>
                  <a:schemeClr val="dk1"/>
                </a:solidFill>
                <a:latin typeface="Calibri"/>
                <a:ea typeface="Calibri"/>
                <a:cs typeface="Calibri"/>
                <a:sym typeface="Calibri"/>
              </a:rPr>
              <a:t>Andi Gunanto</a:t>
            </a:r>
            <a:endParaRPr sz="1800">
              <a:solidFill>
                <a:schemeClr val="dk1"/>
              </a:solidFill>
              <a:latin typeface="Calibri"/>
              <a:ea typeface="Calibri"/>
              <a:cs typeface="Calibri"/>
              <a:sym typeface="Calibri"/>
            </a:endParaRPr>
          </a:p>
        </p:txBody>
      </p:sp>
      <p:sp>
        <p:nvSpPr>
          <p:cNvPr id="171" name="Google Shape;171;p17"/>
          <p:cNvSpPr/>
          <p:nvPr/>
        </p:nvSpPr>
        <p:spPr>
          <a:xfrm>
            <a:off x="1385979" y="2731693"/>
            <a:ext cx="2734574" cy="862642"/>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D" sz="1800">
                <a:solidFill>
                  <a:schemeClr val="dk1"/>
                </a:solidFill>
                <a:latin typeface="Calibri"/>
                <a:ea typeface="Calibri"/>
                <a:cs typeface="Calibri"/>
                <a:sym typeface="Calibri"/>
              </a:rPr>
              <a:t>General Manager</a:t>
            </a:r>
            <a:endParaRPr/>
          </a:p>
          <a:p>
            <a:pPr indent="0" lvl="0" marL="0" marR="0" rtl="0" algn="ctr">
              <a:spcBef>
                <a:spcPts val="0"/>
              </a:spcBef>
              <a:spcAft>
                <a:spcPts val="0"/>
              </a:spcAft>
              <a:buNone/>
            </a:pPr>
            <a:r>
              <a:rPr lang="en-ID" sz="1800">
                <a:solidFill>
                  <a:schemeClr val="dk1"/>
                </a:solidFill>
                <a:latin typeface="Calibri"/>
                <a:ea typeface="Calibri"/>
                <a:cs typeface="Calibri"/>
                <a:sym typeface="Calibri"/>
              </a:rPr>
              <a:t>Andi Sucipto</a:t>
            </a:r>
            <a:endParaRPr sz="1800">
              <a:solidFill>
                <a:schemeClr val="dk1"/>
              </a:solidFill>
              <a:latin typeface="Calibri"/>
              <a:ea typeface="Calibri"/>
              <a:cs typeface="Calibri"/>
              <a:sym typeface="Calibri"/>
            </a:endParaRPr>
          </a:p>
        </p:txBody>
      </p:sp>
      <p:sp>
        <p:nvSpPr>
          <p:cNvPr id="172" name="Google Shape;172;p17"/>
          <p:cNvSpPr/>
          <p:nvPr/>
        </p:nvSpPr>
        <p:spPr>
          <a:xfrm>
            <a:off x="1371600" y="3933635"/>
            <a:ext cx="2734574" cy="862642"/>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D" sz="1800">
                <a:solidFill>
                  <a:schemeClr val="dk1"/>
                </a:solidFill>
                <a:latin typeface="Calibri"/>
                <a:ea typeface="Calibri"/>
                <a:cs typeface="Calibri"/>
                <a:sym typeface="Calibri"/>
              </a:rPr>
              <a:t>Engineering Manager</a:t>
            </a:r>
            <a:endParaRPr/>
          </a:p>
          <a:p>
            <a:pPr indent="0" lvl="0" marL="0" marR="0" rtl="0" algn="ctr">
              <a:spcBef>
                <a:spcPts val="0"/>
              </a:spcBef>
              <a:spcAft>
                <a:spcPts val="0"/>
              </a:spcAft>
              <a:buNone/>
            </a:pPr>
            <a:r>
              <a:rPr lang="en-ID" sz="1800">
                <a:solidFill>
                  <a:schemeClr val="dk1"/>
                </a:solidFill>
                <a:latin typeface="Calibri"/>
                <a:ea typeface="Calibri"/>
                <a:cs typeface="Calibri"/>
                <a:sym typeface="Calibri"/>
              </a:rPr>
              <a:t>Agung D. P.</a:t>
            </a:r>
            <a:endParaRPr sz="1800">
              <a:solidFill>
                <a:schemeClr val="dk1"/>
              </a:solidFill>
              <a:latin typeface="Calibri"/>
              <a:ea typeface="Calibri"/>
              <a:cs typeface="Calibri"/>
              <a:sym typeface="Calibri"/>
            </a:endParaRPr>
          </a:p>
        </p:txBody>
      </p:sp>
      <p:sp>
        <p:nvSpPr>
          <p:cNvPr id="173" name="Google Shape;173;p17"/>
          <p:cNvSpPr/>
          <p:nvPr/>
        </p:nvSpPr>
        <p:spPr>
          <a:xfrm>
            <a:off x="1371600" y="5158049"/>
            <a:ext cx="2734574" cy="862642"/>
          </a:xfrm>
          <a:prstGeom prst="roundRect">
            <a:avLst>
              <a:gd fmla="val 16667" name="adj"/>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ID" sz="1800">
                <a:solidFill>
                  <a:schemeClr val="dk1"/>
                </a:solidFill>
                <a:latin typeface="Calibri"/>
                <a:ea typeface="Calibri"/>
                <a:cs typeface="Calibri"/>
                <a:sym typeface="Calibri"/>
              </a:rPr>
              <a:t>Process Development Section Head</a:t>
            </a:r>
            <a:endParaRPr/>
          </a:p>
          <a:p>
            <a:pPr indent="0" lvl="0" marL="0" marR="0" rtl="0" algn="ctr">
              <a:spcBef>
                <a:spcPts val="0"/>
              </a:spcBef>
              <a:spcAft>
                <a:spcPts val="0"/>
              </a:spcAft>
              <a:buNone/>
            </a:pPr>
            <a:r>
              <a:rPr lang="en-ID" sz="1800">
                <a:solidFill>
                  <a:schemeClr val="dk1"/>
                </a:solidFill>
                <a:latin typeface="Calibri"/>
                <a:ea typeface="Calibri"/>
                <a:cs typeface="Calibri"/>
                <a:sym typeface="Calibri"/>
              </a:rPr>
              <a:t>Jonathan C. Santoso</a:t>
            </a:r>
            <a:endParaRPr sz="1800">
              <a:solidFill>
                <a:schemeClr val="dk1"/>
              </a:solidFill>
              <a:latin typeface="Calibri"/>
              <a:ea typeface="Calibri"/>
              <a:cs typeface="Calibri"/>
              <a:sym typeface="Calibri"/>
            </a:endParaRPr>
          </a:p>
        </p:txBody>
      </p:sp>
      <p:sp>
        <p:nvSpPr>
          <p:cNvPr id="174" name="Google Shape;174;p17"/>
          <p:cNvSpPr/>
          <p:nvPr/>
        </p:nvSpPr>
        <p:spPr>
          <a:xfrm rot="5400000">
            <a:off x="2649753" y="2453739"/>
            <a:ext cx="207025" cy="229071"/>
          </a:xfrm>
          <a:prstGeom prst="rightArrow">
            <a:avLst>
              <a:gd fmla="val 50000" name="adj1"/>
              <a:gd fmla="val 50000" name="adj2"/>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5" name="Google Shape;175;p17"/>
          <p:cNvSpPr/>
          <p:nvPr/>
        </p:nvSpPr>
        <p:spPr>
          <a:xfrm rot="5400000">
            <a:off x="2649753" y="3658075"/>
            <a:ext cx="207025" cy="229071"/>
          </a:xfrm>
          <a:prstGeom prst="rightArrow">
            <a:avLst>
              <a:gd fmla="val 50000" name="adj1"/>
              <a:gd fmla="val 50000" name="adj2"/>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6" name="Google Shape;176;p17"/>
          <p:cNvSpPr/>
          <p:nvPr/>
        </p:nvSpPr>
        <p:spPr>
          <a:xfrm rot="5400000">
            <a:off x="2649753" y="4882052"/>
            <a:ext cx="207025" cy="229071"/>
          </a:xfrm>
          <a:prstGeom prst="rightArrow">
            <a:avLst>
              <a:gd fmla="val 50000" name="adj1"/>
              <a:gd fmla="val 50000" name="adj2"/>
            </a:avLst>
          </a:prstGeom>
          <a:solidFill>
            <a:schemeClr val="accent1"/>
          </a:solidFill>
          <a:ln cap="flat" cmpd="sng" w="12700">
            <a:solidFill>
              <a:srgbClr val="264159"/>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7" name="Google Shape;177;p17"/>
          <p:cNvSpPr txBox="1"/>
          <p:nvPr/>
        </p:nvSpPr>
        <p:spPr>
          <a:xfrm>
            <a:off x="6097250" y="1342025"/>
            <a:ext cx="5670300" cy="4941000"/>
          </a:xfrm>
          <a:prstGeom prst="rect">
            <a:avLst/>
          </a:prstGeom>
          <a:noFill/>
          <a:ln>
            <a:noFill/>
          </a:ln>
        </p:spPr>
        <p:txBody>
          <a:bodyPr anchorCtr="0" anchor="t" bIns="45700" lIns="91425" spcFirstLastPara="1" rIns="91425" wrap="square" tIns="45700">
            <a:spAutoFit/>
          </a:bodyPr>
          <a:lstStyle/>
          <a:p>
            <a:pPr indent="457200" lvl="0" marL="0" marR="0" rtl="0" algn="just">
              <a:lnSpc>
                <a:spcPct val="150000"/>
              </a:lnSpc>
              <a:spcBef>
                <a:spcPts val="0"/>
              </a:spcBef>
              <a:spcAft>
                <a:spcPts val="0"/>
              </a:spcAft>
              <a:buNone/>
            </a:pPr>
            <a:r>
              <a:rPr lang="en-ID" sz="1800">
                <a:solidFill>
                  <a:schemeClr val="dk1"/>
                </a:solidFill>
                <a:latin typeface="Calibri"/>
                <a:ea typeface="Calibri"/>
                <a:cs typeface="Calibri"/>
                <a:sym typeface="Calibri"/>
              </a:rPr>
              <a:t>The Process Development Engineer is responsible for </a:t>
            </a:r>
            <a:r>
              <a:rPr b="1" lang="en-ID" sz="1800">
                <a:solidFill>
                  <a:schemeClr val="dk1"/>
                </a:solidFill>
                <a:latin typeface="Calibri"/>
                <a:ea typeface="Calibri"/>
                <a:cs typeface="Calibri"/>
                <a:sym typeface="Calibri"/>
              </a:rPr>
              <a:t>developing, evaluating, improving, and optimizing</a:t>
            </a:r>
            <a:r>
              <a:rPr lang="en-ID" sz="1800">
                <a:solidFill>
                  <a:schemeClr val="dk1"/>
                </a:solidFill>
                <a:latin typeface="Calibri"/>
                <a:ea typeface="Calibri"/>
                <a:cs typeface="Calibri"/>
                <a:sym typeface="Calibri"/>
              </a:rPr>
              <a:t> manufacturing processes. This role involves a comprehensive understanding of the entire production workflow, from raw material input to final product output.</a:t>
            </a:r>
            <a:endParaRPr sz="1800">
              <a:solidFill>
                <a:schemeClr val="dk1"/>
              </a:solidFill>
              <a:latin typeface="Calibri"/>
              <a:ea typeface="Calibri"/>
              <a:cs typeface="Calibri"/>
              <a:sym typeface="Calibri"/>
            </a:endParaRPr>
          </a:p>
          <a:p>
            <a:pPr indent="0" lvl="0" marL="0" marR="0" rtl="0" algn="just">
              <a:lnSpc>
                <a:spcPct val="150000"/>
              </a:lnSpc>
              <a:spcBef>
                <a:spcPts val="0"/>
              </a:spcBef>
              <a:spcAft>
                <a:spcPts val="0"/>
              </a:spcAft>
              <a:buNone/>
            </a:pPr>
            <a:r>
              <a:t/>
            </a:r>
            <a:endParaRPr sz="1800">
              <a:solidFill>
                <a:schemeClr val="dk1"/>
              </a:solidFill>
              <a:latin typeface="Calibri"/>
              <a:ea typeface="Calibri"/>
              <a:cs typeface="Calibri"/>
              <a:sym typeface="Calibri"/>
            </a:endParaRPr>
          </a:p>
          <a:p>
            <a:pPr indent="457200" lvl="0" marL="0" marR="0" rtl="0" algn="just">
              <a:lnSpc>
                <a:spcPct val="150000"/>
              </a:lnSpc>
              <a:spcBef>
                <a:spcPts val="0"/>
              </a:spcBef>
              <a:spcAft>
                <a:spcPts val="0"/>
              </a:spcAft>
              <a:buNone/>
            </a:pPr>
            <a:r>
              <a:rPr lang="en-ID" sz="1800">
                <a:solidFill>
                  <a:schemeClr val="dk1"/>
                </a:solidFill>
                <a:latin typeface="Calibri"/>
                <a:ea typeface="Calibri"/>
                <a:cs typeface="Calibri"/>
                <a:sym typeface="Calibri"/>
              </a:rPr>
              <a:t>We work to </a:t>
            </a:r>
            <a:r>
              <a:rPr b="1" lang="en-ID" sz="1800">
                <a:solidFill>
                  <a:schemeClr val="dk1"/>
                </a:solidFill>
                <a:latin typeface="Calibri"/>
                <a:ea typeface="Calibri"/>
                <a:cs typeface="Calibri"/>
                <a:sym typeface="Calibri"/>
              </a:rPr>
              <a:t>ensure that production runs smoothly and efficiently</a:t>
            </a:r>
            <a:r>
              <a:rPr lang="en-ID" sz="1800">
                <a:solidFill>
                  <a:schemeClr val="dk1"/>
                </a:solidFill>
                <a:latin typeface="Calibri"/>
                <a:ea typeface="Calibri"/>
                <a:cs typeface="Calibri"/>
                <a:sym typeface="Calibri"/>
              </a:rPr>
              <a:t> while complying with </a:t>
            </a:r>
            <a:r>
              <a:rPr b="1" lang="en-ID" sz="1800">
                <a:solidFill>
                  <a:schemeClr val="dk1"/>
                </a:solidFill>
                <a:latin typeface="Calibri"/>
                <a:ea typeface="Calibri"/>
                <a:cs typeface="Calibri"/>
                <a:sym typeface="Calibri"/>
              </a:rPr>
              <a:t>quality and safety standards</a:t>
            </a:r>
            <a:r>
              <a:rPr lang="en-ID" sz="1800">
                <a:solidFill>
                  <a:schemeClr val="dk1"/>
                </a:solidFill>
                <a:latin typeface="Calibri"/>
                <a:ea typeface="Calibri"/>
                <a:cs typeface="Calibri"/>
                <a:sym typeface="Calibri"/>
              </a:rPr>
              <a:t>. This involves monitoring production activities, identifying areas for improvement, and implementing changes to enhance efficiency, reduce waste, and maintain product quality.</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8"/>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4" name="Google Shape;184;p18"/>
          <p:cNvSpPr/>
          <p:nvPr/>
        </p:nvSpPr>
        <p:spPr>
          <a:xfrm>
            <a:off x="3492011" y="5476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185" name="Google Shape;185;p18"/>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186" name="Google Shape;186;p18"/>
          <p:cNvSpPr/>
          <p:nvPr/>
        </p:nvSpPr>
        <p:spPr>
          <a:xfrm>
            <a:off x="3199717" y="1017472"/>
            <a:ext cx="52761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Presentasi REBA Analysis</a:t>
            </a:r>
            <a:endParaRPr sz="1200">
              <a:solidFill>
                <a:srgbClr val="3F3F3F"/>
              </a:solidFill>
              <a:latin typeface="Microsoft Yahei"/>
              <a:ea typeface="Microsoft Yahei"/>
              <a:cs typeface="Microsoft Yahei"/>
              <a:sym typeface="Microsoft Yahei"/>
            </a:endParaRPr>
          </a:p>
        </p:txBody>
      </p:sp>
      <p:sp>
        <p:nvSpPr>
          <p:cNvPr id="187" name="Google Shape;187;p18"/>
          <p:cNvSpPr/>
          <p:nvPr/>
        </p:nvSpPr>
        <p:spPr>
          <a:xfrm>
            <a:off x="6282975"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8" name="Google Shape;188;p18"/>
          <p:cNvPicPr preferRelativeResize="0"/>
          <p:nvPr/>
        </p:nvPicPr>
        <p:blipFill>
          <a:blip r:embed="rId3">
            <a:alphaModFix/>
          </a:blip>
          <a:stretch>
            <a:fillRect/>
          </a:stretch>
        </p:blipFill>
        <p:spPr>
          <a:xfrm>
            <a:off x="6553200" y="1474150"/>
            <a:ext cx="3749490" cy="1990837"/>
          </a:xfrm>
          <a:prstGeom prst="rect">
            <a:avLst/>
          </a:prstGeom>
          <a:noFill/>
          <a:ln>
            <a:noFill/>
          </a:ln>
        </p:spPr>
      </p:pic>
      <p:pic>
        <p:nvPicPr>
          <p:cNvPr id="189" name="Google Shape;189;p18"/>
          <p:cNvPicPr preferRelativeResize="0"/>
          <p:nvPr/>
        </p:nvPicPr>
        <p:blipFill>
          <a:blip r:embed="rId4">
            <a:alphaModFix/>
          </a:blip>
          <a:stretch>
            <a:fillRect/>
          </a:stretch>
        </p:blipFill>
        <p:spPr>
          <a:xfrm>
            <a:off x="7373663" y="2782710"/>
            <a:ext cx="3749490" cy="1992897"/>
          </a:xfrm>
          <a:prstGeom prst="rect">
            <a:avLst/>
          </a:prstGeom>
          <a:noFill/>
          <a:ln>
            <a:noFill/>
          </a:ln>
        </p:spPr>
      </p:pic>
      <p:pic>
        <p:nvPicPr>
          <p:cNvPr id="190" name="Google Shape;190;p18"/>
          <p:cNvPicPr preferRelativeResize="0"/>
          <p:nvPr/>
        </p:nvPicPr>
        <p:blipFill>
          <a:blip r:embed="rId5">
            <a:alphaModFix/>
          </a:blip>
          <a:stretch>
            <a:fillRect/>
          </a:stretch>
        </p:blipFill>
        <p:spPr>
          <a:xfrm>
            <a:off x="8206085" y="3808971"/>
            <a:ext cx="3749490" cy="1993329"/>
          </a:xfrm>
          <a:prstGeom prst="rect">
            <a:avLst/>
          </a:prstGeom>
          <a:noFill/>
          <a:ln>
            <a:noFill/>
          </a:ln>
        </p:spPr>
      </p:pic>
      <p:sp>
        <p:nvSpPr>
          <p:cNvPr id="191" name="Google Shape;191;p18"/>
          <p:cNvSpPr txBox="1"/>
          <p:nvPr/>
        </p:nvSpPr>
        <p:spPr>
          <a:xfrm>
            <a:off x="547200" y="1175875"/>
            <a:ext cx="5760600" cy="4962600"/>
          </a:xfrm>
          <a:prstGeom prst="rect">
            <a:avLst/>
          </a:prstGeom>
          <a:noFill/>
          <a:ln>
            <a:noFill/>
          </a:ln>
        </p:spPr>
        <p:txBody>
          <a:bodyPr anchorCtr="0" anchor="t" bIns="91425" lIns="91425" spcFirstLastPara="1" rIns="91425" wrap="square" tIns="91425">
            <a:noAutofit/>
          </a:bodyPr>
          <a:lstStyle/>
          <a:p>
            <a:pPr indent="-330200" lvl="0" marL="457200" rtl="0" algn="just">
              <a:lnSpc>
                <a:spcPct val="115000"/>
              </a:lnSpc>
              <a:spcBef>
                <a:spcPts val="0"/>
              </a:spcBef>
              <a:spcAft>
                <a:spcPts val="0"/>
              </a:spcAft>
              <a:buSzPts val="1600"/>
              <a:buAutoNum type="arabicPeriod"/>
            </a:pPr>
            <a:r>
              <a:rPr b="1" lang="en-ID" sz="1600"/>
              <a:t>Casting Line:</a:t>
            </a:r>
            <a:endParaRPr b="1" sz="1600"/>
          </a:p>
          <a:p>
            <a:pPr indent="-330200" lvl="0" marL="457200" rtl="0" algn="just">
              <a:lnSpc>
                <a:spcPct val="115000"/>
              </a:lnSpc>
              <a:spcBef>
                <a:spcPts val="0"/>
              </a:spcBef>
              <a:spcAft>
                <a:spcPts val="0"/>
              </a:spcAft>
              <a:buSzPts val="1600"/>
              <a:buChar char="●"/>
            </a:pPr>
            <a:r>
              <a:rPr lang="en-ID" sz="1600"/>
              <a:t>Masalah: Satu operator menangani lane casting. Karena masalah mesin trimming dengan Cover L K1AL N800, trimming manual diperlukan setelah casting, menyebabkan pengerjaan yang repetitif.</a:t>
            </a:r>
            <a:endParaRPr sz="1600"/>
          </a:p>
          <a:p>
            <a:pPr indent="-330200" lvl="0" marL="457200" rtl="0" algn="just">
              <a:lnSpc>
                <a:spcPct val="115000"/>
              </a:lnSpc>
              <a:spcBef>
                <a:spcPts val="0"/>
              </a:spcBef>
              <a:spcAft>
                <a:spcPts val="0"/>
              </a:spcAft>
              <a:buSzPts val="1600"/>
              <a:buChar char="●"/>
            </a:pPr>
            <a:r>
              <a:rPr lang="en-ID" sz="1600"/>
              <a:t>Solusi: Penggunaan chute untuk mentransfer produk dari mesin ke operator dengan lebih efisien, meningkatkan ergonomi dan mengurangi gerakan berulang.</a:t>
            </a:r>
            <a:endParaRPr sz="1600"/>
          </a:p>
        </p:txBody>
      </p:sp>
      <p:pic>
        <p:nvPicPr>
          <p:cNvPr id="192" name="Google Shape;192;p18"/>
          <p:cNvPicPr preferRelativeResize="0"/>
          <p:nvPr/>
        </p:nvPicPr>
        <p:blipFill>
          <a:blip r:embed="rId6">
            <a:alphaModFix/>
          </a:blip>
          <a:stretch>
            <a:fillRect/>
          </a:stretch>
        </p:blipFill>
        <p:spPr>
          <a:xfrm>
            <a:off x="2122590" y="3693600"/>
            <a:ext cx="4489286" cy="2524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9"/>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19"/>
          <p:cNvSpPr/>
          <p:nvPr/>
        </p:nvSpPr>
        <p:spPr>
          <a:xfrm>
            <a:off x="3492011" y="5476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200" name="Google Shape;200;p19"/>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201" name="Google Shape;201;p19"/>
          <p:cNvSpPr/>
          <p:nvPr/>
        </p:nvSpPr>
        <p:spPr>
          <a:xfrm>
            <a:off x="2929202" y="1017475"/>
            <a:ext cx="63336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Concepting assy oil separator mechanism</a:t>
            </a:r>
            <a:endParaRPr sz="1200">
              <a:solidFill>
                <a:srgbClr val="3F3F3F"/>
              </a:solidFill>
              <a:latin typeface="Microsoft Yahei"/>
              <a:ea typeface="Microsoft Yahei"/>
              <a:cs typeface="Microsoft Yahei"/>
              <a:sym typeface="Microsoft Yahei"/>
            </a:endParaRPr>
          </a:p>
        </p:txBody>
      </p:sp>
      <p:pic>
        <p:nvPicPr>
          <p:cNvPr id="202" name="Google Shape;202;p19"/>
          <p:cNvPicPr preferRelativeResize="0"/>
          <p:nvPr/>
        </p:nvPicPr>
        <p:blipFill>
          <a:blip r:embed="rId3">
            <a:alphaModFix/>
          </a:blip>
          <a:stretch>
            <a:fillRect/>
          </a:stretch>
        </p:blipFill>
        <p:spPr>
          <a:xfrm>
            <a:off x="5789301" y="2160822"/>
            <a:ext cx="4668299" cy="3299529"/>
          </a:xfrm>
          <a:prstGeom prst="rect">
            <a:avLst/>
          </a:prstGeom>
          <a:noFill/>
          <a:ln>
            <a:noFill/>
          </a:ln>
        </p:spPr>
      </p:pic>
      <p:pic>
        <p:nvPicPr>
          <p:cNvPr id="203" name="Google Shape;203;p19"/>
          <p:cNvPicPr preferRelativeResize="0"/>
          <p:nvPr/>
        </p:nvPicPr>
        <p:blipFill>
          <a:blip r:embed="rId4">
            <a:alphaModFix/>
          </a:blip>
          <a:stretch>
            <a:fillRect/>
          </a:stretch>
        </p:blipFill>
        <p:spPr>
          <a:xfrm>
            <a:off x="10644600" y="2526978"/>
            <a:ext cx="1415725" cy="1297472"/>
          </a:xfrm>
          <a:prstGeom prst="rect">
            <a:avLst/>
          </a:prstGeom>
          <a:noFill/>
          <a:ln>
            <a:noFill/>
          </a:ln>
        </p:spPr>
      </p:pic>
      <p:pic>
        <p:nvPicPr>
          <p:cNvPr id="204" name="Google Shape;204;p19"/>
          <p:cNvPicPr preferRelativeResize="0"/>
          <p:nvPr/>
        </p:nvPicPr>
        <p:blipFill>
          <a:blip r:embed="rId5">
            <a:alphaModFix/>
          </a:blip>
          <a:stretch>
            <a:fillRect/>
          </a:stretch>
        </p:blipFill>
        <p:spPr>
          <a:xfrm>
            <a:off x="10644602" y="4191000"/>
            <a:ext cx="1415725" cy="1619725"/>
          </a:xfrm>
          <a:prstGeom prst="rect">
            <a:avLst/>
          </a:prstGeom>
          <a:noFill/>
          <a:ln>
            <a:noFill/>
          </a:ln>
        </p:spPr>
      </p:pic>
      <p:sp>
        <p:nvSpPr>
          <p:cNvPr id="205" name="Google Shape;205;p19"/>
          <p:cNvSpPr txBox="1"/>
          <p:nvPr/>
        </p:nvSpPr>
        <p:spPr>
          <a:xfrm>
            <a:off x="456400" y="1633075"/>
            <a:ext cx="5145900" cy="4679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D" sz="1600"/>
              <a:t>Desain baru mencakup:</a:t>
            </a:r>
            <a:endParaRPr b="1" sz="1600"/>
          </a:p>
          <a:p>
            <a:pPr indent="-311150" lvl="0" marL="457200" rtl="0" algn="just">
              <a:lnSpc>
                <a:spcPct val="115000"/>
              </a:lnSpc>
              <a:spcBef>
                <a:spcPts val="0"/>
              </a:spcBef>
              <a:spcAft>
                <a:spcPts val="0"/>
              </a:spcAft>
              <a:buClr>
                <a:schemeClr val="dk1"/>
              </a:buClr>
              <a:buSzPts val="1300"/>
              <a:buChar char="●"/>
            </a:pPr>
            <a:r>
              <a:rPr lang="en-ID" sz="1600"/>
              <a:t>Penggunaan </a:t>
            </a:r>
            <a:r>
              <a:rPr lang="en-ID" sz="1600"/>
              <a:t>conveyor</a:t>
            </a:r>
            <a:r>
              <a:rPr lang="en-ID" sz="1600"/>
              <a:t> untuk memindahkan parts secara otomatis.</a:t>
            </a:r>
            <a:endParaRPr sz="1600"/>
          </a:p>
          <a:p>
            <a:pPr indent="-311150" lvl="0" marL="457200" rtl="0" algn="just">
              <a:lnSpc>
                <a:spcPct val="115000"/>
              </a:lnSpc>
              <a:spcBef>
                <a:spcPts val="0"/>
              </a:spcBef>
              <a:spcAft>
                <a:spcPts val="0"/>
              </a:spcAft>
              <a:buClr>
                <a:schemeClr val="dk1"/>
              </a:buClr>
              <a:buSzPts val="1300"/>
              <a:buChar char="●"/>
            </a:pPr>
            <a:r>
              <a:rPr lang="en-ID" sz="1600"/>
              <a:t>Penggunaan robot lengan mini di atas </a:t>
            </a:r>
            <a:r>
              <a:rPr lang="en-ID" sz="1600"/>
              <a:t>conveyor</a:t>
            </a:r>
            <a:r>
              <a:rPr lang="en-ID" sz="1600"/>
              <a:t> untuk proses handling secara presisi.</a:t>
            </a:r>
            <a:endParaRPr sz="1600"/>
          </a:p>
          <a:p>
            <a:pPr indent="-311150" lvl="0" marL="457200" rtl="0" algn="just">
              <a:lnSpc>
                <a:spcPct val="115000"/>
              </a:lnSpc>
              <a:spcBef>
                <a:spcPts val="0"/>
              </a:spcBef>
              <a:spcAft>
                <a:spcPts val="0"/>
              </a:spcAft>
              <a:buClr>
                <a:schemeClr val="dk1"/>
              </a:buClr>
              <a:buSzPts val="1300"/>
              <a:buChar char="●"/>
            </a:pPr>
            <a:r>
              <a:rPr lang="en-ID" sz="1600"/>
              <a:t>Penggunaan magazine untuk meningkatkan kapasitas penyimpanan parts.</a:t>
            </a:r>
            <a:endParaRPr sz="1600"/>
          </a:p>
          <a:p>
            <a:pPr indent="-311150" lvl="0" marL="457200" rtl="0" algn="just">
              <a:lnSpc>
                <a:spcPct val="115000"/>
              </a:lnSpc>
              <a:spcBef>
                <a:spcPts val="0"/>
              </a:spcBef>
              <a:spcAft>
                <a:spcPts val="0"/>
              </a:spcAft>
              <a:buClr>
                <a:schemeClr val="dk1"/>
              </a:buClr>
              <a:buSzPts val="1300"/>
              <a:buChar char="●"/>
            </a:pPr>
            <a:r>
              <a:rPr lang="en-ID" sz="1600"/>
              <a:t>Penggunaan laser untuk marking dan printing.</a:t>
            </a:r>
            <a:endParaRPr sz="1600"/>
          </a:p>
          <a:p>
            <a:pPr indent="0" lvl="0" marL="0" rtl="0" algn="just">
              <a:lnSpc>
                <a:spcPct val="115000"/>
              </a:lnSpc>
              <a:spcBef>
                <a:spcPts val="0"/>
              </a:spcBef>
              <a:spcAft>
                <a:spcPts val="0"/>
              </a:spcAft>
              <a:buNone/>
            </a:pPr>
            <a:r>
              <a:t/>
            </a:r>
            <a:endParaRPr sz="1600"/>
          </a:p>
          <a:p>
            <a:pPr indent="0" lvl="0" marL="0" rtl="0" algn="just">
              <a:lnSpc>
                <a:spcPct val="115000"/>
              </a:lnSpc>
              <a:spcBef>
                <a:spcPts val="0"/>
              </a:spcBef>
              <a:spcAft>
                <a:spcPts val="0"/>
              </a:spcAft>
              <a:buNone/>
            </a:pPr>
            <a:r>
              <a:rPr b="1" lang="en-ID" sz="1600"/>
              <a:t>Keuntungan dari desain baru ini adalah:</a:t>
            </a:r>
            <a:endParaRPr b="1" sz="1600"/>
          </a:p>
          <a:p>
            <a:pPr indent="-311150" lvl="0" marL="457200" rtl="0" algn="just">
              <a:lnSpc>
                <a:spcPct val="115000"/>
              </a:lnSpc>
              <a:spcBef>
                <a:spcPts val="0"/>
              </a:spcBef>
              <a:spcAft>
                <a:spcPts val="0"/>
              </a:spcAft>
              <a:buClr>
                <a:schemeClr val="dk1"/>
              </a:buClr>
              <a:buSzPts val="1300"/>
              <a:buChar char="●"/>
            </a:pPr>
            <a:r>
              <a:rPr lang="en-ID" sz="1600"/>
              <a:t>Mengurangi tenaga kerja dari 4 atau 5 orang yang dilakukan secara manual menjadi hanya 1 orang.</a:t>
            </a:r>
            <a:endParaRPr sz="1600"/>
          </a:p>
          <a:p>
            <a:pPr indent="-311150" lvl="0" marL="457200" rtl="0" algn="just">
              <a:lnSpc>
                <a:spcPct val="115000"/>
              </a:lnSpc>
              <a:spcBef>
                <a:spcPts val="0"/>
              </a:spcBef>
              <a:spcAft>
                <a:spcPts val="0"/>
              </a:spcAft>
              <a:buClr>
                <a:schemeClr val="dk1"/>
              </a:buClr>
              <a:buSzPts val="1300"/>
              <a:buChar char="●"/>
            </a:pPr>
            <a:r>
              <a:rPr lang="en-ID" sz="1600"/>
              <a:t>Meningkatkan efisiensi dan akurasi proses.</a:t>
            </a:r>
            <a:endParaRPr sz="1600"/>
          </a:p>
          <a:p>
            <a:pPr indent="-311150" lvl="0" marL="457200" rtl="0" algn="just">
              <a:lnSpc>
                <a:spcPct val="115000"/>
              </a:lnSpc>
              <a:spcBef>
                <a:spcPts val="0"/>
              </a:spcBef>
              <a:spcAft>
                <a:spcPts val="0"/>
              </a:spcAft>
              <a:buClr>
                <a:schemeClr val="dk1"/>
              </a:buClr>
              <a:buSzPts val="1300"/>
              <a:buChar char="●"/>
            </a:pPr>
            <a:r>
              <a:rPr lang="en-ID" sz="1600"/>
              <a:t>Mengurangi kesalahan manusia dan meningkatkan konsistensi produk.</a:t>
            </a:r>
            <a:endParaRPr sz="16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0"/>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12" name="Google Shape;212;p20"/>
          <p:cNvSpPr/>
          <p:nvPr/>
        </p:nvSpPr>
        <p:spPr>
          <a:xfrm>
            <a:off x="3492011" y="5476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213" name="Google Shape;213;p20"/>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214" name="Google Shape;214;p20"/>
          <p:cNvSpPr/>
          <p:nvPr/>
        </p:nvSpPr>
        <p:spPr>
          <a:xfrm>
            <a:off x="3199717" y="1017472"/>
            <a:ext cx="52761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Improvement Assy Gear Oil Driven</a:t>
            </a:r>
            <a:endParaRPr/>
          </a:p>
          <a:p>
            <a:pPr indent="0" lvl="0" marL="0" marR="0" rtl="0" algn="ctr">
              <a:spcBef>
                <a:spcPts val="0"/>
              </a:spcBef>
              <a:spcAft>
                <a:spcPts val="0"/>
              </a:spcAft>
              <a:buNone/>
            </a:pPr>
            <a:r>
              <a:rPr lang="en-ID" sz="1400">
                <a:solidFill>
                  <a:srgbClr val="3F3F3F"/>
                </a:solidFill>
                <a:latin typeface="Microsoft Yahei"/>
                <a:ea typeface="Microsoft Yahei"/>
                <a:cs typeface="Microsoft Yahei"/>
                <a:sym typeface="Microsoft Yahei"/>
              </a:rPr>
              <a:t>(</a:t>
            </a:r>
            <a:r>
              <a:rPr lang="en-ID" sz="1400">
                <a:solidFill>
                  <a:srgbClr val="FF0000"/>
                </a:solidFill>
                <a:latin typeface="Microsoft Yahei"/>
                <a:ea typeface="Microsoft Yahei"/>
                <a:cs typeface="Microsoft Yahei"/>
                <a:sym typeface="Microsoft Yahei"/>
              </a:rPr>
              <a:t>Pin Positioning and Presser Modification</a:t>
            </a:r>
            <a:r>
              <a:rPr lang="en-ID" sz="1400">
                <a:solidFill>
                  <a:srgbClr val="3F3F3F"/>
                </a:solidFill>
                <a:latin typeface="Microsoft Yahei"/>
                <a:ea typeface="Microsoft Yahei"/>
                <a:cs typeface="Microsoft Yahei"/>
                <a:sym typeface="Microsoft Yahei"/>
              </a:rPr>
              <a:t>)</a:t>
            </a:r>
            <a:endParaRPr sz="1200">
              <a:solidFill>
                <a:srgbClr val="3F3F3F"/>
              </a:solidFill>
              <a:latin typeface="Microsoft Yahei"/>
              <a:ea typeface="Microsoft Yahei"/>
              <a:cs typeface="Microsoft Yahei"/>
              <a:sym typeface="Microsoft Yahei"/>
            </a:endParaRPr>
          </a:p>
        </p:txBody>
      </p:sp>
      <p:sp>
        <p:nvSpPr>
          <p:cNvPr id="215" name="Google Shape;215;p20"/>
          <p:cNvSpPr txBox="1"/>
          <p:nvPr/>
        </p:nvSpPr>
        <p:spPr>
          <a:xfrm>
            <a:off x="328800" y="1931250"/>
            <a:ext cx="4499700" cy="2478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Latar Belakang:</a:t>
            </a:r>
            <a:endParaRPr sz="1600"/>
          </a:p>
          <a:p>
            <a:pPr indent="0" lvl="0" marL="0" marR="0" rtl="0" algn="just">
              <a:lnSpc>
                <a:spcPct val="150000"/>
              </a:lnSpc>
              <a:spcBef>
                <a:spcPts val="0"/>
              </a:spcBef>
              <a:spcAft>
                <a:spcPts val="0"/>
              </a:spcAft>
              <a:buNone/>
            </a:pPr>
            <a:r>
              <a:rPr lang="en-ID">
                <a:solidFill>
                  <a:schemeClr val="dk1"/>
                </a:solidFill>
              </a:rPr>
              <a:t>Gear driven yang telah di-assy susah masuk saat diperiksa menggunakan GO-NOGO gauge.</a:t>
            </a:r>
            <a:endParaRPr sz="1600"/>
          </a:p>
          <a:p>
            <a:pPr indent="0" lvl="0" marL="0" marR="0" rtl="0" algn="just">
              <a:lnSpc>
                <a:spcPct val="150000"/>
              </a:lnSpc>
              <a:spcBef>
                <a:spcPts val="0"/>
              </a:spcBef>
              <a:spcAft>
                <a:spcPts val="0"/>
              </a:spcAft>
              <a:buNone/>
            </a:pPr>
            <a:r>
              <a:rPr lang="en-ID" sz="1000">
                <a:solidFill>
                  <a:schemeClr val="dk1"/>
                </a:solidFill>
              </a:rPr>
              <a:t>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Rumusan Masalah:</a:t>
            </a:r>
            <a:endParaRPr sz="1600"/>
          </a:p>
          <a:p>
            <a:pPr indent="0" lvl="0" marL="0" marR="0" rtl="0" algn="just">
              <a:lnSpc>
                <a:spcPct val="150000"/>
              </a:lnSpc>
              <a:spcBef>
                <a:spcPts val="0"/>
              </a:spcBef>
              <a:spcAft>
                <a:spcPts val="0"/>
              </a:spcAft>
              <a:buNone/>
            </a:pPr>
            <a:r>
              <a:rPr lang="en-ID">
                <a:solidFill>
                  <a:schemeClr val="dk1"/>
                </a:solidFill>
              </a:rPr>
              <a:t>Hal ini terjadi karena plat tidak masuk ke dalam lubang gear secara tepat di tengah saat proses assy.</a:t>
            </a:r>
            <a:endParaRPr>
              <a:solidFill>
                <a:schemeClr val="dk1"/>
              </a:solidFill>
            </a:endParaRPr>
          </a:p>
        </p:txBody>
      </p:sp>
      <p:sp>
        <p:nvSpPr>
          <p:cNvPr id="216" name="Google Shape;216;p20"/>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17" name="Google Shape;217;p20"/>
          <p:cNvPicPr preferRelativeResize="0"/>
          <p:nvPr/>
        </p:nvPicPr>
        <p:blipFill rotWithShape="1">
          <a:blip r:embed="rId3">
            <a:alphaModFix/>
          </a:blip>
          <a:srcRect b="26846" l="14745" r="5421" t="32711"/>
          <a:stretch/>
        </p:blipFill>
        <p:spPr>
          <a:xfrm>
            <a:off x="7503900" y="1788574"/>
            <a:ext cx="4303125" cy="3875624"/>
          </a:xfrm>
          <a:prstGeom prst="rect">
            <a:avLst/>
          </a:prstGeom>
          <a:noFill/>
          <a:ln>
            <a:noFill/>
          </a:ln>
        </p:spPr>
      </p:pic>
      <p:pic>
        <p:nvPicPr>
          <p:cNvPr id="218" name="Google Shape;218;p20"/>
          <p:cNvPicPr preferRelativeResize="0"/>
          <p:nvPr/>
        </p:nvPicPr>
        <p:blipFill>
          <a:blip r:embed="rId4">
            <a:alphaModFix/>
          </a:blip>
          <a:stretch>
            <a:fillRect/>
          </a:stretch>
        </p:blipFill>
        <p:spPr>
          <a:xfrm>
            <a:off x="4939275" y="2681420"/>
            <a:ext cx="2312825" cy="23199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1"/>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5" name="Google Shape;225;p21"/>
          <p:cNvSpPr/>
          <p:nvPr/>
        </p:nvSpPr>
        <p:spPr>
          <a:xfrm>
            <a:off x="3492011" y="5476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226" name="Google Shape;226;p21"/>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227" name="Google Shape;227;p21"/>
          <p:cNvSpPr/>
          <p:nvPr/>
        </p:nvSpPr>
        <p:spPr>
          <a:xfrm>
            <a:off x="3336492" y="1173059"/>
            <a:ext cx="52761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Improvement Assy Gear Oil Driven</a:t>
            </a:r>
            <a:endParaRPr/>
          </a:p>
          <a:p>
            <a:pPr indent="0" lvl="0" marL="0" marR="0" rtl="0" algn="ctr">
              <a:spcBef>
                <a:spcPts val="0"/>
              </a:spcBef>
              <a:spcAft>
                <a:spcPts val="0"/>
              </a:spcAft>
              <a:buNone/>
            </a:pPr>
            <a:r>
              <a:rPr lang="en-ID" sz="1400">
                <a:solidFill>
                  <a:srgbClr val="3F3F3F"/>
                </a:solidFill>
                <a:latin typeface="Microsoft Yahei"/>
                <a:ea typeface="Microsoft Yahei"/>
                <a:cs typeface="Microsoft Yahei"/>
                <a:sym typeface="Microsoft Yahei"/>
              </a:rPr>
              <a:t>(</a:t>
            </a:r>
            <a:r>
              <a:rPr lang="en-ID" sz="1400">
                <a:solidFill>
                  <a:srgbClr val="FF0000"/>
                </a:solidFill>
                <a:latin typeface="Microsoft Yahei"/>
                <a:ea typeface="Microsoft Yahei"/>
                <a:cs typeface="Microsoft Yahei"/>
                <a:sym typeface="Microsoft Yahei"/>
              </a:rPr>
              <a:t>Pin Positioning and Presser Modification</a:t>
            </a:r>
            <a:r>
              <a:rPr lang="en-ID" sz="1400">
                <a:solidFill>
                  <a:srgbClr val="3F3F3F"/>
                </a:solidFill>
                <a:latin typeface="Microsoft Yahei"/>
                <a:ea typeface="Microsoft Yahei"/>
                <a:cs typeface="Microsoft Yahei"/>
                <a:sym typeface="Microsoft Yahei"/>
              </a:rPr>
              <a:t>)</a:t>
            </a:r>
            <a:endParaRPr sz="1200">
              <a:solidFill>
                <a:srgbClr val="3F3F3F"/>
              </a:solidFill>
              <a:latin typeface="Microsoft Yahei"/>
              <a:ea typeface="Microsoft Yahei"/>
              <a:cs typeface="Microsoft Yahei"/>
              <a:sym typeface="Microsoft Yahei"/>
            </a:endParaRPr>
          </a:p>
        </p:txBody>
      </p:sp>
      <p:sp>
        <p:nvSpPr>
          <p:cNvPr id="228" name="Google Shape;228;p21"/>
          <p:cNvSpPr txBox="1"/>
          <p:nvPr/>
        </p:nvSpPr>
        <p:spPr>
          <a:xfrm>
            <a:off x="374525" y="2013900"/>
            <a:ext cx="6102600" cy="3078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Solusi yang Diajukan:</a:t>
            </a:r>
            <a:endParaRPr sz="1600"/>
          </a:p>
          <a:p>
            <a:pPr indent="0" lvl="0" marL="0" marR="0" rtl="0" algn="just">
              <a:lnSpc>
                <a:spcPct val="150000"/>
              </a:lnSpc>
              <a:spcBef>
                <a:spcPts val="0"/>
              </a:spcBef>
              <a:spcAft>
                <a:spcPts val="0"/>
              </a:spcAft>
              <a:buNone/>
            </a:pPr>
            <a:r>
              <a:rPr lang="en-ID">
                <a:solidFill>
                  <a:schemeClr val="dk1"/>
                </a:solidFill>
              </a:rPr>
              <a:t>1. Menambahkan pin positioning</a:t>
            </a:r>
            <a:endParaRPr sz="1600"/>
          </a:p>
          <a:p>
            <a:pPr indent="0" lvl="0" marL="0" marR="0" rtl="0" algn="just">
              <a:lnSpc>
                <a:spcPct val="150000"/>
              </a:lnSpc>
              <a:spcBef>
                <a:spcPts val="0"/>
              </a:spcBef>
              <a:spcAft>
                <a:spcPts val="0"/>
              </a:spcAft>
              <a:buNone/>
            </a:pPr>
            <a:r>
              <a:rPr lang="en-ID">
                <a:solidFill>
                  <a:schemeClr val="dk1"/>
                </a:solidFill>
              </a:rPr>
              <a:t>2. Memodifikasi presser dengan membuat lubang pada permukaannya</a:t>
            </a:r>
            <a:endParaRPr>
              <a:solidFill>
                <a:schemeClr val="dk1"/>
              </a:solidFill>
            </a:endParaRPr>
          </a:p>
          <a:p>
            <a:pPr indent="0" lvl="0" marL="0" marR="0" rtl="0" algn="just">
              <a:lnSpc>
                <a:spcPct val="150000"/>
              </a:lnSpc>
              <a:spcBef>
                <a:spcPts val="0"/>
              </a:spcBef>
              <a:spcAft>
                <a:spcPts val="0"/>
              </a:spcAft>
              <a:buNone/>
            </a:pPr>
            <a:r>
              <a:t/>
            </a:r>
            <a:endParaRPr sz="800">
              <a:solidFill>
                <a:schemeClr val="dk1"/>
              </a:solidFill>
            </a:endParaRPr>
          </a:p>
          <a:p>
            <a:pPr indent="0" lvl="0" marL="0" marR="0" rtl="0" algn="just">
              <a:lnSpc>
                <a:spcPct val="150000"/>
              </a:lnSpc>
              <a:spcBef>
                <a:spcPts val="0"/>
              </a:spcBef>
              <a:spcAft>
                <a:spcPts val="0"/>
              </a:spcAft>
              <a:buNone/>
            </a:pPr>
            <a:r>
              <a:t/>
            </a:r>
            <a:endParaRPr sz="800">
              <a:solidFill>
                <a:schemeClr val="dk1"/>
              </a:solidFill>
            </a:endParaRPr>
          </a:p>
          <a:p>
            <a:pPr indent="0" lvl="0" marL="0" marR="0" rtl="0" algn="just">
              <a:lnSpc>
                <a:spcPct val="150000"/>
              </a:lnSpc>
              <a:spcBef>
                <a:spcPts val="0"/>
              </a:spcBef>
              <a:spcAft>
                <a:spcPts val="0"/>
              </a:spcAft>
              <a:buNone/>
            </a:pPr>
            <a:r>
              <a:t/>
            </a:r>
            <a:endParaRPr sz="800">
              <a:solidFill>
                <a:schemeClr val="dk1"/>
              </a:solidFill>
            </a:endParaRPr>
          </a:p>
          <a:p>
            <a:pPr indent="0" lvl="0" marL="0" marR="0" rtl="0" algn="just">
              <a:lnSpc>
                <a:spcPct val="150000"/>
              </a:lnSpc>
              <a:spcBef>
                <a:spcPts val="0"/>
              </a:spcBef>
              <a:spcAft>
                <a:spcPts val="0"/>
              </a:spcAft>
              <a:buNone/>
            </a:pPr>
            <a:r>
              <a:t/>
            </a:r>
            <a:endParaRPr sz="8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marR="0" rtl="0" algn="just">
              <a:lnSpc>
                <a:spcPct val="150000"/>
              </a:lnSpc>
              <a:spcBef>
                <a:spcPts val="0"/>
              </a:spcBef>
              <a:spcAft>
                <a:spcPts val="0"/>
              </a:spcAft>
              <a:buNone/>
            </a:pPr>
            <a:r>
              <a:rPr lang="en-ID">
                <a:solidFill>
                  <a:schemeClr val="dk1"/>
                </a:solidFill>
              </a:rPr>
              <a:t>Perbaikan ini meningkatkan akurasi dan efisiensi proses perakitan gear driven, memastikan plat masuk ke lubang gear secara center, dan memudahkan operator untuk assy.</a:t>
            </a:r>
            <a:endParaRPr>
              <a:solidFill>
                <a:schemeClr val="dk1"/>
              </a:solidFill>
            </a:endParaRPr>
          </a:p>
        </p:txBody>
      </p:sp>
      <p:sp>
        <p:nvSpPr>
          <p:cNvPr id="229" name="Google Shape;229;p21"/>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30" name="Google Shape;230;p21"/>
          <p:cNvPicPr preferRelativeResize="0"/>
          <p:nvPr/>
        </p:nvPicPr>
        <p:blipFill>
          <a:blip r:embed="rId3">
            <a:alphaModFix/>
          </a:blip>
          <a:stretch>
            <a:fillRect/>
          </a:stretch>
        </p:blipFill>
        <p:spPr>
          <a:xfrm>
            <a:off x="8047012" y="1477575"/>
            <a:ext cx="1038875" cy="2259926"/>
          </a:xfrm>
          <a:prstGeom prst="rect">
            <a:avLst/>
          </a:prstGeom>
          <a:noFill/>
          <a:ln>
            <a:noFill/>
          </a:ln>
        </p:spPr>
      </p:pic>
      <p:pic>
        <p:nvPicPr>
          <p:cNvPr id="231" name="Google Shape;231;p21"/>
          <p:cNvPicPr preferRelativeResize="0"/>
          <p:nvPr/>
        </p:nvPicPr>
        <p:blipFill>
          <a:blip r:embed="rId4">
            <a:alphaModFix/>
          </a:blip>
          <a:stretch>
            <a:fillRect/>
          </a:stretch>
        </p:blipFill>
        <p:spPr>
          <a:xfrm>
            <a:off x="10337175" y="1479162"/>
            <a:ext cx="1038875" cy="2256764"/>
          </a:xfrm>
          <a:prstGeom prst="rect">
            <a:avLst/>
          </a:prstGeom>
          <a:noFill/>
          <a:ln>
            <a:noFill/>
          </a:ln>
        </p:spPr>
      </p:pic>
      <p:pic>
        <p:nvPicPr>
          <p:cNvPr id="232" name="Google Shape;232;p21"/>
          <p:cNvPicPr preferRelativeResize="0"/>
          <p:nvPr/>
        </p:nvPicPr>
        <p:blipFill rotWithShape="1">
          <a:blip r:embed="rId5">
            <a:alphaModFix/>
          </a:blip>
          <a:srcRect b="22989" l="19035" r="25142" t="15080"/>
          <a:stretch/>
        </p:blipFill>
        <p:spPr>
          <a:xfrm>
            <a:off x="7525399" y="3864750"/>
            <a:ext cx="3850652" cy="2403025"/>
          </a:xfrm>
          <a:prstGeom prst="rect">
            <a:avLst/>
          </a:prstGeom>
          <a:noFill/>
          <a:ln>
            <a:noFill/>
          </a:ln>
        </p:spPr>
      </p:pic>
      <p:sp>
        <p:nvSpPr>
          <p:cNvPr id="233" name="Google Shape;233;p21"/>
          <p:cNvSpPr/>
          <p:nvPr/>
        </p:nvSpPr>
        <p:spPr>
          <a:xfrm>
            <a:off x="8274850" y="5237525"/>
            <a:ext cx="726300" cy="466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4" name="Google Shape;234;p21"/>
          <p:cNvSpPr/>
          <p:nvPr/>
        </p:nvSpPr>
        <p:spPr>
          <a:xfrm>
            <a:off x="8554500" y="4456650"/>
            <a:ext cx="726300" cy="466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5" name="Google Shape;235;p21"/>
          <p:cNvSpPr/>
          <p:nvPr/>
        </p:nvSpPr>
        <p:spPr>
          <a:xfrm>
            <a:off x="9866400" y="4456650"/>
            <a:ext cx="726300" cy="466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36" name="Google Shape;236;p21"/>
          <p:cNvSpPr/>
          <p:nvPr/>
        </p:nvSpPr>
        <p:spPr>
          <a:xfrm>
            <a:off x="9866400" y="5237525"/>
            <a:ext cx="726300" cy="466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43" name="Google Shape;243;p22"/>
          <p:cNvSpPr/>
          <p:nvPr/>
        </p:nvSpPr>
        <p:spPr>
          <a:xfrm>
            <a:off x="3568161" y="548984"/>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244" name="Google Shape;244;p22"/>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245" name="Google Shape;245;p22"/>
          <p:cNvSpPr/>
          <p:nvPr/>
        </p:nvSpPr>
        <p:spPr>
          <a:xfrm>
            <a:off x="3457942" y="1090259"/>
            <a:ext cx="52761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Improvement Assy Gear Oil Driven</a:t>
            </a:r>
            <a:endParaRPr/>
          </a:p>
          <a:p>
            <a:pPr indent="0" lvl="0" marL="0" marR="0" rtl="0" algn="ctr">
              <a:spcBef>
                <a:spcPts val="0"/>
              </a:spcBef>
              <a:spcAft>
                <a:spcPts val="0"/>
              </a:spcAft>
              <a:buNone/>
            </a:pPr>
            <a:r>
              <a:rPr lang="en-ID" sz="1400">
                <a:solidFill>
                  <a:srgbClr val="00B050"/>
                </a:solidFill>
                <a:latin typeface="Microsoft Yahei"/>
                <a:ea typeface="Microsoft Yahei"/>
                <a:cs typeface="Microsoft Yahei"/>
                <a:sym typeface="Microsoft Yahei"/>
              </a:rPr>
              <a:t>(</a:t>
            </a:r>
            <a:r>
              <a:rPr lang="en-ID" sz="1400">
                <a:solidFill>
                  <a:srgbClr val="FF0000"/>
                </a:solidFill>
                <a:latin typeface="Microsoft Yahei"/>
                <a:ea typeface="Microsoft Yahei"/>
                <a:cs typeface="Microsoft Yahei"/>
                <a:sym typeface="Microsoft Yahei"/>
              </a:rPr>
              <a:t>Jig Modification</a:t>
            </a:r>
            <a:r>
              <a:rPr lang="en-ID" sz="1400">
                <a:solidFill>
                  <a:srgbClr val="3F3F3F"/>
                </a:solidFill>
                <a:latin typeface="Microsoft Yahei"/>
                <a:ea typeface="Microsoft Yahei"/>
                <a:cs typeface="Microsoft Yahei"/>
                <a:sym typeface="Microsoft Yahei"/>
              </a:rPr>
              <a:t>)</a:t>
            </a:r>
            <a:endParaRPr sz="1200">
              <a:solidFill>
                <a:srgbClr val="3F3F3F"/>
              </a:solidFill>
              <a:latin typeface="Microsoft Yahei"/>
              <a:ea typeface="Microsoft Yahei"/>
              <a:cs typeface="Microsoft Yahei"/>
              <a:sym typeface="Microsoft Yahei"/>
            </a:endParaRPr>
          </a:p>
        </p:txBody>
      </p:sp>
      <p:sp>
        <p:nvSpPr>
          <p:cNvPr id="246" name="Google Shape;246;p22"/>
          <p:cNvSpPr txBox="1"/>
          <p:nvPr/>
        </p:nvSpPr>
        <p:spPr>
          <a:xfrm>
            <a:off x="374403" y="1705843"/>
            <a:ext cx="6102600" cy="2709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Latar Belakang:</a:t>
            </a:r>
            <a:endParaRPr sz="1600"/>
          </a:p>
          <a:p>
            <a:pPr indent="0" lvl="0" marL="0" marR="0" rtl="0" algn="just">
              <a:lnSpc>
                <a:spcPct val="150000"/>
              </a:lnSpc>
              <a:spcBef>
                <a:spcPts val="0"/>
              </a:spcBef>
              <a:spcAft>
                <a:spcPts val="0"/>
              </a:spcAft>
              <a:buNone/>
            </a:pPr>
            <a:r>
              <a:rPr lang="en-ID">
                <a:solidFill>
                  <a:schemeClr val="dk1"/>
                </a:solidFill>
              </a:rPr>
              <a:t>Operator mengalami kesulitan dalam mengambil parts yang sudah dirakit dari jig setelah dilakukan perbaikan pada pin positioning dan presser jig.</a:t>
            </a:r>
            <a:endParaRPr>
              <a:solidFill>
                <a:schemeClr val="dk1"/>
              </a:solidFill>
            </a:endParaRPr>
          </a:p>
          <a:p>
            <a:pPr indent="0" lvl="0" marL="0" marR="0" rtl="0" algn="just">
              <a:lnSpc>
                <a:spcPct val="150000"/>
              </a:lnSpc>
              <a:spcBef>
                <a:spcPts val="0"/>
              </a:spcBef>
              <a:spcAft>
                <a:spcPts val="0"/>
              </a:spcAft>
              <a:buNone/>
            </a:pPr>
            <a:r>
              <a:rPr lang="en-ID" sz="1000">
                <a:solidFill>
                  <a:schemeClr val="dk1"/>
                </a:solidFill>
              </a:rPr>
              <a:t>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Rumusan Masalah:</a:t>
            </a:r>
            <a:endParaRPr sz="1600"/>
          </a:p>
          <a:p>
            <a:pPr indent="0" lvl="0" marL="0" marR="0" rtl="0" algn="just">
              <a:lnSpc>
                <a:spcPct val="150000"/>
              </a:lnSpc>
              <a:spcBef>
                <a:spcPts val="0"/>
              </a:spcBef>
              <a:spcAft>
                <a:spcPts val="0"/>
              </a:spcAft>
              <a:buNone/>
            </a:pPr>
            <a:r>
              <a:rPr lang="en-ID">
                <a:solidFill>
                  <a:schemeClr val="dk1"/>
                </a:solidFill>
              </a:rPr>
              <a:t>Parts yang sudah dirakit tersangkut oleh pin positioning, membuat operator kesulitan untuk mengambilnya dari jig.</a:t>
            </a:r>
            <a:endParaRPr sz="1600"/>
          </a:p>
        </p:txBody>
      </p:sp>
      <p:sp>
        <p:nvSpPr>
          <p:cNvPr id="247" name="Google Shape;247;p22"/>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48" name="Google Shape;248;p22"/>
          <p:cNvPicPr preferRelativeResize="0"/>
          <p:nvPr/>
        </p:nvPicPr>
        <p:blipFill rotWithShape="1">
          <a:blip r:embed="rId3">
            <a:alphaModFix/>
          </a:blip>
          <a:srcRect b="0" l="0" r="0" t="0"/>
          <a:stretch/>
        </p:blipFill>
        <p:spPr>
          <a:xfrm>
            <a:off x="8580574" y="1109638"/>
            <a:ext cx="3257625" cy="4638724"/>
          </a:xfrm>
          <a:prstGeom prst="rect">
            <a:avLst/>
          </a:prstGeom>
          <a:noFill/>
          <a:ln>
            <a:noFill/>
          </a:ln>
        </p:spPr>
      </p:pic>
      <p:pic>
        <p:nvPicPr>
          <p:cNvPr id="249" name="Google Shape;249;p22"/>
          <p:cNvPicPr preferRelativeResize="0"/>
          <p:nvPr/>
        </p:nvPicPr>
        <p:blipFill>
          <a:blip r:embed="rId4">
            <a:alphaModFix/>
          </a:blip>
          <a:stretch>
            <a:fillRect/>
          </a:stretch>
        </p:blipFill>
        <p:spPr>
          <a:xfrm>
            <a:off x="4169163" y="4346700"/>
            <a:ext cx="4005951" cy="2006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3"/>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23"/>
          <p:cNvSpPr/>
          <p:nvPr/>
        </p:nvSpPr>
        <p:spPr>
          <a:xfrm>
            <a:off x="3568161" y="548984"/>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257" name="Google Shape;257;p23"/>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258" name="Google Shape;258;p23"/>
          <p:cNvSpPr/>
          <p:nvPr/>
        </p:nvSpPr>
        <p:spPr>
          <a:xfrm>
            <a:off x="3457942" y="1252997"/>
            <a:ext cx="52761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Improvement Assy Gear Oil Driven</a:t>
            </a:r>
            <a:endParaRPr/>
          </a:p>
          <a:p>
            <a:pPr indent="0" lvl="0" marL="0" marR="0" rtl="0" algn="ctr">
              <a:spcBef>
                <a:spcPts val="0"/>
              </a:spcBef>
              <a:spcAft>
                <a:spcPts val="0"/>
              </a:spcAft>
              <a:buNone/>
            </a:pPr>
            <a:r>
              <a:rPr lang="en-ID" sz="1400">
                <a:solidFill>
                  <a:srgbClr val="00B050"/>
                </a:solidFill>
                <a:latin typeface="Microsoft Yahei"/>
                <a:ea typeface="Microsoft Yahei"/>
                <a:cs typeface="Microsoft Yahei"/>
                <a:sym typeface="Microsoft Yahei"/>
              </a:rPr>
              <a:t>(</a:t>
            </a:r>
            <a:r>
              <a:rPr lang="en-ID" sz="1400">
                <a:solidFill>
                  <a:srgbClr val="FF0000"/>
                </a:solidFill>
                <a:latin typeface="Microsoft Yahei"/>
                <a:ea typeface="Microsoft Yahei"/>
                <a:cs typeface="Microsoft Yahei"/>
                <a:sym typeface="Microsoft Yahei"/>
              </a:rPr>
              <a:t>Jig Modification</a:t>
            </a:r>
            <a:r>
              <a:rPr lang="en-ID" sz="1400">
                <a:solidFill>
                  <a:srgbClr val="3F3F3F"/>
                </a:solidFill>
                <a:latin typeface="Microsoft Yahei"/>
                <a:ea typeface="Microsoft Yahei"/>
                <a:cs typeface="Microsoft Yahei"/>
                <a:sym typeface="Microsoft Yahei"/>
              </a:rPr>
              <a:t>)</a:t>
            </a:r>
            <a:endParaRPr sz="1200">
              <a:solidFill>
                <a:srgbClr val="3F3F3F"/>
              </a:solidFill>
              <a:latin typeface="Microsoft Yahei"/>
              <a:ea typeface="Microsoft Yahei"/>
              <a:cs typeface="Microsoft Yahei"/>
              <a:sym typeface="Microsoft Yahei"/>
            </a:endParaRPr>
          </a:p>
        </p:txBody>
      </p:sp>
      <p:sp>
        <p:nvSpPr>
          <p:cNvPr id="259" name="Google Shape;259;p23"/>
          <p:cNvSpPr txBox="1"/>
          <p:nvPr/>
        </p:nvSpPr>
        <p:spPr>
          <a:xfrm>
            <a:off x="256253" y="2528443"/>
            <a:ext cx="6102600" cy="2709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Solusi yang Diajukan:</a:t>
            </a:r>
            <a:endParaRPr sz="1600"/>
          </a:p>
          <a:p>
            <a:pPr indent="0" lvl="0" marL="0" marR="0" rtl="0" algn="just">
              <a:lnSpc>
                <a:spcPct val="150000"/>
              </a:lnSpc>
              <a:spcBef>
                <a:spcPts val="0"/>
              </a:spcBef>
              <a:spcAft>
                <a:spcPts val="0"/>
              </a:spcAft>
              <a:buNone/>
            </a:pPr>
            <a:r>
              <a:rPr lang="en-ID">
                <a:solidFill>
                  <a:schemeClr val="dk1"/>
                </a:solidFill>
              </a:rPr>
              <a:t>Modifikasi jig dengan membuat 'coakan' atau ruang lebih</a:t>
            </a:r>
            <a:endParaRPr>
              <a:solidFill>
                <a:schemeClr val="dk1"/>
              </a:solidFill>
            </a:endParaRPr>
          </a:p>
          <a:p>
            <a:pPr indent="0" lvl="0" marL="0" marR="0" rtl="0" algn="just">
              <a:lnSpc>
                <a:spcPct val="150000"/>
              </a:lnSpc>
              <a:spcBef>
                <a:spcPts val="0"/>
              </a:spcBef>
              <a:spcAft>
                <a:spcPts val="0"/>
              </a:spcAft>
              <a:buNone/>
            </a:pPr>
            <a:r>
              <a:rPr lang="en-ID" sz="1000">
                <a:solidFill>
                  <a:schemeClr val="dk1"/>
                </a:solidFill>
              </a:rPr>
              <a:t>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marR="0" rtl="0" algn="just">
              <a:lnSpc>
                <a:spcPct val="150000"/>
              </a:lnSpc>
              <a:spcBef>
                <a:spcPts val="0"/>
              </a:spcBef>
              <a:spcAft>
                <a:spcPts val="0"/>
              </a:spcAft>
              <a:buNone/>
            </a:pPr>
            <a:r>
              <a:rPr lang="en-ID">
                <a:solidFill>
                  <a:schemeClr val="dk1"/>
                </a:solidFill>
              </a:rPr>
              <a:t>Modifikasi ini meningkatkan kemudahan operator dalam mengambil parts dari jig dan usaha yang diperlukan dalam proses perakitan. Tetapi operator masih menemukan kesulitan untuk mengambil parts setelah assy.</a:t>
            </a:r>
            <a:endParaRPr sz="1600"/>
          </a:p>
        </p:txBody>
      </p:sp>
      <p:sp>
        <p:nvSpPr>
          <p:cNvPr id="260" name="Google Shape;260;p23"/>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61" name="Google Shape;261;p23"/>
          <p:cNvPicPr preferRelativeResize="0"/>
          <p:nvPr/>
        </p:nvPicPr>
        <p:blipFill rotWithShape="1">
          <a:blip r:embed="rId3">
            <a:alphaModFix/>
          </a:blip>
          <a:srcRect b="47780" l="16072" r="7470" t="5532"/>
          <a:stretch/>
        </p:blipFill>
        <p:spPr>
          <a:xfrm>
            <a:off x="7624400" y="1868599"/>
            <a:ext cx="3907650" cy="4244102"/>
          </a:xfrm>
          <a:prstGeom prst="rect">
            <a:avLst/>
          </a:prstGeom>
          <a:noFill/>
          <a:ln>
            <a:noFill/>
          </a:ln>
        </p:spPr>
      </p:pic>
      <p:sp>
        <p:nvSpPr>
          <p:cNvPr id="262" name="Google Shape;262;p23"/>
          <p:cNvSpPr/>
          <p:nvPr/>
        </p:nvSpPr>
        <p:spPr>
          <a:xfrm rot="2850703">
            <a:off x="8645658" y="3363471"/>
            <a:ext cx="905188" cy="1822687"/>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3" name="Google Shape;263;p23"/>
          <p:cNvSpPr/>
          <p:nvPr/>
        </p:nvSpPr>
        <p:spPr>
          <a:xfrm rot="2850703">
            <a:off x="9589908" y="3756271"/>
            <a:ext cx="905188" cy="1822687"/>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4"/>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70" name="Google Shape;270;p24"/>
          <p:cNvSpPr/>
          <p:nvPr/>
        </p:nvSpPr>
        <p:spPr>
          <a:xfrm>
            <a:off x="3233761" y="4714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271" name="Google Shape;271;p24"/>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272" name="Google Shape;272;p24"/>
          <p:cNvSpPr/>
          <p:nvPr/>
        </p:nvSpPr>
        <p:spPr>
          <a:xfrm>
            <a:off x="3199705" y="1084409"/>
            <a:ext cx="52761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Improvement Assy Gear Oil Driven</a:t>
            </a:r>
            <a:endParaRPr/>
          </a:p>
          <a:p>
            <a:pPr indent="0" lvl="0" marL="0" marR="0" rtl="0" algn="ctr">
              <a:spcBef>
                <a:spcPts val="0"/>
              </a:spcBef>
              <a:spcAft>
                <a:spcPts val="0"/>
              </a:spcAft>
              <a:buNone/>
            </a:pPr>
            <a:r>
              <a:rPr lang="en-ID" sz="1400">
                <a:solidFill>
                  <a:srgbClr val="00B050"/>
                </a:solidFill>
                <a:latin typeface="Microsoft Yahei"/>
                <a:ea typeface="Microsoft Yahei"/>
                <a:cs typeface="Microsoft Yahei"/>
                <a:sym typeface="Microsoft Yahei"/>
              </a:rPr>
              <a:t>(</a:t>
            </a:r>
            <a:r>
              <a:rPr lang="en-ID" sz="1400">
                <a:solidFill>
                  <a:srgbClr val="FF0000"/>
                </a:solidFill>
                <a:latin typeface="Microsoft Yahei"/>
                <a:ea typeface="Microsoft Yahei"/>
                <a:cs typeface="Microsoft Yahei"/>
                <a:sym typeface="Microsoft Yahei"/>
              </a:rPr>
              <a:t>Presser modification magnet addition</a:t>
            </a:r>
            <a:r>
              <a:rPr lang="en-ID" sz="1400">
                <a:solidFill>
                  <a:srgbClr val="3F3F3F"/>
                </a:solidFill>
                <a:latin typeface="Microsoft Yahei"/>
                <a:ea typeface="Microsoft Yahei"/>
                <a:cs typeface="Microsoft Yahei"/>
                <a:sym typeface="Microsoft Yahei"/>
              </a:rPr>
              <a:t>)</a:t>
            </a:r>
            <a:endParaRPr sz="1200">
              <a:solidFill>
                <a:srgbClr val="3F3F3F"/>
              </a:solidFill>
              <a:latin typeface="Microsoft Yahei"/>
              <a:ea typeface="Microsoft Yahei"/>
              <a:cs typeface="Microsoft Yahei"/>
              <a:sym typeface="Microsoft Yahei"/>
            </a:endParaRPr>
          </a:p>
        </p:txBody>
      </p:sp>
      <p:sp>
        <p:nvSpPr>
          <p:cNvPr id="273" name="Google Shape;273;p24"/>
          <p:cNvSpPr txBox="1"/>
          <p:nvPr/>
        </p:nvSpPr>
        <p:spPr>
          <a:xfrm>
            <a:off x="224004" y="1912793"/>
            <a:ext cx="5721600" cy="3032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Latar Belakang:</a:t>
            </a:r>
            <a:endParaRPr sz="1600"/>
          </a:p>
          <a:p>
            <a:pPr indent="0" lvl="0" marL="0" marR="0" rtl="0" algn="just">
              <a:lnSpc>
                <a:spcPct val="150000"/>
              </a:lnSpc>
              <a:spcBef>
                <a:spcPts val="0"/>
              </a:spcBef>
              <a:spcAft>
                <a:spcPts val="0"/>
              </a:spcAft>
              <a:buNone/>
            </a:pPr>
            <a:r>
              <a:rPr lang="en-ID">
                <a:solidFill>
                  <a:schemeClr val="dk1"/>
                </a:solidFill>
              </a:rPr>
              <a:t>Operator masih mengalami kesulitan dalam mengambil parts yang sudah dirakit meskipun jig telah dimodifikasi dengan penambahan 'coakan’.</a:t>
            </a:r>
            <a:r>
              <a:rPr lang="en-ID" sz="1000">
                <a:solidFill>
                  <a:schemeClr val="dk1"/>
                </a:solidFill>
              </a:rPr>
              <a:t> </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Rumusan Masalah:</a:t>
            </a:r>
            <a:endParaRPr sz="1600"/>
          </a:p>
          <a:p>
            <a:pPr indent="0" lvl="0" marL="0" marR="0" rtl="0" algn="just">
              <a:lnSpc>
                <a:spcPct val="150000"/>
              </a:lnSpc>
              <a:spcBef>
                <a:spcPts val="0"/>
              </a:spcBef>
              <a:spcAft>
                <a:spcPts val="0"/>
              </a:spcAft>
              <a:buNone/>
            </a:pPr>
            <a:r>
              <a:rPr lang="en-ID">
                <a:solidFill>
                  <a:schemeClr val="dk1"/>
                </a:solidFill>
              </a:rPr>
              <a:t>Modifikasi jig dengan 'coakan' tidak sepenuhnya menyelesaikan kesulitan operator dalam mengambil parts yang sudah dirakit dari jig. </a:t>
            </a:r>
            <a:endParaRPr>
              <a:solidFill>
                <a:schemeClr val="dk1"/>
              </a:solidFill>
            </a:endParaRPr>
          </a:p>
        </p:txBody>
      </p:sp>
      <p:sp>
        <p:nvSpPr>
          <p:cNvPr id="274" name="Google Shape;274;p24"/>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75" name="Google Shape;275;p24"/>
          <p:cNvPicPr preferRelativeResize="0"/>
          <p:nvPr/>
        </p:nvPicPr>
        <p:blipFill rotWithShape="1">
          <a:blip r:embed="rId3">
            <a:alphaModFix/>
          </a:blip>
          <a:srcRect b="0" l="0" r="0" t="20660"/>
          <a:stretch/>
        </p:blipFill>
        <p:spPr>
          <a:xfrm>
            <a:off x="6477000" y="2232801"/>
            <a:ext cx="2237600" cy="3156000"/>
          </a:xfrm>
          <a:prstGeom prst="rect">
            <a:avLst/>
          </a:prstGeom>
          <a:noFill/>
          <a:ln>
            <a:noFill/>
          </a:ln>
        </p:spPr>
      </p:pic>
      <p:pic>
        <p:nvPicPr>
          <p:cNvPr id="276" name="Google Shape;276;p24"/>
          <p:cNvPicPr preferRelativeResize="0"/>
          <p:nvPr/>
        </p:nvPicPr>
        <p:blipFill rotWithShape="1">
          <a:blip r:embed="rId4">
            <a:alphaModFix/>
          </a:blip>
          <a:srcRect b="0" l="0" r="0" t="16812"/>
          <a:stretch/>
        </p:blipFill>
        <p:spPr>
          <a:xfrm>
            <a:off x="9418875" y="2232800"/>
            <a:ext cx="2133995" cy="3156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5"/>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25"/>
          <p:cNvSpPr/>
          <p:nvPr/>
        </p:nvSpPr>
        <p:spPr>
          <a:xfrm>
            <a:off x="3233761" y="4714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284" name="Google Shape;284;p25"/>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285" name="Google Shape;285;p25"/>
          <p:cNvSpPr/>
          <p:nvPr/>
        </p:nvSpPr>
        <p:spPr>
          <a:xfrm>
            <a:off x="3184092" y="996784"/>
            <a:ext cx="5276100" cy="6156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Improvement Assy Gear Oil Driven</a:t>
            </a:r>
            <a:endParaRPr/>
          </a:p>
          <a:p>
            <a:pPr indent="0" lvl="0" marL="0" marR="0" rtl="0" algn="ctr">
              <a:spcBef>
                <a:spcPts val="0"/>
              </a:spcBef>
              <a:spcAft>
                <a:spcPts val="0"/>
              </a:spcAft>
              <a:buNone/>
            </a:pPr>
            <a:r>
              <a:rPr lang="en-ID" sz="1400">
                <a:solidFill>
                  <a:srgbClr val="00B050"/>
                </a:solidFill>
                <a:latin typeface="Microsoft Yahei"/>
                <a:ea typeface="Microsoft Yahei"/>
                <a:cs typeface="Microsoft Yahei"/>
                <a:sym typeface="Microsoft Yahei"/>
              </a:rPr>
              <a:t>(</a:t>
            </a:r>
            <a:r>
              <a:rPr lang="en-ID" sz="1400">
                <a:solidFill>
                  <a:srgbClr val="FF0000"/>
                </a:solidFill>
                <a:latin typeface="Microsoft Yahei"/>
                <a:ea typeface="Microsoft Yahei"/>
                <a:cs typeface="Microsoft Yahei"/>
                <a:sym typeface="Microsoft Yahei"/>
              </a:rPr>
              <a:t>Presser modification magnet addition</a:t>
            </a:r>
            <a:r>
              <a:rPr lang="en-ID" sz="1400">
                <a:solidFill>
                  <a:srgbClr val="3F3F3F"/>
                </a:solidFill>
                <a:latin typeface="Microsoft Yahei"/>
                <a:ea typeface="Microsoft Yahei"/>
                <a:cs typeface="Microsoft Yahei"/>
                <a:sym typeface="Microsoft Yahei"/>
              </a:rPr>
              <a:t>)</a:t>
            </a:r>
            <a:endParaRPr sz="1200">
              <a:solidFill>
                <a:srgbClr val="3F3F3F"/>
              </a:solidFill>
              <a:latin typeface="Microsoft Yahei"/>
              <a:ea typeface="Microsoft Yahei"/>
              <a:cs typeface="Microsoft Yahei"/>
              <a:sym typeface="Microsoft Yahei"/>
            </a:endParaRPr>
          </a:p>
        </p:txBody>
      </p:sp>
      <p:sp>
        <p:nvSpPr>
          <p:cNvPr id="286" name="Google Shape;286;p25"/>
          <p:cNvSpPr txBox="1"/>
          <p:nvPr/>
        </p:nvSpPr>
        <p:spPr>
          <a:xfrm>
            <a:off x="446754" y="2226893"/>
            <a:ext cx="5721600" cy="2709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Solusi yang Diajukan:</a:t>
            </a:r>
            <a:endParaRPr sz="1600"/>
          </a:p>
          <a:p>
            <a:pPr indent="0" lvl="0" marL="0" marR="0" rtl="0" algn="just">
              <a:lnSpc>
                <a:spcPct val="150000"/>
              </a:lnSpc>
              <a:spcBef>
                <a:spcPts val="0"/>
              </a:spcBef>
              <a:spcAft>
                <a:spcPts val="0"/>
              </a:spcAft>
              <a:buNone/>
            </a:pPr>
            <a:r>
              <a:rPr lang="en-ID">
                <a:solidFill>
                  <a:schemeClr val="dk1"/>
                </a:solidFill>
              </a:rPr>
              <a:t>Memodifikasi presser dengan menambahkan magnet.</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marR="0" rtl="0" algn="just">
              <a:lnSpc>
                <a:spcPct val="150000"/>
              </a:lnSpc>
              <a:spcBef>
                <a:spcPts val="0"/>
              </a:spcBef>
              <a:spcAft>
                <a:spcPts val="0"/>
              </a:spcAft>
              <a:buNone/>
            </a:pPr>
            <a:r>
              <a:rPr lang="en-ID">
                <a:solidFill>
                  <a:schemeClr val="dk1"/>
                </a:solidFill>
              </a:rPr>
              <a:t>Modifikasi ini meningkatkan kemudahan operator dalam mengambil parts yang sudah dirakit, parts yang sudah dirakit ikut terangkat bersama presser.</a:t>
            </a:r>
            <a:endParaRPr>
              <a:solidFill>
                <a:schemeClr val="dk1"/>
              </a:solidFill>
            </a:endParaRPr>
          </a:p>
        </p:txBody>
      </p:sp>
      <p:sp>
        <p:nvSpPr>
          <p:cNvPr id="287" name="Google Shape;287;p25"/>
          <p:cNvSpPr/>
          <p:nvPr/>
        </p:nvSpPr>
        <p:spPr>
          <a:xfrm>
            <a:off x="5943600" y="41910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88" name="Google Shape;288;p25"/>
          <p:cNvPicPr preferRelativeResize="0"/>
          <p:nvPr/>
        </p:nvPicPr>
        <p:blipFill rotWithShape="1">
          <a:blip r:embed="rId3">
            <a:alphaModFix/>
          </a:blip>
          <a:srcRect b="0" l="0" r="0" t="0"/>
          <a:stretch/>
        </p:blipFill>
        <p:spPr>
          <a:xfrm>
            <a:off x="6530100" y="1737550"/>
            <a:ext cx="2395777" cy="1852340"/>
          </a:xfrm>
          <a:prstGeom prst="rect">
            <a:avLst/>
          </a:prstGeom>
          <a:noFill/>
          <a:ln>
            <a:noFill/>
          </a:ln>
        </p:spPr>
      </p:pic>
      <p:pic>
        <p:nvPicPr>
          <p:cNvPr id="289" name="Google Shape;289;p25"/>
          <p:cNvPicPr preferRelativeResize="0"/>
          <p:nvPr/>
        </p:nvPicPr>
        <p:blipFill rotWithShape="1">
          <a:blip r:embed="rId4">
            <a:alphaModFix/>
          </a:blip>
          <a:srcRect b="0" l="0" r="0" t="0"/>
          <a:stretch/>
        </p:blipFill>
        <p:spPr>
          <a:xfrm>
            <a:off x="9390272" y="1737550"/>
            <a:ext cx="2395779" cy="1856926"/>
          </a:xfrm>
          <a:prstGeom prst="rect">
            <a:avLst/>
          </a:prstGeom>
          <a:noFill/>
          <a:ln>
            <a:noFill/>
          </a:ln>
        </p:spPr>
      </p:pic>
      <p:pic>
        <p:nvPicPr>
          <p:cNvPr id="290" name="Google Shape;290;p25"/>
          <p:cNvPicPr preferRelativeResize="0"/>
          <p:nvPr/>
        </p:nvPicPr>
        <p:blipFill rotWithShape="1">
          <a:blip r:embed="rId5">
            <a:alphaModFix/>
          </a:blip>
          <a:srcRect b="63619" l="0" r="0" t="0"/>
          <a:stretch/>
        </p:blipFill>
        <p:spPr>
          <a:xfrm>
            <a:off x="6339525" y="4191000"/>
            <a:ext cx="5597624" cy="1654551"/>
          </a:xfrm>
          <a:prstGeom prst="rect">
            <a:avLst/>
          </a:prstGeom>
          <a:noFill/>
          <a:ln>
            <a:noFill/>
          </a:ln>
        </p:spPr>
      </p:pic>
      <p:sp>
        <p:nvSpPr>
          <p:cNvPr id="291" name="Google Shape;291;p25"/>
          <p:cNvSpPr/>
          <p:nvPr/>
        </p:nvSpPr>
        <p:spPr>
          <a:xfrm rot="4788937">
            <a:off x="9132237" y="4229936"/>
            <a:ext cx="587050" cy="1157329"/>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92" name="Google Shape;292;p25"/>
          <p:cNvSpPr txBox="1"/>
          <p:nvPr/>
        </p:nvSpPr>
        <p:spPr>
          <a:xfrm>
            <a:off x="10107100" y="4495800"/>
            <a:ext cx="812100" cy="400200"/>
          </a:xfrm>
          <a:prstGeom prst="rect">
            <a:avLst/>
          </a:prstGeom>
          <a:solidFill>
            <a:schemeClr val="lt1"/>
          </a:solid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ID">
                <a:solidFill>
                  <a:schemeClr val="dk1"/>
                </a:solidFill>
              </a:rPr>
              <a:t>Magnet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6"/>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9" name="Google Shape;299;p26"/>
          <p:cNvSpPr/>
          <p:nvPr/>
        </p:nvSpPr>
        <p:spPr>
          <a:xfrm>
            <a:off x="3595050" y="474975"/>
            <a:ext cx="50019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00" name="Google Shape;300;p26"/>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01" name="Google Shape;301;p26"/>
          <p:cNvSpPr/>
          <p:nvPr/>
        </p:nvSpPr>
        <p:spPr>
          <a:xfrm>
            <a:off x="2798852" y="1000850"/>
            <a:ext cx="65943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Re-designing assy oil separator auto structure</a:t>
            </a:r>
            <a:endParaRPr/>
          </a:p>
        </p:txBody>
      </p:sp>
      <p:sp>
        <p:nvSpPr>
          <p:cNvPr id="302" name="Google Shape;302;p26"/>
          <p:cNvSpPr txBox="1"/>
          <p:nvPr/>
        </p:nvSpPr>
        <p:spPr>
          <a:xfrm>
            <a:off x="285300" y="2162075"/>
            <a:ext cx="4913100" cy="33093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Latar Belakang:</a:t>
            </a:r>
            <a:endParaRPr sz="1600"/>
          </a:p>
          <a:p>
            <a:pPr indent="0" lvl="0" marL="0" marR="0" rtl="0" algn="just">
              <a:lnSpc>
                <a:spcPct val="150000"/>
              </a:lnSpc>
              <a:spcBef>
                <a:spcPts val="0"/>
              </a:spcBef>
              <a:spcAft>
                <a:spcPts val="0"/>
              </a:spcAft>
              <a:buNone/>
            </a:pPr>
            <a:r>
              <a:rPr lang="en-ID">
                <a:solidFill>
                  <a:schemeClr val="dk1"/>
                </a:solidFill>
              </a:rPr>
              <a:t>Proses maintenance pada kompresor mesin auto assembly oil separator mengalami kendala karena struktur frame mesin menghalangi akses pekerja.</a:t>
            </a:r>
            <a:endParaRPr>
              <a:solidFill>
                <a:schemeClr val="dk1"/>
              </a:solidFill>
            </a:endParaRPr>
          </a:p>
          <a:p>
            <a:pPr indent="0" lvl="0" marL="0" marR="0" rtl="0" algn="just">
              <a:lnSpc>
                <a:spcPct val="150000"/>
              </a:lnSpc>
              <a:spcBef>
                <a:spcPts val="0"/>
              </a:spcBef>
              <a:spcAft>
                <a:spcPts val="0"/>
              </a:spcAft>
              <a:buNone/>
            </a:pPr>
            <a:r>
              <a:t/>
            </a:r>
            <a:endParaRPr>
              <a:solidFill>
                <a:schemeClr val="dk1"/>
              </a:solidFill>
            </a:endParaRPr>
          </a:p>
          <a:p>
            <a:pPr indent="0" lvl="0" marL="0" marR="0" rtl="0" algn="just">
              <a:lnSpc>
                <a:spcPct val="150000"/>
              </a:lnSpc>
              <a:spcBef>
                <a:spcPts val="0"/>
              </a:spcBef>
              <a:spcAft>
                <a:spcPts val="0"/>
              </a:spcAft>
              <a:buNone/>
            </a:pPr>
            <a:r>
              <a:t/>
            </a:r>
            <a:endParaRPr>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Rumusan Masalah:</a:t>
            </a:r>
            <a:endParaRPr sz="1600"/>
          </a:p>
          <a:p>
            <a:pPr indent="0" lvl="0" marL="0" marR="0" rtl="0" algn="just">
              <a:lnSpc>
                <a:spcPct val="150000"/>
              </a:lnSpc>
              <a:spcBef>
                <a:spcPts val="0"/>
              </a:spcBef>
              <a:spcAft>
                <a:spcPts val="0"/>
              </a:spcAft>
              <a:buNone/>
            </a:pPr>
            <a:r>
              <a:rPr lang="en-ID">
                <a:solidFill>
                  <a:schemeClr val="dk1"/>
                </a:solidFill>
              </a:rPr>
              <a:t>Struktur frame mesin menghalangi pekerja maintenance dalam memperbaiki kompresor, menyebabkan kesulitan dalam proses perbaikan.</a:t>
            </a:r>
            <a:endParaRPr>
              <a:solidFill>
                <a:schemeClr val="dk1"/>
              </a:solidFill>
            </a:endParaRPr>
          </a:p>
        </p:txBody>
      </p:sp>
      <p:sp>
        <p:nvSpPr>
          <p:cNvPr id="303" name="Google Shape;303;p26"/>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04" name="Google Shape;304;p26"/>
          <p:cNvPicPr preferRelativeResize="0"/>
          <p:nvPr/>
        </p:nvPicPr>
        <p:blipFill rotWithShape="1">
          <a:blip r:embed="rId3">
            <a:alphaModFix/>
          </a:blip>
          <a:srcRect b="6185" l="0" r="0" t="20613"/>
          <a:stretch/>
        </p:blipFill>
        <p:spPr>
          <a:xfrm>
            <a:off x="5345775" y="1550425"/>
            <a:ext cx="3012935" cy="3920948"/>
          </a:xfrm>
          <a:prstGeom prst="rect">
            <a:avLst/>
          </a:prstGeom>
          <a:noFill/>
          <a:ln>
            <a:noFill/>
          </a:ln>
        </p:spPr>
      </p:pic>
      <p:pic>
        <p:nvPicPr>
          <p:cNvPr id="305" name="Google Shape;305;p26"/>
          <p:cNvPicPr preferRelativeResize="0"/>
          <p:nvPr/>
        </p:nvPicPr>
        <p:blipFill>
          <a:blip r:embed="rId4">
            <a:alphaModFix/>
          </a:blip>
          <a:stretch>
            <a:fillRect/>
          </a:stretch>
        </p:blipFill>
        <p:spPr>
          <a:xfrm>
            <a:off x="8719175" y="1649400"/>
            <a:ext cx="2624101" cy="4665048"/>
          </a:xfrm>
          <a:prstGeom prst="rect">
            <a:avLst/>
          </a:prstGeom>
          <a:noFill/>
          <a:ln>
            <a:noFill/>
          </a:ln>
        </p:spPr>
      </p:pic>
      <p:sp>
        <p:nvSpPr>
          <p:cNvPr id="306" name="Google Shape;306;p26"/>
          <p:cNvSpPr/>
          <p:nvPr/>
        </p:nvSpPr>
        <p:spPr>
          <a:xfrm rot="889449">
            <a:off x="6010941" y="3979302"/>
            <a:ext cx="1682604" cy="1298467"/>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07" name="Google Shape;307;p26"/>
          <p:cNvSpPr/>
          <p:nvPr/>
        </p:nvSpPr>
        <p:spPr>
          <a:xfrm rot="2700000">
            <a:off x="8020372" y="3543086"/>
            <a:ext cx="1795061" cy="547301"/>
          </a:xfrm>
          <a:prstGeom prst="rightArrow">
            <a:avLst>
              <a:gd fmla="val 50000" name="adj1"/>
              <a:gd fmla="val 50000" name="adj2"/>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7"/>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27"/>
          <p:cNvSpPr/>
          <p:nvPr/>
        </p:nvSpPr>
        <p:spPr>
          <a:xfrm>
            <a:off x="3492011" y="547604"/>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15" name="Google Shape;315;p27"/>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16" name="Google Shape;316;p27"/>
          <p:cNvSpPr/>
          <p:nvPr/>
        </p:nvSpPr>
        <p:spPr>
          <a:xfrm>
            <a:off x="3346639" y="947795"/>
            <a:ext cx="54987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Re-designing assy oil separator auto structure</a:t>
            </a:r>
            <a:endParaRPr/>
          </a:p>
        </p:txBody>
      </p:sp>
      <p:sp>
        <p:nvSpPr>
          <p:cNvPr id="317" name="Google Shape;317;p27"/>
          <p:cNvSpPr txBox="1"/>
          <p:nvPr/>
        </p:nvSpPr>
        <p:spPr>
          <a:xfrm>
            <a:off x="285300" y="2164510"/>
            <a:ext cx="5963100" cy="2986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Solusi yang Diajukan:</a:t>
            </a:r>
            <a:endParaRPr sz="1600"/>
          </a:p>
          <a:p>
            <a:pPr indent="0" lvl="0" marL="0" marR="0" rtl="0" algn="just">
              <a:lnSpc>
                <a:spcPct val="150000"/>
              </a:lnSpc>
              <a:spcBef>
                <a:spcPts val="0"/>
              </a:spcBef>
              <a:spcAft>
                <a:spcPts val="0"/>
              </a:spcAft>
              <a:buNone/>
            </a:pPr>
            <a:r>
              <a:rPr lang="en-ID">
                <a:solidFill>
                  <a:schemeClr val="dk1"/>
                </a:solidFill>
              </a:rPr>
              <a:t>Melakukan redesain struktur mesin dengan membuat jalur masuk/keluar.</a:t>
            </a:r>
            <a:endParaRPr>
              <a:solidFill>
                <a:schemeClr val="dk1"/>
              </a:solidFill>
            </a:endParaRPr>
          </a:p>
          <a:p>
            <a:pPr indent="0" lvl="0" marL="0" marR="0" rtl="0" algn="just">
              <a:lnSpc>
                <a:spcPct val="150000"/>
              </a:lnSpc>
              <a:spcBef>
                <a:spcPts val="0"/>
              </a:spcBef>
              <a:spcAft>
                <a:spcPts val="0"/>
              </a:spcAft>
              <a:buNone/>
            </a:pPr>
            <a:r>
              <a:t/>
            </a:r>
            <a:endParaRPr>
              <a:solidFill>
                <a:schemeClr val="dk1"/>
              </a:solidFill>
            </a:endParaRPr>
          </a:p>
          <a:p>
            <a:pPr indent="0" lvl="0" marL="0" marR="0" rtl="0" algn="just">
              <a:lnSpc>
                <a:spcPct val="150000"/>
              </a:lnSpc>
              <a:spcBef>
                <a:spcPts val="0"/>
              </a:spcBef>
              <a:spcAft>
                <a:spcPts val="0"/>
              </a:spcAft>
              <a:buNone/>
            </a:pPr>
            <a:r>
              <a:t/>
            </a:r>
            <a:endParaRPr>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rtl="0" algn="just">
              <a:lnSpc>
                <a:spcPct val="150000"/>
              </a:lnSpc>
              <a:spcBef>
                <a:spcPts val="0"/>
              </a:spcBef>
              <a:spcAft>
                <a:spcPts val="0"/>
              </a:spcAft>
              <a:buNone/>
            </a:pPr>
            <a:r>
              <a:rPr lang="en-ID">
                <a:solidFill>
                  <a:schemeClr val="dk1"/>
                </a:solidFill>
              </a:rPr>
              <a:t>Redesain ini membuka akses bagi pekerja maintenance untuk mudah masuk dan keluar dari bawah mesin, memudahkan perbaikan kompresor, serta meningkatkan efisiensi dan efektivitas proses maintenance.</a:t>
            </a:r>
            <a:endParaRPr>
              <a:solidFill>
                <a:schemeClr val="dk1"/>
              </a:solidFill>
            </a:endParaRPr>
          </a:p>
        </p:txBody>
      </p:sp>
      <p:sp>
        <p:nvSpPr>
          <p:cNvPr id="318" name="Google Shape;318;p27"/>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19" name="Google Shape;319;p27"/>
          <p:cNvPicPr preferRelativeResize="0"/>
          <p:nvPr/>
        </p:nvPicPr>
        <p:blipFill>
          <a:blip r:embed="rId3">
            <a:alphaModFix/>
          </a:blip>
          <a:stretch>
            <a:fillRect/>
          </a:stretch>
        </p:blipFill>
        <p:spPr>
          <a:xfrm>
            <a:off x="7961175" y="1628513"/>
            <a:ext cx="3367950" cy="3600975"/>
          </a:xfrm>
          <a:prstGeom prst="rect">
            <a:avLst/>
          </a:prstGeom>
          <a:noFill/>
          <a:ln>
            <a:noFill/>
          </a:ln>
        </p:spPr>
      </p:pic>
      <p:sp>
        <p:nvSpPr>
          <p:cNvPr id="320" name="Google Shape;320;p27"/>
          <p:cNvSpPr/>
          <p:nvPr/>
        </p:nvSpPr>
        <p:spPr>
          <a:xfrm>
            <a:off x="9853186" y="3818648"/>
            <a:ext cx="1342500" cy="12984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8"/>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28"/>
          <p:cNvSpPr/>
          <p:nvPr/>
        </p:nvSpPr>
        <p:spPr>
          <a:xfrm>
            <a:off x="3375236" y="5476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28" name="Google Shape;328;p28"/>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29" name="Google Shape;329;p28"/>
          <p:cNvSpPr/>
          <p:nvPr/>
        </p:nvSpPr>
        <p:spPr>
          <a:xfrm>
            <a:off x="2259454" y="931325"/>
            <a:ext cx="76731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Repositioning</a:t>
            </a:r>
            <a:r>
              <a:rPr b="1" lang="en-ID" sz="2000">
                <a:solidFill>
                  <a:srgbClr val="3F3F3F"/>
                </a:solidFill>
                <a:latin typeface="Microsoft Yahei"/>
                <a:ea typeface="Microsoft Yahei"/>
                <a:cs typeface="Microsoft Yahei"/>
                <a:sym typeface="Microsoft Yahei"/>
              </a:rPr>
              <a:t> assy oil separator </a:t>
            </a:r>
            <a:r>
              <a:rPr b="1" lang="en-ID" sz="2000">
                <a:solidFill>
                  <a:srgbClr val="3F3F3F"/>
                </a:solidFill>
                <a:latin typeface="Microsoft Yahei"/>
                <a:ea typeface="Microsoft Yahei"/>
                <a:cs typeface="Microsoft Yahei"/>
                <a:sym typeface="Microsoft Yahei"/>
              </a:rPr>
              <a:t>pokayoke (sensor)</a:t>
            </a:r>
            <a:endParaRPr/>
          </a:p>
        </p:txBody>
      </p:sp>
      <p:sp>
        <p:nvSpPr>
          <p:cNvPr id="330" name="Google Shape;330;p28"/>
          <p:cNvSpPr txBox="1"/>
          <p:nvPr/>
        </p:nvSpPr>
        <p:spPr>
          <a:xfrm>
            <a:off x="375729" y="2438368"/>
            <a:ext cx="5721600" cy="2801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Latar Belakang:</a:t>
            </a:r>
            <a:endParaRPr sz="1600"/>
          </a:p>
          <a:p>
            <a:pPr indent="0" lvl="0" marL="0" marR="0" rtl="0" algn="just">
              <a:lnSpc>
                <a:spcPct val="150000"/>
              </a:lnSpc>
              <a:spcBef>
                <a:spcPts val="0"/>
              </a:spcBef>
              <a:spcAft>
                <a:spcPts val="0"/>
              </a:spcAft>
              <a:buNone/>
            </a:pPr>
            <a:r>
              <a:rPr lang="en-ID">
                <a:solidFill>
                  <a:schemeClr val="dk1"/>
                </a:solidFill>
              </a:rPr>
              <a:t>Sensor pokayoke pada assy oil separator tidak akurat dalam mendeteksi tipe part.</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Rumusan Masalah:</a:t>
            </a:r>
            <a:endParaRPr sz="1600"/>
          </a:p>
          <a:p>
            <a:pPr indent="0" lvl="0" marL="0" marR="0" rtl="0" algn="just">
              <a:lnSpc>
                <a:spcPct val="150000"/>
              </a:lnSpc>
              <a:spcBef>
                <a:spcPts val="0"/>
              </a:spcBef>
              <a:spcAft>
                <a:spcPts val="0"/>
              </a:spcAft>
              <a:buNone/>
            </a:pPr>
            <a:r>
              <a:rPr lang="en-ID">
                <a:solidFill>
                  <a:schemeClr val="dk1"/>
                </a:solidFill>
              </a:rPr>
              <a:t>Posisi deteksi sensor yang miring dan mengarah ke bagian yang tidak di-machining menyebabkan ketidakakuratan dalam mendeteksi tipe part.</a:t>
            </a:r>
            <a:endParaRPr>
              <a:solidFill>
                <a:schemeClr val="dk1"/>
              </a:solidFill>
            </a:endParaRPr>
          </a:p>
        </p:txBody>
      </p:sp>
      <p:sp>
        <p:nvSpPr>
          <p:cNvPr id="331" name="Google Shape;331;p28"/>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32" name="Google Shape;332;p28"/>
          <p:cNvPicPr preferRelativeResize="0"/>
          <p:nvPr/>
        </p:nvPicPr>
        <p:blipFill>
          <a:blip r:embed="rId3">
            <a:alphaModFix/>
          </a:blip>
          <a:stretch>
            <a:fillRect/>
          </a:stretch>
        </p:blipFill>
        <p:spPr>
          <a:xfrm>
            <a:off x="7683812" y="1737150"/>
            <a:ext cx="2888893" cy="2039100"/>
          </a:xfrm>
          <a:prstGeom prst="rect">
            <a:avLst/>
          </a:prstGeom>
          <a:noFill/>
          <a:ln>
            <a:noFill/>
          </a:ln>
        </p:spPr>
      </p:pic>
      <p:pic>
        <p:nvPicPr>
          <p:cNvPr id="333" name="Google Shape;333;p28"/>
          <p:cNvPicPr preferRelativeResize="0"/>
          <p:nvPr/>
        </p:nvPicPr>
        <p:blipFill>
          <a:blip r:embed="rId4">
            <a:alphaModFix/>
          </a:blip>
          <a:stretch>
            <a:fillRect/>
          </a:stretch>
        </p:blipFill>
        <p:spPr>
          <a:xfrm>
            <a:off x="9196800" y="3882638"/>
            <a:ext cx="2888901" cy="2044164"/>
          </a:xfrm>
          <a:prstGeom prst="rect">
            <a:avLst/>
          </a:prstGeom>
          <a:noFill/>
          <a:ln>
            <a:noFill/>
          </a:ln>
        </p:spPr>
      </p:pic>
      <p:pic>
        <p:nvPicPr>
          <p:cNvPr id="334" name="Google Shape;334;p28"/>
          <p:cNvPicPr preferRelativeResize="0"/>
          <p:nvPr/>
        </p:nvPicPr>
        <p:blipFill>
          <a:blip r:embed="rId5">
            <a:alphaModFix/>
          </a:blip>
          <a:stretch>
            <a:fillRect/>
          </a:stretch>
        </p:blipFill>
        <p:spPr>
          <a:xfrm>
            <a:off x="6248400" y="3868450"/>
            <a:ext cx="2952090" cy="20725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9"/>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1" name="Google Shape;341;p29"/>
          <p:cNvSpPr/>
          <p:nvPr/>
        </p:nvSpPr>
        <p:spPr>
          <a:xfrm>
            <a:off x="3492011" y="547597"/>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42" name="Google Shape;342;p29"/>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43" name="Google Shape;343;p29"/>
          <p:cNvSpPr/>
          <p:nvPr/>
        </p:nvSpPr>
        <p:spPr>
          <a:xfrm>
            <a:off x="2103904" y="1020313"/>
            <a:ext cx="79842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Repositioning assy oil separator pokayoke (sensor)</a:t>
            </a:r>
            <a:endParaRPr/>
          </a:p>
        </p:txBody>
      </p:sp>
      <p:sp>
        <p:nvSpPr>
          <p:cNvPr id="344" name="Google Shape;344;p29"/>
          <p:cNvSpPr txBox="1"/>
          <p:nvPr/>
        </p:nvSpPr>
        <p:spPr>
          <a:xfrm>
            <a:off x="347454" y="2141418"/>
            <a:ext cx="5721600" cy="33555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Solusi yang Diajukan:</a:t>
            </a:r>
            <a:endParaRPr sz="1600"/>
          </a:p>
          <a:p>
            <a:pPr indent="0" lvl="0" marL="0" marR="0" rtl="0" algn="just">
              <a:lnSpc>
                <a:spcPct val="150000"/>
              </a:lnSpc>
              <a:spcBef>
                <a:spcPts val="0"/>
              </a:spcBef>
              <a:spcAft>
                <a:spcPts val="0"/>
              </a:spcAft>
              <a:buNone/>
            </a:pPr>
            <a:r>
              <a:rPr lang="en-ID">
                <a:solidFill>
                  <a:schemeClr val="dk1"/>
                </a:solidFill>
              </a:rPr>
              <a:t>Memindahkan sensor pokayoke ke bawah mesin untuk mendeteksi bagian part yang sudah di-machining, serta melakukan modifikasi pada base plate, base jig, dan jig dengan menambahkan lubang tambahan.</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marR="0" rtl="0" algn="just">
              <a:lnSpc>
                <a:spcPct val="150000"/>
              </a:lnSpc>
              <a:spcBef>
                <a:spcPts val="0"/>
              </a:spcBef>
              <a:spcAft>
                <a:spcPts val="0"/>
              </a:spcAft>
              <a:buNone/>
            </a:pPr>
            <a:r>
              <a:rPr lang="en-ID">
                <a:solidFill>
                  <a:schemeClr val="dk1"/>
                </a:solidFill>
              </a:rPr>
              <a:t>Sensor pokayoke dapat mendeteksi tipe part dengan lebih akurat, meningkatkan keandalan proses produksi.</a:t>
            </a:r>
            <a:endParaRPr>
              <a:solidFill>
                <a:schemeClr val="dk1"/>
              </a:solidFill>
            </a:endParaRPr>
          </a:p>
        </p:txBody>
      </p:sp>
      <p:sp>
        <p:nvSpPr>
          <p:cNvPr id="345" name="Google Shape;345;p29"/>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46" name="Google Shape;346;p29"/>
          <p:cNvPicPr preferRelativeResize="0"/>
          <p:nvPr/>
        </p:nvPicPr>
        <p:blipFill>
          <a:blip r:embed="rId3">
            <a:alphaModFix/>
          </a:blip>
          <a:stretch>
            <a:fillRect/>
          </a:stretch>
        </p:blipFill>
        <p:spPr>
          <a:xfrm>
            <a:off x="6818600" y="1800850"/>
            <a:ext cx="2224550" cy="3954752"/>
          </a:xfrm>
          <a:prstGeom prst="rect">
            <a:avLst/>
          </a:prstGeom>
          <a:noFill/>
          <a:ln>
            <a:noFill/>
          </a:ln>
        </p:spPr>
      </p:pic>
      <p:pic>
        <p:nvPicPr>
          <p:cNvPr id="347" name="Google Shape;347;p29"/>
          <p:cNvPicPr preferRelativeResize="0"/>
          <p:nvPr/>
        </p:nvPicPr>
        <p:blipFill>
          <a:blip r:embed="rId4">
            <a:alphaModFix/>
          </a:blip>
          <a:stretch>
            <a:fillRect/>
          </a:stretch>
        </p:blipFill>
        <p:spPr>
          <a:xfrm>
            <a:off x="9613350" y="1960650"/>
            <a:ext cx="2224550" cy="39547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0"/>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30"/>
          <p:cNvSpPr/>
          <p:nvPr/>
        </p:nvSpPr>
        <p:spPr>
          <a:xfrm>
            <a:off x="3492011" y="653484"/>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55" name="Google Shape;355;p30"/>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56" name="Google Shape;356;p30"/>
          <p:cNvSpPr/>
          <p:nvPr/>
        </p:nvSpPr>
        <p:spPr>
          <a:xfrm>
            <a:off x="3457942" y="1159559"/>
            <a:ext cx="52761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NG Chuter for HPPM line</a:t>
            </a:r>
            <a:endParaRPr/>
          </a:p>
        </p:txBody>
      </p:sp>
      <p:sp>
        <p:nvSpPr>
          <p:cNvPr id="357" name="Google Shape;357;p30"/>
          <p:cNvSpPr txBox="1"/>
          <p:nvPr/>
        </p:nvSpPr>
        <p:spPr>
          <a:xfrm>
            <a:off x="317979" y="2235618"/>
            <a:ext cx="5721600" cy="2709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Latar Belakang:</a:t>
            </a:r>
            <a:endParaRPr sz="1600"/>
          </a:p>
          <a:p>
            <a:pPr indent="0" lvl="0" marL="0" marR="0" rtl="0" algn="just">
              <a:lnSpc>
                <a:spcPct val="150000"/>
              </a:lnSpc>
              <a:spcBef>
                <a:spcPts val="0"/>
              </a:spcBef>
              <a:spcAft>
                <a:spcPts val="0"/>
              </a:spcAft>
              <a:buNone/>
            </a:pPr>
            <a:r>
              <a:rPr lang="en-ID">
                <a:solidFill>
                  <a:schemeClr val="dk1"/>
                </a:solidFill>
              </a:rPr>
              <a:t>Chuter parts NG pada line HPPM cover motor K3NA ditemukan dalam kondisi kurang layak.</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Rumusan Masalah:</a:t>
            </a:r>
            <a:endParaRPr sz="1600"/>
          </a:p>
          <a:p>
            <a:pPr indent="0" lvl="0" marL="0" marR="0" rtl="0" algn="just">
              <a:lnSpc>
                <a:spcPct val="150000"/>
              </a:lnSpc>
              <a:spcBef>
                <a:spcPts val="0"/>
              </a:spcBef>
              <a:spcAft>
                <a:spcPts val="0"/>
              </a:spcAft>
              <a:buNone/>
            </a:pPr>
            <a:r>
              <a:rPr lang="en-ID">
                <a:solidFill>
                  <a:schemeClr val="dk1"/>
                </a:solidFill>
              </a:rPr>
              <a:t>Chuter NG parts perlu pembaruan karena kondisi yang tidak memadai, terutama menjelang genba dari HPPM Jepang.</a:t>
            </a:r>
            <a:endParaRPr>
              <a:solidFill>
                <a:schemeClr val="dk1"/>
              </a:solidFill>
            </a:endParaRPr>
          </a:p>
        </p:txBody>
      </p:sp>
      <p:sp>
        <p:nvSpPr>
          <p:cNvPr id="358" name="Google Shape;358;p30"/>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59" name="Google Shape;359;p30"/>
          <p:cNvPicPr preferRelativeResize="0"/>
          <p:nvPr/>
        </p:nvPicPr>
        <p:blipFill>
          <a:blip r:embed="rId3">
            <a:alphaModFix/>
          </a:blip>
          <a:stretch>
            <a:fillRect/>
          </a:stretch>
        </p:blipFill>
        <p:spPr>
          <a:xfrm>
            <a:off x="6757425" y="2244475"/>
            <a:ext cx="4784524" cy="26912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1"/>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6" name="Google Shape;366;p31"/>
          <p:cNvSpPr/>
          <p:nvPr/>
        </p:nvSpPr>
        <p:spPr>
          <a:xfrm>
            <a:off x="3492011" y="617134"/>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67" name="Google Shape;367;p31"/>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68" name="Google Shape;368;p31"/>
          <p:cNvSpPr/>
          <p:nvPr/>
        </p:nvSpPr>
        <p:spPr>
          <a:xfrm>
            <a:off x="3457942" y="1086859"/>
            <a:ext cx="52761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NG Chuter for HPPM line</a:t>
            </a:r>
            <a:endParaRPr/>
          </a:p>
        </p:txBody>
      </p:sp>
      <p:sp>
        <p:nvSpPr>
          <p:cNvPr id="369" name="Google Shape;369;p31"/>
          <p:cNvSpPr txBox="1"/>
          <p:nvPr/>
        </p:nvSpPr>
        <p:spPr>
          <a:xfrm>
            <a:off x="222004" y="2334093"/>
            <a:ext cx="5721600" cy="3032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Solusi yang Diajukan:</a:t>
            </a:r>
            <a:endParaRPr sz="1600"/>
          </a:p>
          <a:p>
            <a:pPr indent="0" lvl="0" marL="0" marR="0" rtl="0" algn="just">
              <a:lnSpc>
                <a:spcPct val="150000"/>
              </a:lnSpc>
              <a:spcBef>
                <a:spcPts val="0"/>
              </a:spcBef>
              <a:spcAft>
                <a:spcPts val="0"/>
              </a:spcAft>
              <a:buNone/>
            </a:pPr>
            <a:r>
              <a:rPr lang="en-ID">
                <a:solidFill>
                  <a:schemeClr val="dk1"/>
                </a:solidFill>
              </a:rPr>
              <a:t>Melakukan redesain kecil pada chuter NG parts dan meminta tim sipil untuk memproduksi dan memasang chuter NG baru yang menggantikan chuter NG lama.</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marR="0" rtl="0" algn="just">
              <a:lnSpc>
                <a:spcPct val="150000"/>
              </a:lnSpc>
              <a:spcBef>
                <a:spcPts val="0"/>
              </a:spcBef>
              <a:spcAft>
                <a:spcPts val="0"/>
              </a:spcAft>
              <a:buNone/>
            </a:pPr>
            <a:r>
              <a:rPr lang="en-ID">
                <a:solidFill>
                  <a:schemeClr val="dk1"/>
                </a:solidFill>
              </a:rPr>
              <a:t>Chuter NG parts yang baru dipasang, meningkatkan kualitas dan kesiapan line HPPM untuk menghadapi genba dari HPPM Jepang.</a:t>
            </a:r>
            <a:endParaRPr>
              <a:solidFill>
                <a:schemeClr val="dk1"/>
              </a:solidFill>
            </a:endParaRPr>
          </a:p>
        </p:txBody>
      </p:sp>
      <p:sp>
        <p:nvSpPr>
          <p:cNvPr id="370" name="Google Shape;370;p31"/>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71" name="Google Shape;371;p31"/>
          <p:cNvPicPr preferRelativeResize="0"/>
          <p:nvPr/>
        </p:nvPicPr>
        <p:blipFill>
          <a:blip r:embed="rId3">
            <a:alphaModFix/>
          </a:blip>
          <a:stretch>
            <a:fillRect/>
          </a:stretch>
        </p:blipFill>
        <p:spPr>
          <a:xfrm>
            <a:off x="6611875" y="1519985"/>
            <a:ext cx="2225413" cy="2025201"/>
          </a:xfrm>
          <a:prstGeom prst="rect">
            <a:avLst/>
          </a:prstGeom>
          <a:noFill/>
          <a:ln>
            <a:noFill/>
          </a:ln>
        </p:spPr>
      </p:pic>
      <p:pic>
        <p:nvPicPr>
          <p:cNvPr id="372" name="Google Shape;372;p31"/>
          <p:cNvPicPr preferRelativeResize="0"/>
          <p:nvPr/>
        </p:nvPicPr>
        <p:blipFill>
          <a:blip r:embed="rId4">
            <a:alphaModFix/>
          </a:blip>
          <a:stretch>
            <a:fillRect/>
          </a:stretch>
        </p:blipFill>
        <p:spPr>
          <a:xfrm>
            <a:off x="8922868" y="1597891"/>
            <a:ext cx="2666683" cy="1869381"/>
          </a:xfrm>
          <a:prstGeom prst="rect">
            <a:avLst/>
          </a:prstGeom>
          <a:noFill/>
          <a:ln>
            <a:noFill/>
          </a:ln>
        </p:spPr>
      </p:pic>
      <p:pic>
        <p:nvPicPr>
          <p:cNvPr id="373" name="Google Shape;373;p31"/>
          <p:cNvPicPr preferRelativeResize="0"/>
          <p:nvPr/>
        </p:nvPicPr>
        <p:blipFill>
          <a:blip r:embed="rId5">
            <a:alphaModFix/>
          </a:blip>
          <a:stretch>
            <a:fillRect/>
          </a:stretch>
        </p:blipFill>
        <p:spPr>
          <a:xfrm>
            <a:off x="6611874" y="3581401"/>
            <a:ext cx="4977676" cy="279992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2"/>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0" name="Google Shape;380;p32"/>
          <p:cNvSpPr/>
          <p:nvPr/>
        </p:nvSpPr>
        <p:spPr>
          <a:xfrm>
            <a:off x="3492011" y="5476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81" name="Google Shape;381;p32"/>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82" name="Google Shape;382;p32"/>
          <p:cNvSpPr/>
          <p:nvPr/>
        </p:nvSpPr>
        <p:spPr>
          <a:xfrm>
            <a:off x="3457942" y="1119509"/>
            <a:ext cx="52761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Marker face movable drive</a:t>
            </a:r>
            <a:endParaRPr/>
          </a:p>
        </p:txBody>
      </p:sp>
      <p:sp>
        <p:nvSpPr>
          <p:cNvPr id="383" name="Google Shape;383;p32"/>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4" name="Google Shape;384;p32"/>
          <p:cNvSpPr txBox="1"/>
          <p:nvPr/>
        </p:nvSpPr>
        <p:spPr>
          <a:xfrm>
            <a:off x="377554" y="2480793"/>
            <a:ext cx="5721600" cy="23859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Latar Belakang:</a:t>
            </a:r>
            <a:endParaRPr sz="1600"/>
          </a:p>
          <a:p>
            <a:pPr indent="0" lvl="0" marL="0" marR="0" rtl="0" algn="just">
              <a:lnSpc>
                <a:spcPct val="150000"/>
              </a:lnSpc>
              <a:spcBef>
                <a:spcPts val="0"/>
              </a:spcBef>
              <a:spcAft>
                <a:spcPts val="0"/>
              </a:spcAft>
              <a:buNone/>
            </a:pPr>
            <a:r>
              <a:rPr lang="en-ID">
                <a:solidFill>
                  <a:schemeClr val="dk1"/>
                </a:solidFill>
              </a:rPr>
              <a:t>Marker face pada movable drive tidak menandai parts yang telah dirakit dengan baik.</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Rumusan Masalah:</a:t>
            </a:r>
            <a:endParaRPr sz="1600"/>
          </a:p>
          <a:p>
            <a:pPr indent="0" lvl="0" marL="0" marR="0" rtl="0" algn="just">
              <a:lnSpc>
                <a:spcPct val="150000"/>
              </a:lnSpc>
              <a:spcBef>
                <a:spcPts val="0"/>
              </a:spcBef>
              <a:spcAft>
                <a:spcPts val="0"/>
              </a:spcAft>
              <a:buNone/>
            </a:pPr>
            <a:r>
              <a:rPr lang="en-ID">
                <a:solidFill>
                  <a:schemeClr val="dk1"/>
                </a:solidFill>
              </a:rPr>
              <a:t>Design lama tidak membuat mark pada face movable drive</a:t>
            </a:r>
            <a:endParaRPr>
              <a:solidFill>
                <a:schemeClr val="dk1"/>
              </a:solidFill>
            </a:endParaRPr>
          </a:p>
        </p:txBody>
      </p:sp>
      <p:pic>
        <p:nvPicPr>
          <p:cNvPr id="385" name="Google Shape;385;p32"/>
          <p:cNvPicPr preferRelativeResize="0"/>
          <p:nvPr/>
        </p:nvPicPr>
        <p:blipFill>
          <a:blip r:embed="rId3">
            <a:alphaModFix/>
          </a:blip>
          <a:stretch>
            <a:fillRect/>
          </a:stretch>
        </p:blipFill>
        <p:spPr>
          <a:xfrm>
            <a:off x="6403950" y="2214399"/>
            <a:ext cx="3565701" cy="3565701"/>
          </a:xfrm>
          <a:prstGeom prst="rect">
            <a:avLst/>
          </a:prstGeom>
          <a:noFill/>
          <a:ln>
            <a:noFill/>
          </a:ln>
        </p:spPr>
      </p:pic>
      <p:pic>
        <p:nvPicPr>
          <p:cNvPr id="386" name="Google Shape;386;p32"/>
          <p:cNvPicPr preferRelativeResize="0"/>
          <p:nvPr/>
        </p:nvPicPr>
        <p:blipFill rotWithShape="1">
          <a:blip r:embed="rId4">
            <a:alphaModFix/>
          </a:blip>
          <a:srcRect b="26001" l="4780" r="0" t="26035"/>
          <a:stretch/>
        </p:blipFill>
        <p:spPr>
          <a:xfrm>
            <a:off x="9490900" y="1006375"/>
            <a:ext cx="2353975" cy="210898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3"/>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 name="Google Shape;393;p33"/>
          <p:cNvSpPr/>
          <p:nvPr/>
        </p:nvSpPr>
        <p:spPr>
          <a:xfrm>
            <a:off x="3492011" y="547609"/>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394" name="Google Shape;394;p33"/>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395" name="Google Shape;395;p33"/>
          <p:cNvSpPr/>
          <p:nvPr/>
        </p:nvSpPr>
        <p:spPr>
          <a:xfrm>
            <a:off x="3457942" y="1053109"/>
            <a:ext cx="52761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Marker face movable drive</a:t>
            </a:r>
            <a:endParaRPr/>
          </a:p>
        </p:txBody>
      </p:sp>
      <p:sp>
        <p:nvSpPr>
          <p:cNvPr id="396" name="Google Shape;396;p33"/>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97" name="Google Shape;397;p33"/>
          <p:cNvPicPr preferRelativeResize="0"/>
          <p:nvPr/>
        </p:nvPicPr>
        <p:blipFill>
          <a:blip r:embed="rId3">
            <a:alphaModFix/>
          </a:blip>
          <a:stretch>
            <a:fillRect/>
          </a:stretch>
        </p:blipFill>
        <p:spPr>
          <a:xfrm>
            <a:off x="9092801" y="1173050"/>
            <a:ext cx="2960648" cy="2103549"/>
          </a:xfrm>
          <a:prstGeom prst="rect">
            <a:avLst/>
          </a:prstGeom>
          <a:noFill/>
          <a:ln>
            <a:noFill/>
          </a:ln>
        </p:spPr>
      </p:pic>
      <p:pic>
        <p:nvPicPr>
          <p:cNvPr id="398" name="Google Shape;398;p33"/>
          <p:cNvPicPr preferRelativeResize="0"/>
          <p:nvPr/>
        </p:nvPicPr>
        <p:blipFill>
          <a:blip r:embed="rId4">
            <a:alphaModFix/>
          </a:blip>
          <a:stretch>
            <a:fillRect/>
          </a:stretch>
        </p:blipFill>
        <p:spPr>
          <a:xfrm>
            <a:off x="8844601" y="3366300"/>
            <a:ext cx="2937025" cy="2903476"/>
          </a:xfrm>
          <a:prstGeom prst="rect">
            <a:avLst/>
          </a:prstGeom>
          <a:noFill/>
          <a:ln>
            <a:noFill/>
          </a:ln>
        </p:spPr>
      </p:pic>
      <p:sp>
        <p:nvSpPr>
          <p:cNvPr id="399" name="Google Shape;399;p33"/>
          <p:cNvSpPr txBox="1"/>
          <p:nvPr/>
        </p:nvSpPr>
        <p:spPr>
          <a:xfrm>
            <a:off x="264425" y="2054300"/>
            <a:ext cx="4616700" cy="3032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Solusi yang Diajukan:</a:t>
            </a:r>
            <a:endParaRPr sz="1600"/>
          </a:p>
          <a:p>
            <a:pPr indent="0" lvl="0" marL="0" marR="0" rtl="0" algn="just">
              <a:lnSpc>
                <a:spcPct val="150000"/>
              </a:lnSpc>
              <a:spcBef>
                <a:spcPts val="0"/>
              </a:spcBef>
              <a:spcAft>
                <a:spcPts val="0"/>
              </a:spcAft>
              <a:buNone/>
            </a:pPr>
            <a:r>
              <a:rPr lang="en-ID">
                <a:solidFill>
                  <a:schemeClr val="dk1"/>
                </a:solidFill>
              </a:rPr>
              <a:t>Melakukan desain ulang bersama Pak Ramelan untuk memperbaiki kondisi marker pada movable drive.</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marR="0" rtl="0" algn="just">
              <a:lnSpc>
                <a:spcPct val="150000"/>
              </a:lnSpc>
              <a:spcBef>
                <a:spcPts val="0"/>
              </a:spcBef>
              <a:spcAft>
                <a:spcPts val="0"/>
              </a:spcAft>
              <a:buNone/>
            </a:pPr>
            <a:r>
              <a:rPr lang="en-ID">
                <a:solidFill>
                  <a:schemeClr val="dk1"/>
                </a:solidFill>
              </a:rPr>
              <a:t>Desain baru berhasil memungkinkan marker untuk menandai parts face movable drive dengan jelas setelah perakitan.</a:t>
            </a:r>
            <a:endParaRPr>
              <a:solidFill>
                <a:schemeClr val="dk1"/>
              </a:solidFill>
            </a:endParaRPr>
          </a:p>
        </p:txBody>
      </p:sp>
      <p:sp>
        <p:nvSpPr>
          <p:cNvPr id="400" name="Google Shape;400;p33"/>
          <p:cNvSpPr/>
          <p:nvPr/>
        </p:nvSpPr>
        <p:spPr>
          <a:xfrm>
            <a:off x="9836256" y="5162492"/>
            <a:ext cx="655500" cy="3225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401" name="Google Shape;401;p33"/>
          <p:cNvPicPr preferRelativeResize="0"/>
          <p:nvPr/>
        </p:nvPicPr>
        <p:blipFill rotWithShape="1">
          <a:blip r:embed="rId5">
            <a:alphaModFix/>
          </a:blip>
          <a:srcRect b="18325" l="0" r="0" t="7093"/>
          <a:stretch/>
        </p:blipFill>
        <p:spPr>
          <a:xfrm>
            <a:off x="5078513" y="1538102"/>
            <a:ext cx="3568687" cy="4731672"/>
          </a:xfrm>
          <a:prstGeom prst="rect">
            <a:avLst/>
          </a:prstGeom>
          <a:noFill/>
          <a:ln>
            <a:noFill/>
          </a:ln>
        </p:spPr>
      </p:pic>
      <p:sp>
        <p:nvSpPr>
          <p:cNvPr id="402" name="Google Shape;402;p33"/>
          <p:cNvSpPr/>
          <p:nvPr/>
        </p:nvSpPr>
        <p:spPr>
          <a:xfrm>
            <a:off x="6248400" y="3366298"/>
            <a:ext cx="1467000" cy="1333800"/>
          </a:xfrm>
          <a:prstGeom prst="ellipse">
            <a:avLst/>
          </a:prstGeom>
          <a:noFill/>
          <a:ln cap="flat" cmpd="sng" w="762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34"/>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9" name="Google Shape;409;p34"/>
          <p:cNvSpPr/>
          <p:nvPr/>
        </p:nvSpPr>
        <p:spPr>
          <a:xfrm>
            <a:off x="3632101" y="547600"/>
            <a:ext cx="49278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410" name="Google Shape;410;p34"/>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11" name="Google Shape;411;p34"/>
          <p:cNvSpPr/>
          <p:nvPr/>
        </p:nvSpPr>
        <p:spPr>
          <a:xfrm>
            <a:off x="2205904" y="947800"/>
            <a:ext cx="77802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Analyzing </a:t>
            </a:r>
            <a:r>
              <a:rPr b="1" lang="en-ID" sz="2000">
                <a:solidFill>
                  <a:srgbClr val="3F3F3F"/>
                </a:solidFill>
                <a:latin typeface="Microsoft Yahei"/>
                <a:ea typeface="Microsoft Yahei"/>
                <a:cs typeface="Microsoft Yahei"/>
                <a:sym typeface="Microsoft Yahei"/>
              </a:rPr>
              <a:t>trial </a:t>
            </a:r>
            <a:r>
              <a:rPr b="1" lang="en-ID" sz="2000">
                <a:solidFill>
                  <a:srgbClr val="3F3F3F"/>
                </a:solidFill>
                <a:latin typeface="Microsoft Yahei"/>
                <a:ea typeface="Microsoft Yahei"/>
                <a:cs typeface="Microsoft Yahei"/>
                <a:sym typeface="Microsoft Yahei"/>
              </a:rPr>
              <a:t>data leak test cover motor K3NA</a:t>
            </a:r>
            <a:endParaRPr/>
          </a:p>
        </p:txBody>
      </p:sp>
      <p:sp>
        <p:nvSpPr>
          <p:cNvPr id="412" name="Google Shape;412;p34"/>
          <p:cNvSpPr txBox="1"/>
          <p:nvPr/>
        </p:nvSpPr>
        <p:spPr>
          <a:xfrm>
            <a:off x="326450" y="2629950"/>
            <a:ext cx="3537000" cy="3032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Tujuan</a:t>
            </a:r>
            <a:r>
              <a:rPr b="1" lang="en-ID" sz="1600">
                <a:solidFill>
                  <a:schemeClr val="dk1"/>
                </a:solidFill>
              </a:rPr>
              <a:t>:</a:t>
            </a:r>
            <a:endParaRPr sz="1600"/>
          </a:p>
          <a:p>
            <a:pPr indent="0" lvl="0" marL="0" marR="0" rtl="0" algn="just">
              <a:lnSpc>
                <a:spcPct val="150000"/>
              </a:lnSpc>
              <a:spcBef>
                <a:spcPts val="0"/>
              </a:spcBef>
              <a:spcAft>
                <a:spcPts val="0"/>
              </a:spcAft>
              <a:buNone/>
            </a:pPr>
            <a:r>
              <a:rPr lang="en-ID">
                <a:solidFill>
                  <a:schemeClr val="dk1"/>
                </a:solidFill>
              </a:rPr>
              <a:t>Menilai kestabilan mesin leak test cover motor K3NA.</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Metode</a:t>
            </a:r>
            <a:r>
              <a:rPr b="1" lang="en-ID" sz="1600">
                <a:solidFill>
                  <a:schemeClr val="dk1"/>
                </a:solidFill>
              </a:rPr>
              <a:t>:</a:t>
            </a:r>
            <a:endParaRPr sz="1600"/>
          </a:p>
          <a:p>
            <a:pPr indent="0" lvl="0" marL="0" marR="0" rtl="0" algn="just">
              <a:lnSpc>
                <a:spcPct val="150000"/>
              </a:lnSpc>
              <a:spcBef>
                <a:spcPts val="0"/>
              </a:spcBef>
              <a:spcAft>
                <a:spcPts val="0"/>
              </a:spcAft>
              <a:buNone/>
            </a:pPr>
            <a:r>
              <a:rPr lang="en-ID">
                <a:solidFill>
                  <a:schemeClr val="dk1"/>
                </a:solidFill>
              </a:rPr>
              <a:t>Dilakukan trial sebanyak 30 kali yang dibagi ke dalam tiga waktu berbeda: pagi, siang, dan sore.</a:t>
            </a:r>
            <a:endParaRPr>
              <a:solidFill>
                <a:schemeClr val="dk1"/>
              </a:solidFill>
            </a:endParaRPr>
          </a:p>
        </p:txBody>
      </p:sp>
      <p:sp>
        <p:nvSpPr>
          <p:cNvPr id="413" name="Google Shape;413;p34"/>
          <p:cNvSpPr/>
          <p:nvPr/>
        </p:nvSpPr>
        <p:spPr>
          <a:xfrm>
            <a:off x="5604225" y="32310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14" name="Google Shape;414;p34"/>
          <p:cNvPicPr preferRelativeResize="0"/>
          <p:nvPr/>
        </p:nvPicPr>
        <p:blipFill rotWithShape="1">
          <a:blip r:embed="rId3">
            <a:alphaModFix/>
          </a:blip>
          <a:srcRect b="48103" l="0" r="0" t="0"/>
          <a:stretch/>
        </p:blipFill>
        <p:spPr>
          <a:xfrm>
            <a:off x="4232625" y="1390996"/>
            <a:ext cx="3958075" cy="2662730"/>
          </a:xfrm>
          <a:prstGeom prst="rect">
            <a:avLst/>
          </a:prstGeom>
          <a:noFill/>
          <a:ln>
            <a:noFill/>
          </a:ln>
        </p:spPr>
      </p:pic>
      <p:pic>
        <p:nvPicPr>
          <p:cNvPr id="415" name="Google Shape;415;p34"/>
          <p:cNvPicPr preferRelativeResize="0"/>
          <p:nvPr/>
        </p:nvPicPr>
        <p:blipFill rotWithShape="1">
          <a:blip r:embed="rId3">
            <a:alphaModFix/>
          </a:blip>
          <a:srcRect b="0" l="0" r="0" t="53499"/>
          <a:stretch/>
        </p:blipFill>
        <p:spPr>
          <a:xfrm>
            <a:off x="4232625" y="4053725"/>
            <a:ext cx="3958076" cy="2385900"/>
          </a:xfrm>
          <a:prstGeom prst="rect">
            <a:avLst/>
          </a:prstGeom>
          <a:noFill/>
          <a:ln>
            <a:noFill/>
          </a:ln>
        </p:spPr>
      </p:pic>
      <p:pic>
        <p:nvPicPr>
          <p:cNvPr id="416" name="Google Shape;416;p34"/>
          <p:cNvPicPr preferRelativeResize="0"/>
          <p:nvPr/>
        </p:nvPicPr>
        <p:blipFill>
          <a:blip r:embed="rId4">
            <a:alphaModFix/>
          </a:blip>
          <a:stretch>
            <a:fillRect/>
          </a:stretch>
        </p:blipFill>
        <p:spPr>
          <a:xfrm>
            <a:off x="8702050" y="1375425"/>
            <a:ext cx="2831324" cy="50359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35"/>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3" name="Google Shape;423;p35"/>
          <p:cNvSpPr/>
          <p:nvPr/>
        </p:nvSpPr>
        <p:spPr>
          <a:xfrm>
            <a:off x="3375736" y="527970"/>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424" name="Google Shape;424;p35"/>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25" name="Google Shape;425;p35"/>
          <p:cNvSpPr/>
          <p:nvPr/>
        </p:nvSpPr>
        <p:spPr>
          <a:xfrm>
            <a:off x="3341667" y="967109"/>
            <a:ext cx="5276100" cy="708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000">
                <a:solidFill>
                  <a:srgbClr val="3F3F3F"/>
                </a:solidFill>
                <a:latin typeface="Microsoft Yahei"/>
                <a:ea typeface="Microsoft Yahei"/>
                <a:cs typeface="Microsoft Yahei"/>
                <a:sym typeface="Microsoft Yahei"/>
              </a:rPr>
              <a:t>Analyzing trial data leak test cover motor K3NA</a:t>
            </a:r>
            <a:endParaRPr/>
          </a:p>
        </p:txBody>
      </p:sp>
      <p:sp>
        <p:nvSpPr>
          <p:cNvPr id="426" name="Google Shape;426;p35"/>
          <p:cNvSpPr txBox="1"/>
          <p:nvPr/>
        </p:nvSpPr>
        <p:spPr>
          <a:xfrm>
            <a:off x="360375" y="2707050"/>
            <a:ext cx="3846000" cy="33555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1600">
                <a:solidFill>
                  <a:schemeClr val="dk1"/>
                </a:solidFill>
              </a:rPr>
              <a:t>Analisis:</a:t>
            </a:r>
            <a:endParaRPr sz="1600"/>
          </a:p>
          <a:p>
            <a:pPr indent="0" lvl="0" marL="0" marR="0" rtl="0" algn="just">
              <a:lnSpc>
                <a:spcPct val="150000"/>
              </a:lnSpc>
              <a:spcBef>
                <a:spcPts val="0"/>
              </a:spcBef>
              <a:spcAft>
                <a:spcPts val="0"/>
              </a:spcAft>
              <a:buNone/>
            </a:pPr>
            <a:r>
              <a:rPr lang="en-ID">
                <a:solidFill>
                  <a:schemeClr val="dk1"/>
                </a:solidFill>
              </a:rPr>
              <a:t>Menghitung mean, range, standar deviasi, distribusi normal, LCL, dan UCL dari data hasil trial.</a:t>
            </a:r>
            <a:endParaRPr sz="1600"/>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t/>
            </a:r>
            <a:endParaRPr sz="1000">
              <a:solidFill>
                <a:schemeClr val="dk1"/>
              </a:solidFill>
            </a:endParaRPr>
          </a:p>
          <a:p>
            <a:pPr indent="0" lvl="0" marL="0" marR="0" rtl="0" algn="just">
              <a:lnSpc>
                <a:spcPct val="150000"/>
              </a:lnSpc>
              <a:spcBef>
                <a:spcPts val="0"/>
              </a:spcBef>
              <a:spcAft>
                <a:spcPts val="0"/>
              </a:spcAft>
              <a:buNone/>
            </a:pPr>
            <a:r>
              <a:rPr b="1" lang="en-ID" sz="1600">
                <a:solidFill>
                  <a:schemeClr val="dk1"/>
                </a:solidFill>
              </a:rPr>
              <a:t>Hasil:</a:t>
            </a:r>
            <a:endParaRPr sz="1600"/>
          </a:p>
          <a:p>
            <a:pPr indent="0" lvl="0" marL="0" marR="0" rtl="0" algn="just">
              <a:lnSpc>
                <a:spcPct val="150000"/>
              </a:lnSpc>
              <a:spcBef>
                <a:spcPts val="0"/>
              </a:spcBef>
              <a:spcAft>
                <a:spcPts val="0"/>
              </a:spcAft>
              <a:buNone/>
            </a:pPr>
            <a:r>
              <a:rPr lang="en-ID">
                <a:solidFill>
                  <a:schemeClr val="dk1"/>
                </a:solidFill>
              </a:rPr>
              <a:t>Data analisis ini diserahkan kepada ketua tim untuk mengevaluasi kestabilan mesin leak test.</a:t>
            </a:r>
            <a:endParaRPr>
              <a:solidFill>
                <a:schemeClr val="dk1"/>
              </a:solidFill>
            </a:endParaRPr>
          </a:p>
        </p:txBody>
      </p:sp>
      <p:sp>
        <p:nvSpPr>
          <p:cNvPr id="427" name="Google Shape;427;p35"/>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428" name="Google Shape;428;p35"/>
          <p:cNvPicPr preferRelativeResize="0"/>
          <p:nvPr/>
        </p:nvPicPr>
        <p:blipFill>
          <a:blip r:embed="rId3">
            <a:alphaModFix/>
          </a:blip>
          <a:stretch>
            <a:fillRect/>
          </a:stretch>
        </p:blipFill>
        <p:spPr>
          <a:xfrm>
            <a:off x="4415800" y="1815600"/>
            <a:ext cx="7685876" cy="43184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36"/>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p36"/>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36" name="Google Shape;436;p36"/>
          <p:cNvSpPr txBox="1"/>
          <p:nvPr/>
        </p:nvSpPr>
        <p:spPr>
          <a:xfrm>
            <a:off x="686550" y="1209150"/>
            <a:ext cx="10818900" cy="2277900"/>
          </a:xfrm>
          <a:prstGeom prst="rect">
            <a:avLst/>
          </a:prstGeom>
          <a:noFill/>
          <a:ln>
            <a:noFill/>
          </a:ln>
        </p:spPr>
        <p:txBody>
          <a:bodyPr anchorCtr="0" anchor="t" bIns="45700" lIns="91425" spcFirstLastPara="1" rIns="91425" wrap="square" tIns="45700">
            <a:spAutoFit/>
          </a:bodyPr>
          <a:lstStyle/>
          <a:p>
            <a:pPr indent="-342900" lvl="0" marL="342900" marR="0" rtl="0" algn="just">
              <a:lnSpc>
                <a:spcPct val="150000"/>
              </a:lnSpc>
              <a:spcBef>
                <a:spcPts val="0"/>
              </a:spcBef>
              <a:spcAft>
                <a:spcPts val="0"/>
              </a:spcAft>
              <a:buClr>
                <a:schemeClr val="dk1"/>
              </a:buClr>
              <a:buSzPts val="2000"/>
              <a:buAutoNum type="alphaLcPeriod"/>
            </a:pPr>
            <a:r>
              <a:rPr b="1" lang="en-ID" sz="2000">
                <a:solidFill>
                  <a:schemeClr val="dk1"/>
                </a:solidFill>
              </a:rPr>
              <a:t>Background</a:t>
            </a:r>
            <a:r>
              <a:rPr b="1" lang="en-ID"/>
              <a:t>: </a:t>
            </a:r>
            <a:endParaRPr b="1"/>
          </a:p>
          <a:p>
            <a:pPr indent="457200" lvl="0" marL="0" marR="0" rtl="0" algn="just">
              <a:lnSpc>
                <a:spcPct val="150000"/>
              </a:lnSpc>
              <a:spcBef>
                <a:spcPts val="0"/>
              </a:spcBef>
              <a:spcAft>
                <a:spcPts val="0"/>
              </a:spcAft>
              <a:buNone/>
            </a:pPr>
            <a:r>
              <a:rPr lang="en-ID" sz="1600"/>
              <a:t>Ditemukan adanya klaim dari AHM mengenai gear oil driven yang mengalami pemasangan plat terbalik. Investigasi menunjukkan bahwa kesalahan ini disebabkan oleh kelalaian operator pada shift ketiga, yang tidak teliti dalam pemasangan dan pemeriksaan part setelah assy. Untuk mencegah terulangnya kesalahan ini, diperlukan suatu perbaikan berupa mesin atau mekanisme yang dapat meminimalkan proses penanganan plat oleh operator, sehingga mengurangi risiko pemasangan plat terbalik akibat kelalaian manusia.</a:t>
            </a:r>
            <a:endParaRPr sz="1600"/>
          </a:p>
        </p:txBody>
      </p:sp>
      <p:sp>
        <p:nvSpPr>
          <p:cNvPr id="437" name="Google Shape;437;p36"/>
          <p:cNvSpPr/>
          <p:nvPr/>
        </p:nvSpPr>
        <p:spPr>
          <a:xfrm>
            <a:off x="3457950" y="6765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pic>
        <p:nvPicPr>
          <p:cNvPr id="438" name="Google Shape;438;p36"/>
          <p:cNvPicPr preferRelativeResize="0"/>
          <p:nvPr/>
        </p:nvPicPr>
        <p:blipFill>
          <a:blip r:embed="rId3">
            <a:alphaModFix/>
          </a:blip>
          <a:stretch>
            <a:fillRect/>
          </a:stretch>
        </p:blipFill>
        <p:spPr>
          <a:xfrm>
            <a:off x="3268864" y="3702500"/>
            <a:ext cx="5654275" cy="25788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7"/>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37"/>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46" name="Google Shape;446;p37"/>
          <p:cNvSpPr txBox="1"/>
          <p:nvPr/>
        </p:nvSpPr>
        <p:spPr>
          <a:xfrm>
            <a:off x="775800" y="1056751"/>
            <a:ext cx="7261800" cy="400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None/>
            </a:pPr>
            <a:r>
              <a:rPr b="1" lang="en-ID" sz="2000">
                <a:solidFill>
                  <a:schemeClr val="dk1"/>
                </a:solidFill>
              </a:rPr>
              <a:t>b.	Activity Plan &amp; Project Timeframe</a:t>
            </a:r>
            <a:r>
              <a:rPr lang="en-ID"/>
              <a:t>: </a:t>
            </a:r>
            <a:endParaRPr sz="1200"/>
          </a:p>
        </p:txBody>
      </p:sp>
      <p:pic>
        <p:nvPicPr>
          <p:cNvPr id="447" name="Google Shape;447;p37"/>
          <p:cNvPicPr preferRelativeResize="0"/>
          <p:nvPr/>
        </p:nvPicPr>
        <p:blipFill rotWithShape="1">
          <a:blip r:embed="rId3">
            <a:alphaModFix/>
          </a:blip>
          <a:srcRect b="0" l="2799" r="0" t="0"/>
          <a:stretch/>
        </p:blipFill>
        <p:spPr>
          <a:xfrm>
            <a:off x="8097325" y="997800"/>
            <a:ext cx="3959750" cy="3194162"/>
          </a:xfrm>
          <a:prstGeom prst="rect">
            <a:avLst/>
          </a:prstGeom>
          <a:noFill/>
          <a:ln>
            <a:noFill/>
          </a:ln>
        </p:spPr>
      </p:pic>
      <p:sp>
        <p:nvSpPr>
          <p:cNvPr id="448" name="Google Shape;448;p37"/>
          <p:cNvSpPr/>
          <p:nvPr/>
        </p:nvSpPr>
        <p:spPr>
          <a:xfrm>
            <a:off x="3457950" y="5241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449" name="Google Shape;449;p37"/>
          <p:cNvSpPr txBox="1"/>
          <p:nvPr/>
        </p:nvSpPr>
        <p:spPr>
          <a:xfrm>
            <a:off x="775800" y="1925450"/>
            <a:ext cx="7261800" cy="2321100"/>
          </a:xfrm>
          <a:prstGeom prst="rect">
            <a:avLst/>
          </a:prstGeom>
          <a:noFill/>
          <a:ln>
            <a:noFill/>
          </a:ln>
        </p:spPr>
        <p:txBody>
          <a:bodyPr anchorCtr="0" anchor="t" bIns="45700" lIns="91425" spcFirstLastPara="1" rIns="91425" wrap="square" tIns="45700">
            <a:spAutoFit/>
          </a:bodyPr>
          <a:lstStyle/>
          <a:p>
            <a:pPr indent="0" lvl="0" marL="0" marR="0" rtl="0" algn="just">
              <a:lnSpc>
                <a:spcPct val="115000"/>
              </a:lnSpc>
              <a:spcBef>
                <a:spcPts val="0"/>
              </a:spcBef>
              <a:spcAft>
                <a:spcPts val="0"/>
              </a:spcAft>
              <a:buNone/>
            </a:pPr>
            <a:r>
              <a:rPr lang="en-ID" sz="1600"/>
              <a:t>Solusi yang ditawarkan:</a:t>
            </a:r>
            <a:endParaRPr sz="1600"/>
          </a:p>
          <a:p>
            <a:pPr indent="-330200" lvl="0" marL="457200" marR="0" rtl="0" algn="just">
              <a:lnSpc>
                <a:spcPct val="115000"/>
              </a:lnSpc>
              <a:spcBef>
                <a:spcPts val="0"/>
              </a:spcBef>
              <a:spcAft>
                <a:spcPts val="0"/>
              </a:spcAft>
              <a:buSzPts val="1600"/>
              <a:buChar char="-"/>
            </a:pPr>
            <a:r>
              <a:rPr lang="en-ID" sz="1600"/>
              <a:t>Magazine plat</a:t>
            </a:r>
            <a:endParaRPr sz="1600"/>
          </a:p>
          <a:p>
            <a:pPr indent="-330200" lvl="0" marL="457200" marR="0" rtl="0" algn="just">
              <a:lnSpc>
                <a:spcPct val="115000"/>
              </a:lnSpc>
              <a:spcBef>
                <a:spcPts val="0"/>
              </a:spcBef>
              <a:spcAft>
                <a:spcPts val="0"/>
              </a:spcAft>
              <a:buSzPts val="1600"/>
              <a:buChar char="-"/>
            </a:pPr>
            <a:r>
              <a:rPr lang="en-ID" sz="1600"/>
              <a:t>Request penyusunan ke vendor</a:t>
            </a:r>
            <a:endParaRPr sz="1600"/>
          </a:p>
          <a:p>
            <a:pPr indent="-330200" lvl="0" marL="457200" marR="0" rtl="0" algn="just">
              <a:lnSpc>
                <a:spcPct val="115000"/>
              </a:lnSpc>
              <a:spcBef>
                <a:spcPts val="0"/>
              </a:spcBef>
              <a:spcAft>
                <a:spcPts val="0"/>
              </a:spcAft>
              <a:buSzPts val="1600"/>
              <a:buChar char="-"/>
            </a:pPr>
            <a:r>
              <a:rPr lang="en-ID" sz="1600"/>
              <a:t>menggunakan pneumatic cylinder sebagai penggerak</a:t>
            </a:r>
            <a:endParaRPr sz="1600"/>
          </a:p>
          <a:p>
            <a:pPr indent="0" lvl="0" marL="0" marR="0" rtl="0" algn="just">
              <a:lnSpc>
                <a:spcPct val="115000"/>
              </a:lnSpc>
              <a:spcBef>
                <a:spcPts val="0"/>
              </a:spcBef>
              <a:spcAft>
                <a:spcPts val="0"/>
              </a:spcAft>
              <a:buNone/>
            </a:pPr>
            <a:r>
              <a:t/>
            </a:r>
            <a:endParaRPr sz="1600"/>
          </a:p>
          <a:p>
            <a:pPr indent="0" lvl="0" marL="0" marR="0" rtl="0" algn="l">
              <a:lnSpc>
                <a:spcPct val="115000"/>
              </a:lnSpc>
              <a:spcBef>
                <a:spcPts val="0"/>
              </a:spcBef>
              <a:spcAft>
                <a:spcPts val="0"/>
              </a:spcAft>
              <a:buNone/>
            </a:pPr>
            <a:r>
              <a:rPr lang="en-ID" sz="1600"/>
              <a:t>Link timeline: </a:t>
            </a:r>
            <a:r>
              <a:rPr lang="en-ID" sz="1600" u="sng">
                <a:solidFill>
                  <a:schemeClr val="hlink"/>
                </a:solidFill>
                <a:hlinkClick r:id="rId4"/>
              </a:rPr>
              <a:t>https://docs.google.com/spreadsheets/d/1uASMRgPzpYLvQbQxpWKci5oY7r-zxhoKANCmjxLM2Iw/edit?usp=sharing</a:t>
            </a:r>
            <a:endParaRPr sz="1600"/>
          </a:p>
        </p:txBody>
      </p:sp>
      <p:sp>
        <p:nvSpPr>
          <p:cNvPr id="450" name="Google Shape;450;p37"/>
          <p:cNvSpPr txBox="1"/>
          <p:nvPr/>
        </p:nvSpPr>
        <p:spPr>
          <a:xfrm>
            <a:off x="1198775" y="1445875"/>
            <a:ext cx="6719400" cy="4311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ID" sz="1600">
                <a:solidFill>
                  <a:schemeClr val="dk1"/>
                </a:solidFill>
              </a:rPr>
              <a:t>Melakukan Improvement untuk </a:t>
            </a:r>
            <a:r>
              <a:rPr lang="en-ID" sz="1600">
                <a:solidFill>
                  <a:schemeClr val="dk1"/>
                </a:solidFill>
              </a:rPr>
              <a:t>mengatasi</a:t>
            </a:r>
            <a:r>
              <a:rPr lang="en-ID" sz="1600">
                <a:solidFill>
                  <a:schemeClr val="dk1"/>
                </a:solidFill>
              </a:rPr>
              <a:t> agar plat tidak terbalik</a:t>
            </a:r>
            <a:endParaRPr sz="1600"/>
          </a:p>
        </p:txBody>
      </p:sp>
      <p:pic>
        <p:nvPicPr>
          <p:cNvPr id="451" name="Google Shape;451;p37"/>
          <p:cNvPicPr preferRelativeResize="0"/>
          <p:nvPr/>
        </p:nvPicPr>
        <p:blipFill>
          <a:blip r:embed="rId5">
            <a:alphaModFix/>
          </a:blip>
          <a:stretch>
            <a:fillRect/>
          </a:stretch>
        </p:blipFill>
        <p:spPr>
          <a:xfrm>
            <a:off x="745525" y="4279700"/>
            <a:ext cx="10700975" cy="213163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38"/>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8" name="Google Shape;458;p38"/>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59" name="Google Shape;459;p38"/>
          <p:cNvSpPr/>
          <p:nvPr/>
        </p:nvSpPr>
        <p:spPr>
          <a:xfrm>
            <a:off x="3457950" y="5241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graphicFrame>
        <p:nvGraphicFramePr>
          <p:cNvPr id="460" name="Google Shape;460;p38"/>
          <p:cNvGraphicFramePr/>
          <p:nvPr/>
        </p:nvGraphicFramePr>
        <p:xfrm>
          <a:off x="0" y="3225950"/>
          <a:ext cx="3000000" cy="3000000"/>
        </p:xfrm>
        <a:graphic>
          <a:graphicData uri="http://schemas.openxmlformats.org/drawingml/2006/table">
            <a:tbl>
              <a:tblPr>
                <a:noFill/>
                <a:tableStyleId>{F07E7156-9326-4E86-A50B-C3B2185A36B2}</a:tableStyleId>
              </a:tblPr>
              <a:tblGrid>
                <a:gridCol w="623400"/>
                <a:gridCol w="4705900"/>
                <a:gridCol w="1985900"/>
                <a:gridCol w="2438400"/>
                <a:gridCol w="2438400"/>
              </a:tblGrid>
              <a:tr h="325500">
                <a:tc>
                  <a:txBody>
                    <a:bodyPr/>
                    <a:lstStyle/>
                    <a:p>
                      <a:pPr indent="0" lvl="0" marL="0" rtl="0" algn="ctr">
                        <a:spcBef>
                          <a:spcPts val="0"/>
                        </a:spcBef>
                        <a:spcAft>
                          <a:spcPts val="0"/>
                        </a:spcAft>
                        <a:buNone/>
                      </a:pPr>
                      <a:r>
                        <a:rPr lang="en-ID"/>
                        <a:t>No.</a:t>
                      </a:r>
                      <a:endParaRPr/>
                    </a:p>
                  </a:txBody>
                  <a:tcPr marT="91425" marB="91425" marR="91425" marL="91425" anchor="ctr">
                    <a:solidFill>
                      <a:srgbClr val="00FFFF"/>
                    </a:solidFill>
                  </a:tcPr>
                </a:tc>
                <a:tc>
                  <a:txBody>
                    <a:bodyPr/>
                    <a:lstStyle/>
                    <a:p>
                      <a:pPr indent="0" lvl="0" marL="0" rtl="0" algn="ctr">
                        <a:spcBef>
                          <a:spcPts val="0"/>
                        </a:spcBef>
                        <a:spcAft>
                          <a:spcPts val="0"/>
                        </a:spcAft>
                        <a:buNone/>
                      </a:pPr>
                      <a:r>
                        <a:rPr lang="en-ID"/>
                        <a:t>Aktivitas</a:t>
                      </a:r>
                      <a:endParaRPr/>
                    </a:p>
                  </a:txBody>
                  <a:tcPr marT="91425" marB="91425" marR="91425" marL="91425" anchor="ctr">
                    <a:solidFill>
                      <a:srgbClr val="00FFFF"/>
                    </a:solidFill>
                  </a:tcPr>
                </a:tc>
                <a:tc>
                  <a:txBody>
                    <a:bodyPr/>
                    <a:lstStyle/>
                    <a:p>
                      <a:pPr indent="0" lvl="0" marL="0" rtl="0" algn="ctr">
                        <a:spcBef>
                          <a:spcPts val="0"/>
                        </a:spcBef>
                        <a:spcAft>
                          <a:spcPts val="0"/>
                        </a:spcAft>
                        <a:buNone/>
                      </a:pPr>
                      <a:r>
                        <a:rPr lang="en-ID"/>
                        <a:t>Periode (Plan)</a:t>
                      </a:r>
                      <a:endParaRPr/>
                    </a:p>
                  </a:txBody>
                  <a:tcPr marT="91425" marB="91425" marR="91425" marL="91425" anchor="ctr">
                    <a:solidFill>
                      <a:srgbClr val="00FFFF"/>
                    </a:solidFill>
                  </a:tcPr>
                </a:tc>
                <a:tc>
                  <a:txBody>
                    <a:bodyPr/>
                    <a:lstStyle/>
                    <a:p>
                      <a:pPr indent="0" lvl="0" marL="0" rtl="0" algn="ctr">
                        <a:spcBef>
                          <a:spcPts val="0"/>
                        </a:spcBef>
                        <a:spcAft>
                          <a:spcPts val="0"/>
                        </a:spcAft>
                        <a:buNone/>
                      </a:pPr>
                      <a:r>
                        <a:rPr lang="en-ID"/>
                        <a:t>Terlaksana</a:t>
                      </a:r>
                      <a:endParaRPr/>
                    </a:p>
                  </a:txBody>
                  <a:tcPr marT="91425" marB="91425" marR="91425" marL="91425" anchor="ctr">
                    <a:solidFill>
                      <a:srgbClr val="00FFFF"/>
                    </a:solidFill>
                  </a:tcPr>
                </a:tc>
                <a:tc>
                  <a:txBody>
                    <a:bodyPr/>
                    <a:lstStyle/>
                    <a:p>
                      <a:pPr indent="0" lvl="0" marL="0" rtl="0" algn="ctr">
                        <a:spcBef>
                          <a:spcPts val="0"/>
                        </a:spcBef>
                        <a:spcAft>
                          <a:spcPts val="0"/>
                        </a:spcAft>
                        <a:buNone/>
                      </a:pPr>
                      <a:r>
                        <a:rPr lang="en-ID"/>
                        <a:t>Catatan</a:t>
                      </a:r>
                      <a:endParaRPr/>
                    </a:p>
                  </a:txBody>
                  <a:tcPr marT="91425" marB="91425" marR="91425" marL="91425" anchor="ctr">
                    <a:solidFill>
                      <a:srgbClr val="00FFFF"/>
                    </a:solidFill>
                  </a:tcPr>
                </a:tc>
              </a:tr>
              <a:tr h="422600">
                <a:tc>
                  <a:txBody>
                    <a:bodyPr/>
                    <a:lstStyle/>
                    <a:p>
                      <a:pPr indent="0" lvl="0" marL="0" rtl="0" algn="l">
                        <a:spcBef>
                          <a:spcPts val="0"/>
                        </a:spcBef>
                        <a:spcAft>
                          <a:spcPts val="0"/>
                        </a:spcAft>
                        <a:buNone/>
                      </a:pPr>
                      <a:r>
                        <a:rPr lang="en-ID"/>
                        <a:t>1.</a:t>
                      </a:r>
                      <a:endParaRPr/>
                    </a:p>
                  </a:txBody>
                  <a:tcPr marT="91425" marB="91425" marR="91425" marL="91425"/>
                </a:tc>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Brainstorming bersama tim Process Development, Vendor Development, Produksi, dan Quality</a:t>
                      </a:r>
                      <a:endParaRPr sz="1300"/>
                    </a:p>
                  </a:txBody>
                  <a:tcPr marT="91425" marB="91425" marR="91425" marL="91425"/>
                </a:tc>
                <a:tc>
                  <a:txBody>
                    <a:bodyPr/>
                    <a:lstStyle/>
                    <a:p>
                      <a:pPr indent="0" lvl="0" marL="0" rtl="0" algn="ctr">
                        <a:spcBef>
                          <a:spcPts val="0"/>
                        </a:spcBef>
                        <a:spcAft>
                          <a:spcPts val="0"/>
                        </a:spcAft>
                        <a:buNone/>
                      </a:pPr>
                      <a:r>
                        <a:rPr b="1" lang="en-ID"/>
                        <a:t>1 - 3 Juli</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t>1 - 5 Juli</a:t>
                      </a:r>
                      <a:endParaRPr/>
                    </a:p>
                  </a:txBody>
                  <a:tcPr marT="91425" marB="91425" marR="91425" marL="91425" anchor="ctr">
                    <a:solidFill>
                      <a:srgbClr val="FFFF00"/>
                    </a:solidFill>
                  </a:tcPr>
                </a:tc>
                <a:tc>
                  <a:txBody>
                    <a:bodyPr/>
                    <a:lstStyle/>
                    <a:p>
                      <a:pPr indent="0" lvl="0" marL="0" rtl="0" algn="ctr">
                        <a:spcBef>
                          <a:spcPts val="0"/>
                        </a:spcBef>
                        <a:spcAft>
                          <a:spcPts val="0"/>
                        </a:spcAft>
                        <a:buNone/>
                      </a:pPr>
                      <a:r>
                        <a:rPr lang="en-ID"/>
                        <a:t>Stuck di meeting</a:t>
                      </a:r>
                      <a:endParaRPr/>
                    </a:p>
                  </a:txBody>
                  <a:tcPr marT="91425" marB="91425" marR="91425" marL="91425" anchor="ctr"/>
                </a:tc>
              </a:tr>
              <a:tr h="422600">
                <a:tc>
                  <a:txBody>
                    <a:bodyPr/>
                    <a:lstStyle/>
                    <a:p>
                      <a:pPr indent="0" lvl="0" marL="0" rtl="0" algn="l">
                        <a:spcBef>
                          <a:spcPts val="0"/>
                        </a:spcBef>
                        <a:spcAft>
                          <a:spcPts val="0"/>
                        </a:spcAft>
                        <a:buNone/>
                      </a:pPr>
                      <a:r>
                        <a:rPr lang="en-ID"/>
                        <a:t>2.</a:t>
                      </a:r>
                      <a:endParaRPr/>
                    </a:p>
                  </a:txBody>
                  <a:tcPr marT="91425" marB="91425" marR="91425" marL="91425"/>
                </a:tc>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Evaluasi konsep akhir bersama tim Process Development, vendor development, produksi, dan quality</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3 - 11 Juli</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t>3 - 11 Juli</a:t>
                      </a:r>
                      <a:endParaRPr/>
                    </a:p>
                  </a:txBody>
                  <a:tcPr marT="91425" marB="91425" marR="91425" marL="91425" anchor="ctr">
                    <a:solidFill>
                      <a:srgbClr val="FFFF00"/>
                    </a:solidFill>
                  </a:tcPr>
                </a:tc>
                <a:tc>
                  <a:txBody>
                    <a:bodyPr/>
                    <a:lstStyle/>
                    <a:p>
                      <a:pPr indent="0" lvl="0" marL="0" rtl="0" algn="ctr">
                        <a:spcBef>
                          <a:spcPts val="0"/>
                        </a:spcBef>
                        <a:spcAft>
                          <a:spcPts val="0"/>
                        </a:spcAft>
                        <a:buNone/>
                      </a:pPr>
                      <a:r>
                        <a:rPr lang="en-ID"/>
                        <a:t>Paralel seiring menunggu keputusan brainstorming</a:t>
                      </a:r>
                      <a:endParaRPr/>
                    </a:p>
                  </a:txBody>
                  <a:tcPr marT="91425" marB="91425" marR="91425" marL="91425"/>
                </a:tc>
              </a:tr>
              <a:tr h="422600">
                <a:tc>
                  <a:txBody>
                    <a:bodyPr/>
                    <a:lstStyle/>
                    <a:p>
                      <a:pPr indent="0" lvl="0" marL="0" rtl="0" algn="l">
                        <a:spcBef>
                          <a:spcPts val="0"/>
                        </a:spcBef>
                        <a:spcAft>
                          <a:spcPts val="0"/>
                        </a:spcAft>
                        <a:buNone/>
                      </a:pPr>
                      <a:r>
                        <a:rPr lang="en-ID"/>
                        <a:t>3.</a:t>
                      </a:r>
                      <a:endParaRPr/>
                    </a:p>
                  </a:txBody>
                  <a:tcPr marT="91425" marB="91425" marR="91425" marL="91425"/>
                </a:tc>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PDCA design dan evaluasi</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12 - 26 Juli</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t>12 - 26 Juli</a:t>
                      </a:r>
                      <a:endParaRPr/>
                    </a:p>
                  </a:txBody>
                  <a:tcPr marT="91425" marB="91425" marR="91425" marL="91425" anchor="ctr">
                    <a:solidFill>
                      <a:srgbClr val="00FF00"/>
                    </a:solidFill>
                  </a:tcPr>
                </a:tc>
                <a:tc>
                  <a:txBody>
                    <a:bodyPr/>
                    <a:lstStyle/>
                    <a:p>
                      <a:pPr indent="0" lvl="0" marL="0" rtl="0" algn="ctr">
                        <a:spcBef>
                          <a:spcPts val="0"/>
                        </a:spcBef>
                        <a:spcAft>
                          <a:spcPts val="0"/>
                        </a:spcAft>
                        <a:buNone/>
                      </a:pPr>
                      <a:r>
                        <a:rPr lang="en-ID"/>
                        <a:t>-</a:t>
                      </a:r>
                      <a:endParaRPr/>
                    </a:p>
                  </a:txBody>
                  <a:tcPr marT="91425" marB="91425" marR="91425" marL="91425"/>
                </a:tc>
              </a:tr>
              <a:tr h="422600">
                <a:tc>
                  <a:txBody>
                    <a:bodyPr/>
                    <a:lstStyle/>
                    <a:p>
                      <a:pPr indent="0" lvl="0" marL="0" rtl="0" algn="l">
                        <a:spcBef>
                          <a:spcPts val="0"/>
                        </a:spcBef>
                        <a:spcAft>
                          <a:spcPts val="0"/>
                        </a:spcAft>
                        <a:buNone/>
                      </a:pPr>
                      <a:r>
                        <a:rPr lang="en-ID"/>
                        <a:t>4.</a:t>
                      </a:r>
                      <a:endParaRPr/>
                    </a:p>
                  </a:txBody>
                  <a:tcPr marT="91425" marB="91425" marR="91425" marL="91425"/>
                </a:tc>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Manufaktur produk (Include assembling)</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29 Juli - 14 Agustus</a:t>
                      </a:r>
                      <a:endParaRPr b="1"/>
                    </a:p>
                  </a:txBody>
                  <a:tcPr marT="91425" marB="91425" marR="91425" marL="91425" anchor="ctr">
                    <a:solidFill>
                      <a:srgbClr val="00FF00"/>
                    </a:solidFill>
                  </a:tcPr>
                </a:tc>
                <a:tc>
                  <a:txBody>
                    <a:bodyPr/>
                    <a:lstStyle/>
                    <a:p>
                      <a:pPr indent="0" lvl="0" marL="0" rtl="0" algn="ctr">
                        <a:spcBef>
                          <a:spcPts val="0"/>
                        </a:spcBef>
                        <a:spcAft>
                          <a:spcPts val="0"/>
                        </a:spcAft>
                        <a:buClr>
                          <a:schemeClr val="dk1"/>
                        </a:buClr>
                        <a:buSzPts val="1100"/>
                        <a:buFont typeface="Arial"/>
                        <a:buNone/>
                      </a:pPr>
                      <a:r>
                        <a:rPr lang="en-ID">
                          <a:solidFill>
                            <a:schemeClr val="dk1"/>
                          </a:solidFill>
                        </a:rPr>
                        <a:t>29 Juli - Sekarang</a:t>
                      </a:r>
                      <a:endParaRPr/>
                    </a:p>
                  </a:txBody>
                  <a:tcPr marT="91425" marB="91425" marR="91425" marL="91425">
                    <a:solidFill>
                      <a:srgbClr val="00FF00"/>
                    </a:solidFill>
                  </a:tcPr>
                </a:tc>
                <a:tc>
                  <a:txBody>
                    <a:bodyPr/>
                    <a:lstStyle/>
                    <a:p>
                      <a:pPr indent="0" lvl="0" marL="0" rtl="0" algn="ctr">
                        <a:spcBef>
                          <a:spcPts val="0"/>
                        </a:spcBef>
                        <a:spcAft>
                          <a:spcPts val="0"/>
                        </a:spcAft>
                        <a:buNone/>
                      </a:pPr>
                      <a:r>
                        <a:rPr lang="en-ID"/>
                        <a:t> On progress</a:t>
                      </a:r>
                      <a:endParaRPr/>
                    </a:p>
                  </a:txBody>
                  <a:tcPr marT="91425" marB="91425" marR="91425" marL="91425" anchor="ctr"/>
                </a:tc>
              </a:tr>
              <a:tr h="422600">
                <a:tc>
                  <a:txBody>
                    <a:bodyPr/>
                    <a:lstStyle/>
                    <a:p>
                      <a:pPr indent="0" lvl="0" marL="0" rtl="0" algn="l">
                        <a:spcBef>
                          <a:spcPts val="0"/>
                        </a:spcBef>
                        <a:spcAft>
                          <a:spcPts val="0"/>
                        </a:spcAft>
                        <a:buNone/>
                      </a:pPr>
                      <a:r>
                        <a:rPr lang="en-ID"/>
                        <a:t>5.</a:t>
                      </a:r>
                      <a:endParaRPr/>
                    </a:p>
                  </a:txBody>
                  <a:tcPr marT="91425" marB="91425" marR="91425" marL="91425"/>
                </a:tc>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Instalasi + Trial</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15 - 20 Agustus</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t>Belum dimulai</a:t>
                      </a:r>
                      <a:endParaRPr/>
                    </a:p>
                  </a:txBody>
                  <a:tcPr marT="91425" marB="91425" marR="91425" marL="91425" anchor="ctr"/>
                </a:tc>
                <a:tc>
                  <a:txBody>
                    <a:bodyPr/>
                    <a:lstStyle/>
                    <a:p>
                      <a:pPr indent="0" lvl="0" marL="0" rtl="0" algn="ctr">
                        <a:spcBef>
                          <a:spcPts val="0"/>
                        </a:spcBef>
                        <a:spcAft>
                          <a:spcPts val="0"/>
                        </a:spcAft>
                        <a:buNone/>
                      </a:pPr>
                      <a:r>
                        <a:rPr lang="en-ID"/>
                        <a:t>-</a:t>
                      </a:r>
                      <a:endParaRPr/>
                    </a:p>
                  </a:txBody>
                  <a:tcPr marT="91425" marB="91425" marR="91425" marL="91425" anchor="ctr"/>
                </a:tc>
              </a:tr>
              <a:tr h="422600">
                <a:tc>
                  <a:txBody>
                    <a:bodyPr/>
                    <a:lstStyle/>
                    <a:p>
                      <a:pPr indent="0" lvl="0" marL="0" rtl="0" algn="l">
                        <a:spcBef>
                          <a:spcPts val="0"/>
                        </a:spcBef>
                        <a:spcAft>
                          <a:spcPts val="0"/>
                        </a:spcAft>
                        <a:buNone/>
                      </a:pPr>
                      <a:r>
                        <a:rPr lang="en-ID"/>
                        <a:t>6.</a:t>
                      </a:r>
                      <a:endParaRPr/>
                    </a:p>
                  </a:txBody>
                  <a:tcPr marT="91425" marB="91425" marR="91425" marL="91425"/>
                </a:tc>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monitoring, endurance, durability test </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21 - 23 Agustus</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t>Belum dimulai</a:t>
                      </a:r>
                      <a:endParaRPr/>
                    </a:p>
                  </a:txBody>
                  <a:tcPr marT="91425" marB="91425" marR="91425" marL="91425" anchor="ctr"/>
                </a:tc>
                <a:tc>
                  <a:txBody>
                    <a:bodyPr/>
                    <a:lstStyle/>
                    <a:p>
                      <a:pPr indent="0" lvl="0" marL="0" rtl="0" algn="ctr">
                        <a:spcBef>
                          <a:spcPts val="0"/>
                        </a:spcBef>
                        <a:spcAft>
                          <a:spcPts val="0"/>
                        </a:spcAft>
                        <a:buNone/>
                      </a:pPr>
                      <a:r>
                        <a:rPr lang="en-ID"/>
                        <a:t>-</a:t>
                      </a:r>
                      <a:endParaRPr/>
                    </a:p>
                  </a:txBody>
                  <a:tcPr marT="91425" marB="91425" marR="91425" marL="91425" anchor="ctr"/>
                </a:tc>
              </a:tr>
            </a:tbl>
          </a:graphicData>
        </a:graphic>
      </p:graphicFrame>
      <p:pic>
        <p:nvPicPr>
          <p:cNvPr id="461" name="Google Shape;461;p38"/>
          <p:cNvPicPr preferRelativeResize="0"/>
          <p:nvPr/>
        </p:nvPicPr>
        <p:blipFill>
          <a:blip r:embed="rId3">
            <a:alphaModFix/>
          </a:blip>
          <a:stretch>
            <a:fillRect/>
          </a:stretch>
        </p:blipFill>
        <p:spPr>
          <a:xfrm>
            <a:off x="510237" y="1000575"/>
            <a:ext cx="11171527" cy="2225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p39"/>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68" name="Google Shape;468;p39"/>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69" name="Google Shape;469;p39"/>
          <p:cNvSpPr txBox="1"/>
          <p:nvPr/>
        </p:nvSpPr>
        <p:spPr>
          <a:xfrm>
            <a:off x="623400" y="12091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c.	</a:t>
            </a:r>
            <a:r>
              <a:rPr b="1" lang="en-ID" sz="2000">
                <a:solidFill>
                  <a:schemeClr val="dk1"/>
                </a:solidFill>
                <a:latin typeface="Calibri"/>
                <a:ea typeface="Calibri"/>
                <a:cs typeface="Calibri"/>
                <a:sym typeface="Calibri"/>
              </a:rPr>
              <a:t>Improvement Activities</a:t>
            </a:r>
            <a:endParaRPr b="1" sz="1200"/>
          </a:p>
        </p:txBody>
      </p:sp>
      <p:sp>
        <p:nvSpPr>
          <p:cNvPr id="470" name="Google Shape;470;p39"/>
          <p:cNvSpPr/>
          <p:nvPr/>
        </p:nvSpPr>
        <p:spPr>
          <a:xfrm>
            <a:off x="3457950" y="8289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471" name="Google Shape;471;p39"/>
          <p:cNvSpPr txBox="1"/>
          <p:nvPr/>
        </p:nvSpPr>
        <p:spPr>
          <a:xfrm>
            <a:off x="623400" y="2001650"/>
            <a:ext cx="3678000" cy="20379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Melakukan PDCA ke-1 bersama tim:</a:t>
            </a:r>
            <a:endParaRPr sz="1600"/>
          </a:p>
          <a:p>
            <a:pPr indent="-330200" lvl="0" marL="457200" marR="0" rtl="0" algn="l">
              <a:lnSpc>
                <a:spcPct val="115000"/>
              </a:lnSpc>
              <a:spcBef>
                <a:spcPts val="0"/>
              </a:spcBef>
              <a:spcAft>
                <a:spcPts val="0"/>
              </a:spcAft>
              <a:buSzPts val="1600"/>
              <a:buChar char="-"/>
            </a:pPr>
            <a:r>
              <a:rPr lang="en-ID" sz="1600"/>
              <a:t>Process development</a:t>
            </a:r>
            <a:endParaRPr sz="1600"/>
          </a:p>
          <a:p>
            <a:pPr indent="-330200" lvl="0" marL="457200" marR="0" rtl="0" algn="l">
              <a:lnSpc>
                <a:spcPct val="115000"/>
              </a:lnSpc>
              <a:spcBef>
                <a:spcPts val="0"/>
              </a:spcBef>
              <a:spcAft>
                <a:spcPts val="0"/>
              </a:spcAft>
              <a:buSzPts val="1600"/>
              <a:buChar char="-"/>
            </a:pPr>
            <a:r>
              <a:rPr lang="en-ID" sz="1600"/>
              <a:t>Product development</a:t>
            </a:r>
            <a:endParaRPr sz="1600"/>
          </a:p>
          <a:p>
            <a:pPr indent="-330200" lvl="0" marL="457200" marR="0" rtl="0" algn="l">
              <a:lnSpc>
                <a:spcPct val="115000"/>
              </a:lnSpc>
              <a:spcBef>
                <a:spcPts val="0"/>
              </a:spcBef>
              <a:spcAft>
                <a:spcPts val="0"/>
              </a:spcAft>
              <a:buSzPts val="1600"/>
              <a:buChar char="-"/>
            </a:pPr>
            <a:r>
              <a:rPr lang="en-ID" sz="1600"/>
              <a:t>Vendor development</a:t>
            </a:r>
            <a:endParaRPr sz="1600"/>
          </a:p>
          <a:p>
            <a:pPr indent="-330200" lvl="0" marL="457200" marR="0" rtl="0" algn="l">
              <a:lnSpc>
                <a:spcPct val="115000"/>
              </a:lnSpc>
              <a:spcBef>
                <a:spcPts val="0"/>
              </a:spcBef>
              <a:spcAft>
                <a:spcPts val="0"/>
              </a:spcAft>
              <a:buSzPts val="1600"/>
              <a:buChar char="-"/>
            </a:pPr>
            <a:r>
              <a:rPr lang="en-ID" sz="1600"/>
              <a:t>Quality</a:t>
            </a:r>
            <a:endParaRPr sz="1600"/>
          </a:p>
          <a:p>
            <a:pPr indent="-330200" lvl="0" marL="457200" marR="0" rtl="0" algn="l">
              <a:lnSpc>
                <a:spcPct val="115000"/>
              </a:lnSpc>
              <a:spcBef>
                <a:spcPts val="0"/>
              </a:spcBef>
              <a:spcAft>
                <a:spcPts val="0"/>
              </a:spcAft>
              <a:buSzPts val="1600"/>
              <a:buChar char="-"/>
            </a:pPr>
            <a:r>
              <a:rPr lang="en-ID" sz="1600"/>
              <a:t>Production</a:t>
            </a:r>
            <a:endParaRPr sz="1600"/>
          </a:p>
          <a:p>
            <a:pPr indent="-330200" lvl="0" marL="457200" marR="0" rtl="0" algn="l">
              <a:lnSpc>
                <a:spcPct val="115000"/>
              </a:lnSpc>
              <a:spcBef>
                <a:spcPts val="0"/>
              </a:spcBef>
              <a:spcAft>
                <a:spcPts val="0"/>
              </a:spcAft>
              <a:buSzPts val="1600"/>
              <a:buChar char="-"/>
            </a:pPr>
            <a:r>
              <a:rPr lang="en-ID" sz="1600"/>
              <a:t>MWT (Vendor)</a:t>
            </a:r>
            <a:endParaRPr sz="1600"/>
          </a:p>
        </p:txBody>
      </p:sp>
      <p:sp>
        <p:nvSpPr>
          <p:cNvPr id="472" name="Google Shape;472;p39"/>
          <p:cNvSpPr txBox="1"/>
          <p:nvPr/>
        </p:nvSpPr>
        <p:spPr>
          <a:xfrm>
            <a:off x="623400" y="4256275"/>
            <a:ext cx="4950600" cy="1471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Hasil PDCA 1:</a:t>
            </a:r>
            <a:endParaRPr sz="1600"/>
          </a:p>
          <a:p>
            <a:pPr indent="0" lvl="0" marL="0" marR="0" rtl="0" algn="l">
              <a:lnSpc>
                <a:spcPct val="115000"/>
              </a:lnSpc>
              <a:spcBef>
                <a:spcPts val="0"/>
              </a:spcBef>
              <a:spcAft>
                <a:spcPts val="0"/>
              </a:spcAft>
              <a:buNone/>
            </a:pPr>
            <a:r>
              <a:t/>
            </a:r>
            <a:endParaRPr sz="1600"/>
          </a:p>
          <a:p>
            <a:pPr indent="-330200" lvl="0" marL="457200" marR="0" rtl="0" algn="l">
              <a:lnSpc>
                <a:spcPct val="115000"/>
              </a:lnSpc>
              <a:spcBef>
                <a:spcPts val="0"/>
              </a:spcBef>
              <a:spcAft>
                <a:spcPts val="0"/>
              </a:spcAft>
              <a:buSzPts val="1600"/>
              <a:buChar char="●"/>
            </a:pPr>
            <a:r>
              <a:rPr lang="en-ID" sz="1600"/>
              <a:t>Revisi design</a:t>
            </a:r>
            <a:endParaRPr sz="1600"/>
          </a:p>
          <a:p>
            <a:pPr indent="-330200" lvl="0" marL="457200" marR="0" rtl="0" algn="l">
              <a:lnSpc>
                <a:spcPct val="115000"/>
              </a:lnSpc>
              <a:spcBef>
                <a:spcPts val="0"/>
              </a:spcBef>
              <a:spcAft>
                <a:spcPts val="0"/>
              </a:spcAft>
              <a:buSzPts val="1600"/>
              <a:buChar char="●"/>
            </a:pPr>
            <a:r>
              <a:rPr lang="en-ID" sz="1600"/>
              <a:t>Revisi mekanisme</a:t>
            </a:r>
            <a:endParaRPr sz="1600"/>
          </a:p>
          <a:p>
            <a:pPr indent="-330200" lvl="0" marL="457200" marR="0" rtl="0" algn="l">
              <a:lnSpc>
                <a:spcPct val="115000"/>
              </a:lnSpc>
              <a:spcBef>
                <a:spcPts val="0"/>
              </a:spcBef>
              <a:spcAft>
                <a:spcPts val="0"/>
              </a:spcAft>
              <a:buSzPts val="1600"/>
              <a:buChar char="●"/>
            </a:pPr>
            <a:r>
              <a:rPr lang="en-ID" sz="1600"/>
              <a:t>Pertimbangkan kekurangan dan kelebihannya</a:t>
            </a:r>
            <a:endParaRPr sz="1600"/>
          </a:p>
        </p:txBody>
      </p:sp>
      <p:pic>
        <p:nvPicPr>
          <p:cNvPr id="473" name="Google Shape;473;p39"/>
          <p:cNvPicPr preferRelativeResize="0"/>
          <p:nvPr/>
        </p:nvPicPr>
        <p:blipFill rotWithShape="1">
          <a:blip r:embed="rId3">
            <a:alphaModFix/>
          </a:blip>
          <a:srcRect b="0" l="2799" r="0" t="0"/>
          <a:stretch/>
        </p:blipFill>
        <p:spPr>
          <a:xfrm>
            <a:off x="6414650" y="1590150"/>
            <a:ext cx="3678000" cy="2966887"/>
          </a:xfrm>
          <a:prstGeom prst="rect">
            <a:avLst/>
          </a:prstGeom>
          <a:noFill/>
          <a:ln>
            <a:noFill/>
          </a:ln>
        </p:spPr>
      </p:pic>
      <p:sp>
        <p:nvSpPr>
          <p:cNvPr id="474" name="Google Shape;474;p39"/>
          <p:cNvSpPr txBox="1"/>
          <p:nvPr/>
        </p:nvSpPr>
        <p:spPr>
          <a:xfrm>
            <a:off x="6273250" y="4833625"/>
            <a:ext cx="4950600" cy="905100"/>
          </a:xfrm>
          <a:prstGeom prst="rect">
            <a:avLst/>
          </a:prstGeom>
          <a:noFill/>
          <a:ln>
            <a:noFill/>
          </a:ln>
        </p:spPr>
        <p:txBody>
          <a:bodyPr anchorCtr="0" anchor="t" bIns="45700" lIns="91425" spcFirstLastPara="1" rIns="91425" wrap="square" tIns="45700">
            <a:spAutoFit/>
          </a:bodyPr>
          <a:lstStyle/>
          <a:p>
            <a:pPr indent="-330200" lvl="0" marL="457200" marR="0" rtl="0" algn="l">
              <a:lnSpc>
                <a:spcPct val="115000"/>
              </a:lnSpc>
              <a:spcBef>
                <a:spcPts val="0"/>
              </a:spcBef>
              <a:spcAft>
                <a:spcPts val="0"/>
              </a:spcAft>
              <a:buSzPts val="1600"/>
              <a:buChar char="●"/>
            </a:pPr>
            <a:r>
              <a:rPr lang="en-ID" sz="1600"/>
              <a:t>Coba kurangi handling operator </a:t>
            </a:r>
            <a:endParaRPr sz="1600"/>
          </a:p>
          <a:p>
            <a:pPr indent="-330200" lvl="0" marL="457200" marR="0" rtl="0" algn="l">
              <a:lnSpc>
                <a:spcPct val="115000"/>
              </a:lnSpc>
              <a:spcBef>
                <a:spcPts val="0"/>
              </a:spcBef>
              <a:spcAft>
                <a:spcPts val="0"/>
              </a:spcAft>
              <a:buSzPts val="1600"/>
              <a:buChar char="●"/>
            </a:pPr>
            <a:r>
              <a:rPr lang="en-ID" sz="1600"/>
              <a:t>Sulit loading plat kedalam magazine</a:t>
            </a:r>
            <a:endParaRPr sz="1600"/>
          </a:p>
          <a:p>
            <a:pPr indent="-330200" lvl="0" marL="457200" rtl="0" algn="l">
              <a:lnSpc>
                <a:spcPct val="115000"/>
              </a:lnSpc>
              <a:spcBef>
                <a:spcPts val="0"/>
              </a:spcBef>
              <a:spcAft>
                <a:spcPts val="0"/>
              </a:spcAft>
              <a:buSzPts val="1600"/>
              <a:buChar char="●"/>
            </a:pPr>
            <a:r>
              <a:rPr lang="en-ID" sz="1600">
                <a:solidFill>
                  <a:schemeClr val="dk1"/>
                </a:solidFill>
              </a:rPr>
              <a:t>Vendor tidak setuju</a:t>
            </a:r>
            <a:endParaRPr sz="16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0"/>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81" name="Google Shape;481;p40"/>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82" name="Google Shape;482;p40"/>
          <p:cNvSpPr txBox="1"/>
          <p:nvPr/>
        </p:nvSpPr>
        <p:spPr>
          <a:xfrm>
            <a:off x="623400" y="11329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c.	Improvement Activities</a:t>
            </a:r>
            <a:endParaRPr b="1" sz="1200"/>
          </a:p>
        </p:txBody>
      </p:sp>
      <p:sp>
        <p:nvSpPr>
          <p:cNvPr id="483" name="Google Shape;483;p40"/>
          <p:cNvSpPr/>
          <p:nvPr/>
        </p:nvSpPr>
        <p:spPr>
          <a:xfrm>
            <a:off x="3457950" y="6003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484" name="Google Shape;484;p40"/>
          <p:cNvSpPr txBox="1"/>
          <p:nvPr/>
        </p:nvSpPr>
        <p:spPr>
          <a:xfrm>
            <a:off x="623400" y="1620650"/>
            <a:ext cx="3678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Design baru setelah PDCA 1</a:t>
            </a:r>
            <a:endParaRPr sz="1600"/>
          </a:p>
        </p:txBody>
      </p:sp>
      <p:pic>
        <p:nvPicPr>
          <p:cNvPr id="485" name="Google Shape;485;p40"/>
          <p:cNvPicPr preferRelativeResize="0"/>
          <p:nvPr/>
        </p:nvPicPr>
        <p:blipFill>
          <a:blip r:embed="rId3">
            <a:alphaModFix/>
          </a:blip>
          <a:stretch>
            <a:fillRect/>
          </a:stretch>
        </p:blipFill>
        <p:spPr>
          <a:xfrm>
            <a:off x="962775" y="2046854"/>
            <a:ext cx="4575125" cy="3227421"/>
          </a:xfrm>
          <a:prstGeom prst="rect">
            <a:avLst/>
          </a:prstGeom>
          <a:noFill/>
          <a:ln>
            <a:noFill/>
          </a:ln>
        </p:spPr>
      </p:pic>
      <p:sp>
        <p:nvSpPr>
          <p:cNvPr id="486" name="Google Shape;486;p40"/>
          <p:cNvSpPr/>
          <p:nvPr/>
        </p:nvSpPr>
        <p:spPr>
          <a:xfrm>
            <a:off x="612300" y="5503885"/>
            <a:ext cx="5276100" cy="8367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1" lang="en-ID" sz="1800">
                <a:solidFill>
                  <a:srgbClr val="3F3F3F"/>
                </a:solidFill>
                <a:latin typeface="Microsoft Yahei"/>
                <a:ea typeface="Microsoft Yahei"/>
                <a:cs typeface="Microsoft Yahei"/>
                <a:sym typeface="Microsoft Yahei"/>
              </a:rPr>
              <a:t>Design 1</a:t>
            </a:r>
            <a:endParaRPr b="1" sz="1800">
              <a:solidFill>
                <a:srgbClr val="3F3F3F"/>
              </a:solidFill>
              <a:latin typeface="Microsoft Yahei"/>
              <a:ea typeface="Microsoft Yahei"/>
              <a:cs typeface="Microsoft Yahei"/>
              <a:sym typeface="Microsoft Yahei"/>
            </a:endParaRPr>
          </a:p>
          <a:p>
            <a:pPr indent="0" lvl="0" marL="0" marR="0" rtl="0" algn="ctr">
              <a:spcBef>
                <a:spcPts val="0"/>
              </a:spcBef>
              <a:spcAft>
                <a:spcPts val="0"/>
              </a:spcAft>
              <a:buNone/>
            </a:pPr>
            <a:r>
              <a:rPr b="1" lang="en-ID">
                <a:solidFill>
                  <a:srgbClr val="3F3F3F"/>
                </a:solidFill>
                <a:latin typeface="Microsoft Yahei"/>
                <a:ea typeface="Microsoft Yahei"/>
                <a:cs typeface="Microsoft Yahei"/>
                <a:sym typeface="Microsoft Yahei"/>
              </a:rPr>
              <a:t>(Magazine plat)</a:t>
            </a:r>
            <a:endParaRPr b="1">
              <a:solidFill>
                <a:srgbClr val="3F3F3F"/>
              </a:solidFill>
              <a:latin typeface="Microsoft Yahei"/>
              <a:ea typeface="Microsoft Yahei"/>
              <a:cs typeface="Microsoft Yahei"/>
              <a:sym typeface="Microsoft Yahei"/>
            </a:endParaRPr>
          </a:p>
        </p:txBody>
      </p:sp>
      <p:pic>
        <p:nvPicPr>
          <p:cNvPr id="487" name="Google Shape;487;p40"/>
          <p:cNvPicPr preferRelativeResize="0"/>
          <p:nvPr/>
        </p:nvPicPr>
        <p:blipFill>
          <a:blip r:embed="rId4">
            <a:alphaModFix/>
          </a:blip>
          <a:stretch>
            <a:fillRect/>
          </a:stretch>
        </p:blipFill>
        <p:spPr>
          <a:xfrm>
            <a:off x="6563875" y="1974712"/>
            <a:ext cx="5095200" cy="3371702"/>
          </a:xfrm>
          <a:prstGeom prst="rect">
            <a:avLst/>
          </a:prstGeom>
          <a:noFill/>
          <a:ln>
            <a:noFill/>
          </a:ln>
        </p:spPr>
      </p:pic>
      <p:sp>
        <p:nvSpPr>
          <p:cNvPr id="488" name="Google Shape;488;p40"/>
          <p:cNvSpPr/>
          <p:nvPr/>
        </p:nvSpPr>
        <p:spPr>
          <a:xfrm>
            <a:off x="6473425" y="5503883"/>
            <a:ext cx="5276100" cy="7659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1" lang="en-ID" sz="1800">
                <a:solidFill>
                  <a:srgbClr val="3F3F3F"/>
                </a:solidFill>
                <a:latin typeface="Microsoft Yahei"/>
                <a:ea typeface="Microsoft Yahei"/>
                <a:cs typeface="Microsoft Yahei"/>
                <a:sym typeface="Microsoft Yahei"/>
              </a:rPr>
              <a:t>Design 2</a:t>
            </a:r>
            <a:endParaRPr b="1" sz="1800">
              <a:solidFill>
                <a:srgbClr val="3F3F3F"/>
              </a:solidFill>
              <a:latin typeface="Microsoft Yahei"/>
              <a:ea typeface="Microsoft Yahei"/>
              <a:cs typeface="Microsoft Yahei"/>
              <a:sym typeface="Microsoft Yahei"/>
            </a:endParaRPr>
          </a:p>
          <a:p>
            <a:pPr indent="0" lvl="0" marL="0" marR="0" rtl="0" algn="ctr">
              <a:lnSpc>
                <a:spcPct val="150000"/>
              </a:lnSpc>
              <a:spcBef>
                <a:spcPts val="0"/>
              </a:spcBef>
              <a:spcAft>
                <a:spcPts val="0"/>
              </a:spcAft>
              <a:buNone/>
            </a:pPr>
            <a:r>
              <a:rPr b="1" lang="en-ID">
                <a:solidFill>
                  <a:srgbClr val="3F3F3F"/>
                </a:solidFill>
                <a:latin typeface="Microsoft Yahei"/>
                <a:ea typeface="Microsoft Yahei"/>
                <a:cs typeface="Microsoft Yahei"/>
                <a:sym typeface="Microsoft Yahei"/>
              </a:rPr>
              <a:t>(Bowl Feeder)</a:t>
            </a:r>
            <a:endParaRPr b="1">
              <a:solidFill>
                <a:srgbClr val="3F3F3F"/>
              </a:solidFill>
              <a:latin typeface="Microsoft Yahei"/>
              <a:ea typeface="Microsoft Yahei"/>
              <a:cs typeface="Microsoft Yahei"/>
              <a:sym typeface="Microsoft Yahe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1"/>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5" name="Google Shape;495;p41"/>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496" name="Google Shape;496;p41"/>
          <p:cNvSpPr txBox="1"/>
          <p:nvPr/>
        </p:nvSpPr>
        <p:spPr>
          <a:xfrm>
            <a:off x="623400" y="12091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c.	Improvement Activities</a:t>
            </a:r>
            <a:endParaRPr b="1" sz="1200"/>
          </a:p>
        </p:txBody>
      </p:sp>
      <p:sp>
        <p:nvSpPr>
          <p:cNvPr id="497" name="Google Shape;497;p41"/>
          <p:cNvSpPr/>
          <p:nvPr/>
        </p:nvSpPr>
        <p:spPr>
          <a:xfrm>
            <a:off x="3457950" y="8289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498" name="Google Shape;498;p41"/>
          <p:cNvSpPr txBox="1"/>
          <p:nvPr/>
        </p:nvSpPr>
        <p:spPr>
          <a:xfrm>
            <a:off x="623400" y="4484875"/>
            <a:ext cx="4950600" cy="1471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Hasil PDCA 2:</a:t>
            </a:r>
            <a:endParaRPr sz="1600"/>
          </a:p>
          <a:p>
            <a:pPr indent="0" lvl="0" marL="0" marR="0" rtl="0" algn="l">
              <a:lnSpc>
                <a:spcPct val="115000"/>
              </a:lnSpc>
              <a:spcBef>
                <a:spcPts val="0"/>
              </a:spcBef>
              <a:spcAft>
                <a:spcPts val="0"/>
              </a:spcAft>
              <a:buNone/>
            </a:pPr>
            <a:r>
              <a:rPr lang="en-ID" sz="1600"/>
              <a:t>Design 1:</a:t>
            </a:r>
            <a:endParaRPr sz="1600"/>
          </a:p>
          <a:p>
            <a:pPr indent="-330200" lvl="0" marL="457200" marR="0" rtl="0" algn="l">
              <a:lnSpc>
                <a:spcPct val="115000"/>
              </a:lnSpc>
              <a:spcBef>
                <a:spcPts val="0"/>
              </a:spcBef>
              <a:spcAft>
                <a:spcPts val="0"/>
              </a:spcAft>
              <a:buSzPts val="1600"/>
              <a:buChar char="●"/>
            </a:pPr>
            <a:r>
              <a:rPr lang="en-ID" sz="1600"/>
              <a:t>Vendor tidak menyetujui penyusunan plat</a:t>
            </a:r>
            <a:endParaRPr sz="1600"/>
          </a:p>
          <a:p>
            <a:pPr indent="-330200" lvl="0" marL="457200" marR="0" rtl="0" algn="l">
              <a:lnSpc>
                <a:spcPct val="115000"/>
              </a:lnSpc>
              <a:spcBef>
                <a:spcPts val="0"/>
              </a:spcBef>
              <a:spcAft>
                <a:spcPts val="0"/>
              </a:spcAft>
              <a:buSzPts val="1600"/>
              <a:buChar char="●"/>
            </a:pPr>
            <a:r>
              <a:rPr lang="en-ID" sz="1600"/>
              <a:t>Positioning gear belum menemukan datum</a:t>
            </a:r>
            <a:endParaRPr sz="1600"/>
          </a:p>
          <a:p>
            <a:pPr indent="-330200" lvl="0" marL="457200" marR="0" rtl="0" algn="l">
              <a:lnSpc>
                <a:spcPct val="115000"/>
              </a:lnSpc>
              <a:spcBef>
                <a:spcPts val="0"/>
              </a:spcBef>
              <a:spcAft>
                <a:spcPts val="0"/>
              </a:spcAft>
              <a:buSzPts val="1600"/>
              <a:buChar char="●"/>
            </a:pPr>
            <a:r>
              <a:rPr lang="en-ID" sz="1600"/>
              <a:t>Produksi magazine terlalu mahal</a:t>
            </a:r>
            <a:endParaRPr sz="1600"/>
          </a:p>
        </p:txBody>
      </p:sp>
      <p:pic>
        <p:nvPicPr>
          <p:cNvPr id="499" name="Google Shape;499;p41"/>
          <p:cNvPicPr preferRelativeResize="0"/>
          <p:nvPr/>
        </p:nvPicPr>
        <p:blipFill>
          <a:blip r:embed="rId3">
            <a:alphaModFix/>
          </a:blip>
          <a:stretch>
            <a:fillRect/>
          </a:stretch>
        </p:blipFill>
        <p:spPr>
          <a:xfrm>
            <a:off x="4649487" y="1990350"/>
            <a:ext cx="3212106" cy="2265925"/>
          </a:xfrm>
          <a:prstGeom prst="rect">
            <a:avLst/>
          </a:prstGeom>
          <a:noFill/>
          <a:ln>
            <a:noFill/>
          </a:ln>
        </p:spPr>
      </p:pic>
      <p:pic>
        <p:nvPicPr>
          <p:cNvPr id="500" name="Google Shape;500;p41"/>
          <p:cNvPicPr preferRelativeResize="0"/>
          <p:nvPr/>
        </p:nvPicPr>
        <p:blipFill>
          <a:blip r:embed="rId4">
            <a:alphaModFix/>
          </a:blip>
          <a:stretch>
            <a:fillRect/>
          </a:stretch>
        </p:blipFill>
        <p:spPr>
          <a:xfrm>
            <a:off x="8153106" y="1990350"/>
            <a:ext cx="3424169" cy="2265925"/>
          </a:xfrm>
          <a:prstGeom prst="rect">
            <a:avLst/>
          </a:prstGeom>
          <a:noFill/>
          <a:ln>
            <a:noFill/>
          </a:ln>
        </p:spPr>
      </p:pic>
      <p:sp>
        <p:nvSpPr>
          <p:cNvPr id="501" name="Google Shape;501;p41"/>
          <p:cNvSpPr txBox="1"/>
          <p:nvPr/>
        </p:nvSpPr>
        <p:spPr>
          <a:xfrm>
            <a:off x="623400" y="2154050"/>
            <a:ext cx="3678000" cy="1471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Melakukan PDCA ke-2 bersama tim:</a:t>
            </a:r>
            <a:endParaRPr sz="1600"/>
          </a:p>
          <a:p>
            <a:pPr indent="-330200" lvl="0" marL="457200" marR="0" rtl="0" algn="l">
              <a:lnSpc>
                <a:spcPct val="115000"/>
              </a:lnSpc>
              <a:spcBef>
                <a:spcPts val="0"/>
              </a:spcBef>
              <a:spcAft>
                <a:spcPts val="0"/>
              </a:spcAft>
              <a:buSzPts val="1600"/>
              <a:buChar char="-"/>
            </a:pPr>
            <a:r>
              <a:rPr lang="en-ID" sz="1600"/>
              <a:t>Process development</a:t>
            </a:r>
            <a:endParaRPr sz="1600"/>
          </a:p>
          <a:p>
            <a:pPr indent="-330200" lvl="0" marL="457200" marR="0" rtl="0" algn="l">
              <a:lnSpc>
                <a:spcPct val="115000"/>
              </a:lnSpc>
              <a:spcBef>
                <a:spcPts val="0"/>
              </a:spcBef>
              <a:spcAft>
                <a:spcPts val="0"/>
              </a:spcAft>
              <a:buSzPts val="1600"/>
              <a:buChar char="-"/>
            </a:pPr>
            <a:r>
              <a:rPr lang="en-ID" sz="1600"/>
              <a:t>Vendor development</a:t>
            </a:r>
            <a:endParaRPr sz="1600"/>
          </a:p>
          <a:p>
            <a:pPr indent="-330200" lvl="0" marL="457200" marR="0" rtl="0" algn="l">
              <a:lnSpc>
                <a:spcPct val="115000"/>
              </a:lnSpc>
              <a:spcBef>
                <a:spcPts val="0"/>
              </a:spcBef>
              <a:spcAft>
                <a:spcPts val="0"/>
              </a:spcAft>
              <a:buSzPts val="1600"/>
              <a:buChar char="-"/>
            </a:pPr>
            <a:r>
              <a:rPr lang="en-ID" sz="1600"/>
              <a:t>Quality</a:t>
            </a:r>
            <a:endParaRPr sz="1600"/>
          </a:p>
          <a:p>
            <a:pPr indent="-330200" lvl="0" marL="457200" marR="0" rtl="0" algn="l">
              <a:lnSpc>
                <a:spcPct val="115000"/>
              </a:lnSpc>
              <a:spcBef>
                <a:spcPts val="0"/>
              </a:spcBef>
              <a:spcAft>
                <a:spcPts val="0"/>
              </a:spcAft>
              <a:buSzPts val="1600"/>
              <a:buChar char="-"/>
            </a:pPr>
            <a:r>
              <a:rPr lang="en-ID" sz="1600"/>
              <a:t>Production</a:t>
            </a:r>
            <a:endParaRPr sz="1600"/>
          </a:p>
        </p:txBody>
      </p:sp>
      <p:sp>
        <p:nvSpPr>
          <p:cNvPr id="502" name="Google Shape;502;p41"/>
          <p:cNvSpPr txBox="1"/>
          <p:nvPr/>
        </p:nvSpPr>
        <p:spPr>
          <a:xfrm>
            <a:off x="5795575" y="4484875"/>
            <a:ext cx="49506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Hasil PDCA 2:</a:t>
            </a:r>
            <a:endParaRPr sz="1600"/>
          </a:p>
          <a:p>
            <a:pPr indent="0" lvl="0" marL="0" marR="0" rtl="0" algn="l">
              <a:lnSpc>
                <a:spcPct val="115000"/>
              </a:lnSpc>
              <a:spcBef>
                <a:spcPts val="0"/>
              </a:spcBef>
              <a:spcAft>
                <a:spcPts val="0"/>
              </a:spcAft>
              <a:buNone/>
            </a:pPr>
            <a:r>
              <a:rPr lang="en-ID" sz="1600"/>
              <a:t>Design 2:</a:t>
            </a:r>
            <a:endParaRPr sz="1600"/>
          </a:p>
          <a:p>
            <a:pPr indent="-330200" lvl="0" marL="457200" marR="0" rtl="0" algn="l">
              <a:lnSpc>
                <a:spcPct val="115000"/>
              </a:lnSpc>
              <a:spcBef>
                <a:spcPts val="0"/>
              </a:spcBef>
              <a:spcAft>
                <a:spcPts val="0"/>
              </a:spcAft>
              <a:buSzPts val="1600"/>
              <a:buChar char="●"/>
            </a:pPr>
            <a:r>
              <a:rPr lang="en-ID" sz="1600"/>
              <a:t>Bowl feeder budgetnya terlalu mahal</a:t>
            </a:r>
            <a:endParaRPr sz="1600"/>
          </a:p>
          <a:p>
            <a:pPr indent="-330200" lvl="0" marL="457200" marR="0" rtl="0" algn="l">
              <a:lnSpc>
                <a:spcPct val="115000"/>
              </a:lnSpc>
              <a:spcBef>
                <a:spcPts val="0"/>
              </a:spcBef>
              <a:spcAft>
                <a:spcPts val="0"/>
              </a:spcAft>
              <a:buSzPts val="1600"/>
              <a:buChar char="●"/>
            </a:pPr>
            <a:r>
              <a:rPr lang="en-ID" sz="1600"/>
              <a:t>Membutuhkan space yang besar</a:t>
            </a:r>
            <a:endParaRPr sz="1600"/>
          </a:p>
          <a:p>
            <a:pPr indent="-330200" lvl="0" marL="457200" marR="0" rtl="0" algn="l">
              <a:lnSpc>
                <a:spcPct val="115000"/>
              </a:lnSpc>
              <a:spcBef>
                <a:spcPts val="0"/>
              </a:spcBef>
              <a:spcAft>
                <a:spcPts val="0"/>
              </a:spcAft>
              <a:buSzPts val="1600"/>
              <a:buChar char="●"/>
            </a:pPr>
            <a:r>
              <a:rPr lang="en-ID" sz="1600"/>
              <a:t>Mekanisme paling efektif</a:t>
            </a:r>
            <a:endParaRPr sz="1600"/>
          </a:p>
          <a:p>
            <a:pPr indent="-330200" lvl="0" marL="457200" marR="0" rtl="0" algn="l">
              <a:lnSpc>
                <a:spcPct val="115000"/>
              </a:lnSpc>
              <a:spcBef>
                <a:spcPts val="0"/>
              </a:spcBef>
              <a:spcAft>
                <a:spcPts val="0"/>
              </a:spcAft>
              <a:buSzPts val="1600"/>
              <a:buChar char="●"/>
            </a:pPr>
            <a:r>
              <a:rPr lang="en-ID" sz="1600"/>
              <a:t>Semua plat menghadap posisi yang benar</a:t>
            </a:r>
            <a:endParaRPr sz="16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2"/>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09" name="Google Shape;509;p42"/>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510" name="Google Shape;510;p42"/>
          <p:cNvSpPr txBox="1"/>
          <p:nvPr/>
        </p:nvSpPr>
        <p:spPr>
          <a:xfrm>
            <a:off x="623400" y="11329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c.	Improvement Activities</a:t>
            </a:r>
            <a:endParaRPr b="1" sz="1200"/>
          </a:p>
        </p:txBody>
      </p:sp>
      <p:sp>
        <p:nvSpPr>
          <p:cNvPr id="511" name="Google Shape;511;p42"/>
          <p:cNvSpPr/>
          <p:nvPr/>
        </p:nvSpPr>
        <p:spPr>
          <a:xfrm>
            <a:off x="3457950" y="6003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512" name="Google Shape;512;p42"/>
          <p:cNvSpPr txBox="1"/>
          <p:nvPr/>
        </p:nvSpPr>
        <p:spPr>
          <a:xfrm>
            <a:off x="623400" y="1620650"/>
            <a:ext cx="3678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Design baru setelah PDCA 2</a:t>
            </a:r>
            <a:endParaRPr sz="1600"/>
          </a:p>
        </p:txBody>
      </p:sp>
      <p:sp>
        <p:nvSpPr>
          <p:cNvPr id="513" name="Google Shape;513;p42"/>
          <p:cNvSpPr/>
          <p:nvPr/>
        </p:nvSpPr>
        <p:spPr>
          <a:xfrm>
            <a:off x="612300" y="5503885"/>
            <a:ext cx="5276100" cy="8367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1" lang="en-ID" sz="1800">
                <a:solidFill>
                  <a:srgbClr val="3F3F3F"/>
                </a:solidFill>
                <a:latin typeface="Microsoft Yahei"/>
                <a:ea typeface="Microsoft Yahei"/>
                <a:cs typeface="Microsoft Yahei"/>
                <a:sym typeface="Microsoft Yahei"/>
              </a:rPr>
              <a:t>Design 1</a:t>
            </a:r>
            <a:endParaRPr b="1" sz="1800">
              <a:solidFill>
                <a:srgbClr val="3F3F3F"/>
              </a:solidFill>
              <a:latin typeface="Microsoft Yahei"/>
              <a:ea typeface="Microsoft Yahei"/>
              <a:cs typeface="Microsoft Yahei"/>
              <a:sym typeface="Microsoft Yahei"/>
            </a:endParaRPr>
          </a:p>
          <a:p>
            <a:pPr indent="0" lvl="0" marL="0" marR="0" rtl="0" algn="ctr">
              <a:spcBef>
                <a:spcPts val="0"/>
              </a:spcBef>
              <a:spcAft>
                <a:spcPts val="0"/>
              </a:spcAft>
              <a:buNone/>
            </a:pPr>
            <a:r>
              <a:rPr b="1" lang="en-ID">
                <a:solidFill>
                  <a:srgbClr val="3F3F3F"/>
                </a:solidFill>
                <a:latin typeface="Microsoft Yahei"/>
                <a:ea typeface="Microsoft Yahei"/>
                <a:cs typeface="Microsoft Yahei"/>
                <a:sym typeface="Microsoft Yahei"/>
              </a:rPr>
              <a:t>(Linear feeder)</a:t>
            </a:r>
            <a:endParaRPr b="1">
              <a:solidFill>
                <a:srgbClr val="3F3F3F"/>
              </a:solidFill>
              <a:latin typeface="Microsoft Yahei"/>
              <a:ea typeface="Microsoft Yahei"/>
              <a:cs typeface="Microsoft Yahei"/>
              <a:sym typeface="Microsoft Yahei"/>
            </a:endParaRPr>
          </a:p>
        </p:txBody>
      </p:sp>
      <p:sp>
        <p:nvSpPr>
          <p:cNvPr id="514" name="Google Shape;514;p42"/>
          <p:cNvSpPr/>
          <p:nvPr/>
        </p:nvSpPr>
        <p:spPr>
          <a:xfrm>
            <a:off x="6473425" y="5503883"/>
            <a:ext cx="5276100" cy="765900"/>
          </a:xfrm>
          <a:prstGeom prst="rect">
            <a:avLst/>
          </a:prstGeom>
          <a:no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1" lang="en-ID" sz="1800">
                <a:solidFill>
                  <a:srgbClr val="3F3F3F"/>
                </a:solidFill>
                <a:latin typeface="Microsoft Yahei"/>
                <a:ea typeface="Microsoft Yahei"/>
                <a:cs typeface="Microsoft Yahei"/>
                <a:sym typeface="Microsoft Yahei"/>
              </a:rPr>
              <a:t>Design 2</a:t>
            </a:r>
            <a:endParaRPr b="1" sz="1800">
              <a:solidFill>
                <a:srgbClr val="3F3F3F"/>
              </a:solidFill>
              <a:latin typeface="Microsoft Yahei"/>
              <a:ea typeface="Microsoft Yahei"/>
              <a:cs typeface="Microsoft Yahei"/>
              <a:sym typeface="Microsoft Yahei"/>
            </a:endParaRPr>
          </a:p>
          <a:p>
            <a:pPr indent="0" lvl="0" marL="0" marR="0" rtl="0" algn="ctr">
              <a:lnSpc>
                <a:spcPct val="150000"/>
              </a:lnSpc>
              <a:spcBef>
                <a:spcPts val="0"/>
              </a:spcBef>
              <a:spcAft>
                <a:spcPts val="0"/>
              </a:spcAft>
              <a:buNone/>
            </a:pPr>
            <a:r>
              <a:rPr b="1" lang="en-ID">
                <a:solidFill>
                  <a:srgbClr val="3F3F3F"/>
                </a:solidFill>
                <a:latin typeface="Microsoft Yahei"/>
                <a:ea typeface="Microsoft Yahei"/>
                <a:cs typeface="Microsoft Yahei"/>
                <a:sym typeface="Microsoft Yahei"/>
              </a:rPr>
              <a:t>(Vibratory Motor feeder)</a:t>
            </a:r>
            <a:endParaRPr b="1">
              <a:solidFill>
                <a:srgbClr val="3F3F3F"/>
              </a:solidFill>
              <a:latin typeface="Microsoft Yahei"/>
              <a:ea typeface="Microsoft Yahei"/>
              <a:cs typeface="Microsoft Yahei"/>
              <a:sym typeface="Microsoft Yahei"/>
            </a:endParaRPr>
          </a:p>
        </p:txBody>
      </p:sp>
      <p:pic>
        <p:nvPicPr>
          <p:cNvPr id="515" name="Google Shape;515;p42"/>
          <p:cNvPicPr preferRelativeResize="0"/>
          <p:nvPr/>
        </p:nvPicPr>
        <p:blipFill>
          <a:blip r:embed="rId3">
            <a:alphaModFix/>
          </a:blip>
          <a:stretch>
            <a:fillRect/>
          </a:stretch>
        </p:blipFill>
        <p:spPr>
          <a:xfrm>
            <a:off x="724937" y="2118502"/>
            <a:ext cx="5050826" cy="3035200"/>
          </a:xfrm>
          <a:prstGeom prst="rect">
            <a:avLst/>
          </a:prstGeom>
          <a:noFill/>
          <a:ln>
            <a:noFill/>
          </a:ln>
        </p:spPr>
      </p:pic>
      <p:pic>
        <p:nvPicPr>
          <p:cNvPr id="516" name="Google Shape;516;p42"/>
          <p:cNvPicPr preferRelativeResize="0"/>
          <p:nvPr/>
        </p:nvPicPr>
        <p:blipFill>
          <a:blip r:embed="rId4">
            <a:alphaModFix/>
          </a:blip>
          <a:stretch>
            <a:fillRect/>
          </a:stretch>
        </p:blipFill>
        <p:spPr>
          <a:xfrm>
            <a:off x="7103387" y="2007288"/>
            <a:ext cx="4016181" cy="32576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3"/>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23" name="Google Shape;523;p43"/>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524" name="Google Shape;524;p43"/>
          <p:cNvSpPr txBox="1"/>
          <p:nvPr/>
        </p:nvSpPr>
        <p:spPr>
          <a:xfrm>
            <a:off x="623400" y="12091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c.	Improvement Activities</a:t>
            </a:r>
            <a:endParaRPr b="1" sz="1200"/>
          </a:p>
        </p:txBody>
      </p:sp>
      <p:sp>
        <p:nvSpPr>
          <p:cNvPr id="525" name="Google Shape;525;p43"/>
          <p:cNvSpPr/>
          <p:nvPr/>
        </p:nvSpPr>
        <p:spPr>
          <a:xfrm>
            <a:off x="3457950" y="8289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526" name="Google Shape;526;p43"/>
          <p:cNvSpPr txBox="1"/>
          <p:nvPr/>
        </p:nvSpPr>
        <p:spPr>
          <a:xfrm>
            <a:off x="623400" y="4484875"/>
            <a:ext cx="4950600" cy="1471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Hasil PDCA 3:</a:t>
            </a:r>
            <a:endParaRPr sz="1600"/>
          </a:p>
          <a:p>
            <a:pPr indent="0" lvl="0" marL="0" marR="0" rtl="0" algn="l">
              <a:lnSpc>
                <a:spcPct val="115000"/>
              </a:lnSpc>
              <a:spcBef>
                <a:spcPts val="0"/>
              </a:spcBef>
              <a:spcAft>
                <a:spcPts val="0"/>
              </a:spcAft>
              <a:buNone/>
            </a:pPr>
            <a:r>
              <a:rPr lang="en-ID" sz="1600"/>
              <a:t>Design 1:</a:t>
            </a:r>
            <a:endParaRPr sz="1600"/>
          </a:p>
          <a:p>
            <a:pPr indent="-330200" lvl="0" marL="457200" marR="0" rtl="0" algn="l">
              <a:lnSpc>
                <a:spcPct val="115000"/>
              </a:lnSpc>
              <a:spcBef>
                <a:spcPts val="0"/>
              </a:spcBef>
              <a:spcAft>
                <a:spcPts val="0"/>
              </a:spcAft>
              <a:buSzPts val="1600"/>
              <a:buChar char="●"/>
            </a:pPr>
            <a:r>
              <a:rPr lang="en-ID" sz="1600"/>
              <a:t>Budget masih tinggi</a:t>
            </a:r>
            <a:endParaRPr sz="1600"/>
          </a:p>
          <a:p>
            <a:pPr indent="-330200" lvl="0" marL="457200" marR="0" rtl="0" algn="l">
              <a:lnSpc>
                <a:spcPct val="115000"/>
              </a:lnSpc>
              <a:spcBef>
                <a:spcPts val="0"/>
              </a:spcBef>
              <a:spcAft>
                <a:spcPts val="0"/>
              </a:spcAft>
              <a:buSzPts val="1600"/>
              <a:buChar char="●"/>
            </a:pPr>
            <a:r>
              <a:rPr lang="en-ID" sz="1600"/>
              <a:t>Cycle time lebih lama</a:t>
            </a:r>
            <a:endParaRPr sz="1600"/>
          </a:p>
          <a:p>
            <a:pPr indent="-330200" lvl="0" marL="457200" marR="0" rtl="0" algn="l">
              <a:lnSpc>
                <a:spcPct val="115000"/>
              </a:lnSpc>
              <a:spcBef>
                <a:spcPts val="0"/>
              </a:spcBef>
              <a:spcAft>
                <a:spcPts val="0"/>
              </a:spcAft>
              <a:buSzPts val="1600"/>
              <a:buChar char="●"/>
            </a:pPr>
            <a:r>
              <a:rPr lang="en-ID" sz="1600"/>
              <a:t>Tidak membenarkan posisi plat</a:t>
            </a:r>
            <a:endParaRPr sz="1600"/>
          </a:p>
        </p:txBody>
      </p:sp>
      <p:sp>
        <p:nvSpPr>
          <p:cNvPr id="527" name="Google Shape;527;p43"/>
          <p:cNvSpPr txBox="1"/>
          <p:nvPr/>
        </p:nvSpPr>
        <p:spPr>
          <a:xfrm>
            <a:off x="623400" y="2154050"/>
            <a:ext cx="3678000" cy="1471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Melakukan PDCA ke-3 bersama tim:</a:t>
            </a:r>
            <a:endParaRPr sz="1600"/>
          </a:p>
          <a:p>
            <a:pPr indent="-330200" lvl="0" marL="457200" marR="0" rtl="0" algn="l">
              <a:lnSpc>
                <a:spcPct val="115000"/>
              </a:lnSpc>
              <a:spcBef>
                <a:spcPts val="0"/>
              </a:spcBef>
              <a:spcAft>
                <a:spcPts val="0"/>
              </a:spcAft>
              <a:buSzPts val="1600"/>
              <a:buChar char="-"/>
            </a:pPr>
            <a:r>
              <a:rPr lang="en-ID" sz="1600"/>
              <a:t>Process development</a:t>
            </a:r>
            <a:endParaRPr sz="1600"/>
          </a:p>
          <a:p>
            <a:pPr indent="-330200" lvl="0" marL="457200" marR="0" rtl="0" algn="l">
              <a:lnSpc>
                <a:spcPct val="115000"/>
              </a:lnSpc>
              <a:spcBef>
                <a:spcPts val="0"/>
              </a:spcBef>
              <a:spcAft>
                <a:spcPts val="0"/>
              </a:spcAft>
              <a:buSzPts val="1600"/>
              <a:buChar char="-"/>
            </a:pPr>
            <a:r>
              <a:rPr lang="en-ID" sz="1600"/>
              <a:t>Vendor development</a:t>
            </a:r>
            <a:endParaRPr sz="1600"/>
          </a:p>
          <a:p>
            <a:pPr indent="-330200" lvl="0" marL="457200" marR="0" rtl="0" algn="l">
              <a:lnSpc>
                <a:spcPct val="115000"/>
              </a:lnSpc>
              <a:spcBef>
                <a:spcPts val="0"/>
              </a:spcBef>
              <a:spcAft>
                <a:spcPts val="0"/>
              </a:spcAft>
              <a:buSzPts val="1600"/>
              <a:buChar char="-"/>
            </a:pPr>
            <a:r>
              <a:rPr lang="en-ID" sz="1600"/>
              <a:t>Quality</a:t>
            </a:r>
            <a:endParaRPr sz="1600"/>
          </a:p>
          <a:p>
            <a:pPr indent="-330200" lvl="0" marL="457200" marR="0" rtl="0" algn="l">
              <a:lnSpc>
                <a:spcPct val="115000"/>
              </a:lnSpc>
              <a:spcBef>
                <a:spcPts val="0"/>
              </a:spcBef>
              <a:spcAft>
                <a:spcPts val="0"/>
              </a:spcAft>
              <a:buSzPts val="1600"/>
              <a:buChar char="-"/>
            </a:pPr>
            <a:r>
              <a:rPr lang="en-ID" sz="1600"/>
              <a:t>Production</a:t>
            </a:r>
            <a:endParaRPr sz="1600"/>
          </a:p>
        </p:txBody>
      </p:sp>
      <p:sp>
        <p:nvSpPr>
          <p:cNvPr id="528" name="Google Shape;528;p43"/>
          <p:cNvSpPr txBox="1"/>
          <p:nvPr/>
        </p:nvSpPr>
        <p:spPr>
          <a:xfrm>
            <a:off x="5795575" y="4484875"/>
            <a:ext cx="4950600" cy="17547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ID" sz="1600"/>
              <a:t>Hasil PDCA 3:</a:t>
            </a:r>
            <a:endParaRPr sz="1600"/>
          </a:p>
          <a:p>
            <a:pPr indent="0" lvl="0" marL="0" marR="0" rtl="0" algn="l">
              <a:lnSpc>
                <a:spcPct val="115000"/>
              </a:lnSpc>
              <a:spcBef>
                <a:spcPts val="0"/>
              </a:spcBef>
              <a:spcAft>
                <a:spcPts val="0"/>
              </a:spcAft>
              <a:buNone/>
            </a:pPr>
            <a:r>
              <a:rPr lang="en-ID" sz="1600"/>
              <a:t>Design 2:</a:t>
            </a:r>
            <a:endParaRPr sz="1600"/>
          </a:p>
          <a:p>
            <a:pPr indent="-330200" lvl="0" marL="457200" marR="0" rtl="0" algn="l">
              <a:lnSpc>
                <a:spcPct val="115000"/>
              </a:lnSpc>
              <a:spcBef>
                <a:spcPts val="0"/>
              </a:spcBef>
              <a:spcAft>
                <a:spcPts val="0"/>
              </a:spcAft>
              <a:buSzPts val="1600"/>
              <a:buChar char="●"/>
            </a:pPr>
            <a:r>
              <a:rPr lang="en-ID" sz="1600"/>
              <a:t>Budget paling murah</a:t>
            </a:r>
            <a:endParaRPr sz="1600"/>
          </a:p>
          <a:p>
            <a:pPr indent="-330200" lvl="0" marL="457200" marR="0" rtl="0" algn="l">
              <a:lnSpc>
                <a:spcPct val="115000"/>
              </a:lnSpc>
              <a:spcBef>
                <a:spcPts val="0"/>
              </a:spcBef>
              <a:spcAft>
                <a:spcPts val="0"/>
              </a:spcAft>
              <a:buSzPts val="1600"/>
              <a:buChar char="●"/>
            </a:pPr>
            <a:r>
              <a:rPr lang="en-ID" sz="1600"/>
              <a:t>Tidak membenarkan posisi plat</a:t>
            </a:r>
            <a:endParaRPr sz="1600"/>
          </a:p>
          <a:p>
            <a:pPr indent="-330200" lvl="0" marL="457200" marR="0" rtl="0" algn="l">
              <a:lnSpc>
                <a:spcPct val="115000"/>
              </a:lnSpc>
              <a:spcBef>
                <a:spcPts val="0"/>
              </a:spcBef>
              <a:spcAft>
                <a:spcPts val="0"/>
              </a:spcAft>
              <a:buSzPts val="1600"/>
              <a:buChar char="●"/>
            </a:pPr>
            <a:r>
              <a:rPr lang="en-ID" sz="1600"/>
              <a:t>Tidak full </a:t>
            </a:r>
            <a:r>
              <a:rPr lang="en-ID" sz="1600"/>
              <a:t>auto</a:t>
            </a:r>
            <a:endParaRPr sz="1600"/>
          </a:p>
          <a:p>
            <a:pPr indent="-330200" lvl="0" marL="457200" marR="0" rtl="0" algn="l">
              <a:lnSpc>
                <a:spcPct val="115000"/>
              </a:lnSpc>
              <a:spcBef>
                <a:spcPts val="0"/>
              </a:spcBef>
              <a:spcAft>
                <a:spcPts val="0"/>
              </a:spcAft>
              <a:buSzPts val="1600"/>
              <a:buChar char="●"/>
            </a:pPr>
            <a:r>
              <a:rPr lang="en-ID" sz="1600"/>
              <a:t>Tidak mengganggu cycle time</a:t>
            </a:r>
            <a:endParaRPr sz="1600"/>
          </a:p>
        </p:txBody>
      </p:sp>
      <p:pic>
        <p:nvPicPr>
          <p:cNvPr id="529" name="Google Shape;529;p43"/>
          <p:cNvPicPr preferRelativeResize="0"/>
          <p:nvPr/>
        </p:nvPicPr>
        <p:blipFill>
          <a:blip r:embed="rId3">
            <a:alphaModFix/>
          </a:blip>
          <a:stretch>
            <a:fillRect/>
          </a:stretch>
        </p:blipFill>
        <p:spPr>
          <a:xfrm>
            <a:off x="4442600" y="1741225"/>
            <a:ext cx="4291451" cy="2578865"/>
          </a:xfrm>
          <a:prstGeom prst="rect">
            <a:avLst/>
          </a:prstGeom>
          <a:noFill/>
          <a:ln>
            <a:noFill/>
          </a:ln>
        </p:spPr>
      </p:pic>
      <p:pic>
        <p:nvPicPr>
          <p:cNvPr id="530" name="Google Shape;530;p43"/>
          <p:cNvPicPr preferRelativeResize="0"/>
          <p:nvPr/>
        </p:nvPicPr>
        <p:blipFill>
          <a:blip r:embed="rId4">
            <a:alphaModFix/>
          </a:blip>
          <a:stretch>
            <a:fillRect/>
          </a:stretch>
        </p:blipFill>
        <p:spPr>
          <a:xfrm>
            <a:off x="8832574" y="1741227"/>
            <a:ext cx="3234375" cy="262347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4"/>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37" name="Google Shape;537;p44"/>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538" name="Google Shape;538;p44"/>
          <p:cNvSpPr txBox="1"/>
          <p:nvPr/>
        </p:nvSpPr>
        <p:spPr>
          <a:xfrm>
            <a:off x="623400" y="12091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d.	Result: </a:t>
            </a:r>
            <a:r>
              <a:rPr lang="en-ID" sz="2000">
                <a:solidFill>
                  <a:schemeClr val="dk1"/>
                </a:solidFill>
                <a:latin typeface="Calibri"/>
                <a:ea typeface="Calibri"/>
                <a:cs typeface="Calibri"/>
                <a:sym typeface="Calibri"/>
              </a:rPr>
              <a:t>Kesimpulan</a:t>
            </a:r>
            <a:endParaRPr sz="1200"/>
          </a:p>
        </p:txBody>
      </p:sp>
      <p:sp>
        <p:nvSpPr>
          <p:cNvPr id="539" name="Google Shape;539;p44"/>
          <p:cNvSpPr/>
          <p:nvPr/>
        </p:nvSpPr>
        <p:spPr>
          <a:xfrm>
            <a:off x="3457950" y="6003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540" name="Google Shape;540;p44"/>
          <p:cNvSpPr txBox="1"/>
          <p:nvPr/>
        </p:nvSpPr>
        <p:spPr>
          <a:xfrm>
            <a:off x="6942825" y="5491150"/>
            <a:ext cx="3678000" cy="6219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None/>
            </a:pPr>
            <a:r>
              <a:rPr lang="en-ID" sz="1600"/>
              <a:t>Design terpilih</a:t>
            </a:r>
            <a:endParaRPr sz="1600"/>
          </a:p>
          <a:p>
            <a:pPr indent="0" lvl="0" marL="0" marR="0" rtl="0" algn="ctr">
              <a:lnSpc>
                <a:spcPct val="115000"/>
              </a:lnSpc>
              <a:spcBef>
                <a:spcPts val="0"/>
              </a:spcBef>
              <a:spcAft>
                <a:spcPts val="0"/>
              </a:spcAft>
              <a:buNone/>
            </a:pPr>
            <a:r>
              <a:rPr b="1" lang="en-ID" sz="1600"/>
              <a:t>Vibrator Motor Feeder</a:t>
            </a:r>
            <a:endParaRPr b="1" sz="1600"/>
          </a:p>
        </p:txBody>
      </p:sp>
      <p:pic>
        <p:nvPicPr>
          <p:cNvPr id="541" name="Google Shape;541;p44"/>
          <p:cNvPicPr preferRelativeResize="0"/>
          <p:nvPr/>
        </p:nvPicPr>
        <p:blipFill>
          <a:blip r:embed="rId3">
            <a:alphaModFix/>
          </a:blip>
          <a:stretch>
            <a:fillRect/>
          </a:stretch>
        </p:blipFill>
        <p:spPr>
          <a:xfrm>
            <a:off x="6477125" y="1559615"/>
            <a:ext cx="4609396" cy="3738762"/>
          </a:xfrm>
          <a:prstGeom prst="rect">
            <a:avLst/>
          </a:prstGeom>
          <a:noFill/>
          <a:ln>
            <a:noFill/>
          </a:ln>
        </p:spPr>
      </p:pic>
      <p:sp>
        <p:nvSpPr>
          <p:cNvPr id="542" name="Google Shape;542;p44"/>
          <p:cNvSpPr txBox="1"/>
          <p:nvPr/>
        </p:nvSpPr>
        <p:spPr>
          <a:xfrm>
            <a:off x="692900" y="1756650"/>
            <a:ext cx="4782300" cy="2647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ID" sz="1600">
                <a:solidFill>
                  <a:schemeClr val="dk1"/>
                </a:solidFill>
              </a:rPr>
              <a:t>Kelebihan: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Budget rendah</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Tidak mengganggu cycle time</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Menyortir plat sesuai dengan posisinya</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Manufaktur dapat </a:t>
            </a:r>
            <a:r>
              <a:rPr lang="en-ID" sz="1600">
                <a:solidFill>
                  <a:schemeClr val="dk1"/>
                </a:solidFill>
              </a:rPr>
              <a:t>dilakukan</a:t>
            </a:r>
            <a:r>
              <a:rPr lang="en-ID" sz="1600">
                <a:solidFill>
                  <a:schemeClr val="dk1"/>
                </a:solidFill>
              </a:rPr>
              <a:t> internal</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Pengisian mudah</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Vibrator motor bisa dibuat sendiri</a:t>
            </a:r>
            <a:endParaRPr sz="1600">
              <a:solidFill>
                <a:schemeClr val="dk1"/>
              </a:solidFill>
            </a:endParaRPr>
          </a:p>
        </p:txBody>
      </p:sp>
      <p:sp>
        <p:nvSpPr>
          <p:cNvPr id="543" name="Google Shape;543;p44"/>
          <p:cNvSpPr txBox="1"/>
          <p:nvPr/>
        </p:nvSpPr>
        <p:spPr>
          <a:xfrm>
            <a:off x="692900" y="4755700"/>
            <a:ext cx="4782300" cy="1169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ID" sz="1600">
                <a:solidFill>
                  <a:schemeClr val="dk1"/>
                </a:solidFill>
              </a:rPr>
              <a:t>Kekurangan: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Terdapat potensi nyangkut (rendah)</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Lifetime</a:t>
            </a:r>
            <a:r>
              <a:rPr lang="en-ID" sz="1600">
                <a:solidFill>
                  <a:schemeClr val="dk1"/>
                </a:solidFill>
              </a:rPr>
              <a:t> rendah</a:t>
            </a:r>
            <a:endParaRPr sz="16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5"/>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50" name="Google Shape;550;p45"/>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551" name="Google Shape;551;p45"/>
          <p:cNvSpPr txBox="1"/>
          <p:nvPr/>
        </p:nvSpPr>
        <p:spPr>
          <a:xfrm>
            <a:off x="623400" y="12091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d.	Result</a:t>
            </a:r>
            <a:r>
              <a:rPr lang="en-ID" sz="2000">
                <a:solidFill>
                  <a:schemeClr val="dk1"/>
                </a:solidFill>
                <a:latin typeface="Calibri"/>
                <a:ea typeface="Calibri"/>
                <a:cs typeface="Calibri"/>
                <a:sym typeface="Calibri"/>
              </a:rPr>
              <a:t>: Progress</a:t>
            </a:r>
            <a:endParaRPr sz="1200"/>
          </a:p>
        </p:txBody>
      </p:sp>
      <p:sp>
        <p:nvSpPr>
          <p:cNvPr id="552" name="Google Shape;552;p45"/>
          <p:cNvSpPr/>
          <p:nvPr/>
        </p:nvSpPr>
        <p:spPr>
          <a:xfrm>
            <a:off x="3457950" y="6003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553" name="Google Shape;553;p45"/>
          <p:cNvSpPr txBox="1"/>
          <p:nvPr/>
        </p:nvSpPr>
        <p:spPr>
          <a:xfrm>
            <a:off x="623400" y="2006000"/>
            <a:ext cx="4719900" cy="11697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dk1"/>
              </a:buClr>
              <a:buSzPts val="1600"/>
              <a:buChar char="-"/>
            </a:pPr>
            <a:r>
              <a:rPr lang="en-ID" sz="1600">
                <a:solidFill>
                  <a:schemeClr val="dk1"/>
                </a:solidFill>
              </a:rPr>
              <a:t>Proses Manufacturing di toolshop</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Trial aplikasi slider part dari mekanismenya</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ID" sz="1600">
                <a:solidFill>
                  <a:schemeClr val="dk1"/>
                </a:solidFill>
              </a:rPr>
              <a:t>Monitor lane dengan BIRA Monitoring</a:t>
            </a:r>
            <a:endParaRPr sz="1600">
              <a:solidFill>
                <a:schemeClr val="dk1"/>
              </a:solidFill>
            </a:endParaRPr>
          </a:p>
        </p:txBody>
      </p:sp>
      <p:pic>
        <p:nvPicPr>
          <p:cNvPr id="554" name="Google Shape;554;p45"/>
          <p:cNvPicPr preferRelativeResize="0"/>
          <p:nvPr/>
        </p:nvPicPr>
        <p:blipFill rotWithShape="1">
          <a:blip r:embed="rId3">
            <a:alphaModFix/>
          </a:blip>
          <a:srcRect b="7899" l="0" r="0" t="15183"/>
          <a:stretch/>
        </p:blipFill>
        <p:spPr>
          <a:xfrm rot="-5400000">
            <a:off x="4915774" y="3228133"/>
            <a:ext cx="2233343" cy="3460632"/>
          </a:xfrm>
          <a:prstGeom prst="rect">
            <a:avLst/>
          </a:prstGeom>
          <a:noFill/>
          <a:ln>
            <a:noFill/>
          </a:ln>
        </p:spPr>
      </p:pic>
      <p:pic>
        <p:nvPicPr>
          <p:cNvPr id="555" name="Google Shape;555;p45"/>
          <p:cNvPicPr preferRelativeResize="0"/>
          <p:nvPr/>
        </p:nvPicPr>
        <p:blipFill>
          <a:blip r:embed="rId4">
            <a:alphaModFix/>
          </a:blip>
          <a:stretch>
            <a:fillRect/>
          </a:stretch>
        </p:blipFill>
        <p:spPr>
          <a:xfrm>
            <a:off x="6279145" y="1145385"/>
            <a:ext cx="3658550" cy="1748966"/>
          </a:xfrm>
          <a:prstGeom prst="rect">
            <a:avLst/>
          </a:prstGeom>
          <a:noFill/>
          <a:ln>
            <a:noFill/>
          </a:ln>
        </p:spPr>
      </p:pic>
      <p:pic>
        <p:nvPicPr>
          <p:cNvPr id="556" name="Google Shape;556;p45"/>
          <p:cNvPicPr preferRelativeResize="0"/>
          <p:nvPr/>
        </p:nvPicPr>
        <p:blipFill rotWithShape="1">
          <a:blip r:embed="rId5">
            <a:alphaModFix/>
          </a:blip>
          <a:srcRect b="10167" l="3622" r="4449" t="16428"/>
          <a:stretch/>
        </p:blipFill>
        <p:spPr>
          <a:xfrm rot="-5400000">
            <a:off x="904537" y="3162463"/>
            <a:ext cx="2235600" cy="3594224"/>
          </a:xfrm>
          <a:prstGeom prst="rect">
            <a:avLst/>
          </a:prstGeom>
          <a:noFill/>
          <a:ln>
            <a:noFill/>
          </a:ln>
        </p:spPr>
      </p:pic>
      <p:sp>
        <p:nvSpPr>
          <p:cNvPr id="557" name="Google Shape;557;p45"/>
          <p:cNvSpPr txBox="1"/>
          <p:nvPr/>
        </p:nvSpPr>
        <p:spPr>
          <a:xfrm>
            <a:off x="6608425" y="2894350"/>
            <a:ext cx="3000000" cy="461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ID" sz="1800">
                <a:solidFill>
                  <a:schemeClr val="dk1"/>
                </a:solidFill>
              </a:rPr>
              <a:t>S</a:t>
            </a:r>
            <a:r>
              <a:rPr b="1" lang="en-ID" sz="1800">
                <a:solidFill>
                  <a:schemeClr val="dk1"/>
                </a:solidFill>
              </a:rPr>
              <a:t>lider</a:t>
            </a:r>
            <a:endParaRPr b="1" sz="1800"/>
          </a:p>
        </p:txBody>
      </p:sp>
      <p:pic>
        <p:nvPicPr>
          <p:cNvPr id="558" name="Google Shape;558;p45"/>
          <p:cNvPicPr preferRelativeResize="0"/>
          <p:nvPr/>
        </p:nvPicPr>
        <p:blipFill rotWithShape="1">
          <a:blip r:embed="rId6">
            <a:alphaModFix/>
          </a:blip>
          <a:srcRect b="36728" l="0" r="0" t="12800"/>
          <a:stretch/>
        </p:blipFill>
        <p:spPr>
          <a:xfrm>
            <a:off x="8245425" y="3500850"/>
            <a:ext cx="2986776" cy="268005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46"/>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65" name="Google Shape;565;p46"/>
          <p:cNvSpPr/>
          <p:nvPr/>
        </p:nvSpPr>
        <p:spPr>
          <a:xfrm>
            <a:off x="0" y="885046"/>
            <a:ext cx="623400" cy="288000"/>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566" name="Google Shape;566;p46"/>
          <p:cNvSpPr txBox="1"/>
          <p:nvPr/>
        </p:nvSpPr>
        <p:spPr>
          <a:xfrm>
            <a:off x="623400" y="1209151"/>
            <a:ext cx="7261800" cy="400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b="1" lang="en-ID" sz="2000">
                <a:solidFill>
                  <a:schemeClr val="dk1"/>
                </a:solidFill>
                <a:latin typeface="Calibri"/>
                <a:ea typeface="Calibri"/>
                <a:cs typeface="Calibri"/>
                <a:sym typeface="Calibri"/>
              </a:rPr>
              <a:t>d.	Benefit of Project</a:t>
            </a:r>
            <a:endParaRPr sz="1200"/>
          </a:p>
        </p:txBody>
      </p:sp>
      <p:sp>
        <p:nvSpPr>
          <p:cNvPr id="567" name="Google Shape;567;p46"/>
          <p:cNvSpPr/>
          <p:nvPr/>
        </p:nvSpPr>
        <p:spPr>
          <a:xfrm>
            <a:off x="3457950" y="600366"/>
            <a:ext cx="5276100" cy="400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n-ID" sz="2400">
                <a:solidFill>
                  <a:srgbClr val="3F3F3F"/>
                </a:solidFill>
                <a:latin typeface="Microsoft Yahei"/>
                <a:ea typeface="Microsoft Yahei"/>
                <a:cs typeface="Microsoft Yahei"/>
                <a:sym typeface="Microsoft Yahei"/>
              </a:rPr>
              <a:t>Project Plat Gear Driven</a:t>
            </a:r>
            <a:endParaRPr b="1" sz="2400"/>
          </a:p>
        </p:txBody>
      </p:sp>
      <p:sp>
        <p:nvSpPr>
          <p:cNvPr id="568" name="Google Shape;568;p46"/>
          <p:cNvSpPr txBox="1"/>
          <p:nvPr/>
        </p:nvSpPr>
        <p:spPr>
          <a:xfrm>
            <a:off x="356325" y="1645450"/>
            <a:ext cx="6264000" cy="48639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SzPts val="1600"/>
              <a:buChar char="-"/>
            </a:pPr>
            <a:r>
              <a:rPr b="1" lang="en-ID" sz="1600"/>
              <a:t>Mengurangi Klaim dan Pengembalian Produk:</a:t>
            </a:r>
            <a:endParaRPr b="1" sz="1600"/>
          </a:p>
          <a:p>
            <a:pPr indent="0" lvl="0" marL="0" rtl="0" algn="just">
              <a:lnSpc>
                <a:spcPct val="150000"/>
              </a:lnSpc>
              <a:spcBef>
                <a:spcPts val="0"/>
              </a:spcBef>
              <a:spcAft>
                <a:spcPts val="0"/>
              </a:spcAft>
              <a:buNone/>
            </a:pPr>
            <a:r>
              <a:rPr lang="en-ID" sz="1600"/>
              <a:t>		Meminimalkan risiko klaim dari pelanggan seperti AHM, yang dapat merugikan reputasi.</a:t>
            </a:r>
            <a:endParaRPr sz="1600"/>
          </a:p>
          <a:p>
            <a:pPr indent="0" lvl="0" marL="0" rtl="0" algn="just">
              <a:lnSpc>
                <a:spcPct val="150000"/>
              </a:lnSpc>
              <a:spcBef>
                <a:spcPts val="0"/>
              </a:spcBef>
              <a:spcAft>
                <a:spcPts val="0"/>
              </a:spcAft>
              <a:buNone/>
            </a:pPr>
            <a:r>
              <a:t/>
            </a:r>
            <a:endParaRPr sz="1600"/>
          </a:p>
          <a:p>
            <a:pPr indent="-330200" lvl="0" marL="457200" rtl="0" algn="just">
              <a:lnSpc>
                <a:spcPct val="150000"/>
              </a:lnSpc>
              <a:spcBef>
                <a:spcPts val="0"/>
              </a:spcBef>
              <a:spcAft>
                <a:spcPts val="0"/>
              </a:spcAft>
              <a:buSzPts val="1600"/>
              <a:buChar char="-"/>
            </a:pPr>
            <a:r>
              <a:rPr b="1" lang="en-ID" sz="1600"/>
              <a:t>Meningkatkan Efisiensi Operasional:</a:t>
            </a:r>
            <a:endParaRPr b="1" sz="1600"/>
          </a:p>
          <a:p>
            <a:pPr indent="0" lvl="0" marL="457200" rtl="0" algn="just">
              <a:lnSpc>
                <a:spcPct val="150000"/>
              </a:lnSpc>
              <a:spcBef>
                <a:spcPts val="0"/>
              </a:spcBef>
              <a:spcAft>
                <a:spcPts val="0"/>
              </a:spcAft>
              <a:buNone/>
            </a:pPr>
            <a:r>
              <a:rPr lang="en-ID" sz="1600"/>
              <a:t>	Mengurangi waktu yang diperlukan untuk memeriksa dan memperbaiki kesalahan pemasangan, sehingga meningkatkan efisiensi produksi.</a:t>
            </a:r>
            <a:endParaRPr sz="1600"/>
          </a:p>
          <a:p>
            <a:pPr indent="0" lvl="0" marL="457200" rtl="0" algn="just">
              <a:lnSpc>
                <a:spcPct val="150000"/>
              </a:lnSpc>
              <a:spcBef>
                <a:spcPts val="0"/>
              </a:spcBef>
              <a:spcAft>
                <a:spcPts val="0"/>
              </a:spcAft>
              <a:buNone/>
            </a:pPr>
            <a:r>
              <a:t/>
            </a:r>
            <a:endParaRPr sz="1600"/>
          </a:p>
          <a:p>
            <a:pPr indent="-330200" lvl="0" marL="457200" rtl="0" algn="just">
              <a:lnSpc>
                <a:spcPct val="150000"/>
              </a:lnSpc>
              <a:spcBef>
                <a:spcPts val="0"/>
              </a:spcBef>
              <a:spcAft>
                <a:spcPts val="0"/>
              </a:spcAft>
              <a:buSzPts val="1600"/>
              <a:buChar char="-"/>
            </a:pPr>
            <a:r>
              <a:rPr b="1" lang="en-ID" sz="1600"/>
              <a:t>Mengurangi Ketergantungan pada Manusia:</a:t>
            </a:r>
            <a:endParaRPr b="1" sz="1600"/>
          </a:p>
          <a:p>
            <a:pPr indent="0" lvl="0" marL="457200" rtl="0" algn="just">
              <a:lnSpc>
                <a:spcPct val="150000"/>
              </a:lnSpc>
              <a:spcBef>
                <a:spcPts val="0"/>
              </a:spcBef>
              <a:spcAft>
                <a:spcPts val="0"/>
              </a:spcAft>
              <a:buNone/>
            </a:pPr>
            <a:r>
              <a:rPr lang="en-ID" sz="1600"/>
              <a:t>	Mengimplementasikan mesin/mekanisme yang dapat mengurangi kesalahan manusia, khususnya dalam hal handling plat.</a:t>
            </a:r>
            <a:endParaRPr sz="1600"/>
          </a:p>
        </p:txBody>
      </p:sp>
      <p:pic>
        <p:nvPicPr>
          <p:cNvPr id="569" name="Google Shape;569;p46"/>
          <p:cNvPicPr preferRelativeResize="0"/>
          <p:nvPr/>
        </p:nvPicPr>
        <p:blipFill>
          <a:blip r:embed="rId3">
            <a:alphaModFix/>
          </a:blip>
          <a:stretch>
            <a:fillRect/>
          </a:stretch>
        </p:blipFill>
        <p:spPr>
          <a:xfrm>
            <a:off x="6749375" y="2362994"/>
            <a:ext cx="5276100" cy="296780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7"/>
          <p:cNvSpPr/>
          <p:nvPr/>
        </p:nvSpPr>
        <p:spPr>
          <a:xfrm>
            <a:off x="3492011" y="527970"/>
            <a:ext cx="5208000" cy="40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04. Projects/Activity &amp; Improvement</a:t>
            </a:r>
            <a:endParaRPr/>
          </a:p>
        </p:txBody>
      </p:sp>
      <p:sp>
        <p:nvSpPr>
          <p:cNvPr id="576" name="Google Shape;576;p47"/>
          <p:cNvSpPr/>
          <p:nvPr/>
        </p:nvSpPr>
        <p:spPr>
          <a:xfrm flipH="1" rot="10800000">
            <a:off x="5198533" y="110"/>
            <a:ext cx="1278600" cy="54750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77" name="Google Shape;577;p47"/>
          <p:cNvSpPr txBox="1"/>
          <p:nvPr/>
        </p:nvSpPr>
        <p:spPr>
          <a:xfrm>
            <a:off x="2465100" y="928176"/>
            <a:ext cx="7261800" cy="4002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None/>
            </a:pPr>
            <a:r>
              <a:rPr b="1" lang="en-ID" sz="2000">
                <a:solidFill>
                  <a:schemeClr val="dk1"/>
                </a:solidFill>
              </a:rPr>
              <a:t>Aktivitas lainnya</a:t>
            </a:r>
            <a:endParaRPr sz="1200"/>
          </a:p>
        </p:txBody>
      </p:sp>
      <p:sp>
        <p:nvSpPr>
          <p:cNvPr id="578" name="Google Shape;578;p47"/>
          <p:cNvSpPr txBox="1"/>
          <p:nvPr/>
        </p:nvSpPr>
        <p:spPr>
          <a:xfrm>
            <a:off x="496150" y="1480350"/>
            <a:ext cx="5615400" cy="41250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ID" sz="1600"/>
              <a:t>Berikut berbagai aktivitas lainnya selama di Nusametal:</a:t>
            </a:r>
            <a:endParaRPr b="1" sz="1600"/>
          </a:p>
          <a:p>
            <a:pPr indent="0" lvl="0" marL="0" rtl="0" algn="just">
              <a:lnSpc>
                <a:spcPct val="150000"/>
              </a:lnSpc>
              <a:spcBef>
                <a:spcPts val="0"/>
              </a:spcBef>
              <a:spcAft>
                <a:spcPts val="0"/>
              </a:spcAft>
              <a:buNone/>
            </a:pPr>
            <a:r>
              <a:t/>
            </a:r>
            <a:endParaRPr b="1" sz="1600"/>
          </a:p>
          <a:p>
            <a:pPr indent="-330200" lvl="0" marL="457200" rtl="0" algn="just">
              <a:lnSpc>
                <a:spcPct val="150000"/>
              </a:lnSpc>
              <a:spcBef>
                <a:spcPts val="0"/>
              </a:spcBef>
              <a:spcAft>
                <a:spcPts val="0"/>
              </a:spcAft>
              <a:buSzPts val="1600"/>
              <a:buAutoNum type="arabicPeriod"/>
            </a:pPr>
            <a:r>
              <a:rPr b="1" lang="en-ID" sz="1600"/>
              <a:t>Dandori Jig Machining</a:t>
            </a:r>
            <a:endParaRPr b="1" sz="1600"/>
          </a:p>
          <a:p>
            <a:pPr indent="-330200" lvl="1" marL="914400" rtl="0" algn="just">
              <a:lnSpc>
                <a:spcPct val="150000"/>
              </a:lnSpc>
              <a:spcBef>
                <a:spcPts val="0"/>
              </a:spcBef>
              <a:spcAft>
                <a:spcPts val="0"/>
              </a:spcAft>
              <a:buSzPts val="1600"/>
              <a:buAutoNum type="alphaLcPeriod"/>
            </a:pPr>
            <a:r>
              <a:rPr lang="en-ID" sz="1600"/>
              <a:t>CNC Milling Oil Separator</a:t>
            </a:r>
            <a:endParaRPr sz="1600"/>
          </a:p>
          <a:p>
            <a:pPr indent="-330200" lvl="1" marL="914400" rtl="0" algn="just">
              <a:lnSpc>
                <a:spcPct val="150000"/>
              </a:lnSpc>
              <a:spcBef>
                <a:spcPts val="0"/>
              </a:spcBef>
              <a:spcAft>
                <a:spcPts val="0"/>
              </a:spcAft>
              <a:buSzPts val="1600"/>
              <a:buAutoNum type="alphaLcPeriod"/>
            </a:pPr>
            <a:r>
              <a:rPr lang="en-ID" sz="1600"/>
              <a:t>CNC Milling Cover L K1AA</a:t>
            </a:r>
            <a:endParaRPr sz="1600"/>
          </a:p>
          <a:p>
            <a:pPr indent="-330200" lvl="1" marL="914400" rtl="0" algn="just">
              <a:lnSpc>
                <a:spcPct val="150000"/>
              </a:lnSpc>
              <a:spcBef>
                <a:spcPts val="0"/>
              </a:spcBef>
              <a:spcAft>
                <a:spcPts val="0"/>
              </a:spcAft>
              <a:buSzPts val="1600"/>
              <a:buAutoNum type="alphaLcPeriod"/>
            </a:pPr>
            <a:r>
              <a:rPr lang="en-ID" sz="1600"/>
              <a:t>CNC Cover L N800 Auto</a:t>
            </a:r>
            <a:endParaRPr sz="1600"/>
          </a:p>
          <a:p>
            <a:pPr indent="0" lvl="0" marL="0" rtl="0" algn="just">
              <a:lnSpc>
                <a:spcPct val="150000"/>
              </a:lnSpc>
              <a:spcBef>
                <a:spcPts val="0"/>
              </a:spcBef>
              <a:spcAft>
                <a:spcPts val="0"/>
              </a:spcAft>
              <a:buNone/>
            </a:pPr>
            <a:r>
              <a:t/>
            </a:r>
            <a:endParaRPr sz="1600"/>
          </a:p>
          <a:p>
            <a:pPr indent="-330200" lvl="0" marL="457200" rtl="0" algn="just">
              <a:lnSpc>
                <a:spcPct val="150000"/>
              </a:lnSpc>
              <a:spcBef>
                <a:spcPts val="0"/>
              </a:spcBef>
              <a:spcAft>
                <a:spcPts val="0"/>
              </a:spcAft>
              <a:buSzPts val="1600"/>
              <a:buAutoNum type="arabicPeriod"/>
            </a:pPr>
            <a:r>
              <a:rPr b="1" lang="en-ID" sz="1600"/>
              <a:t>Reparasi Mesin Assy</a:t>
            </a:r>
            <a:endParaRPr b="1" sz="1600"/>
          </a:p>
          <a:p>
            <a:pPr indent="-330200" lvl="1" marL="914400" rtl="0" algn="just">
              <a:lnSpc>
                <a:spcPct val="150000"/>
              </a:lnSpc>
              <a:spcBef>
                <a:spcPts val="0"/>
              </a:spcBef>
              <a:spcAft>
                <a:spcPts val="0"/>
              </a:spcAft>
              <a:buSzPts val="1600"/>
              <a:buAutoNum type="alphaLcPeriod"/>
            </a:pPr>
            <a:r>
              <a:rPr lang="en-ID" sz="1600"/>
              <a:t>Auto oil separator</a:t>
            </a:r>
            <a:endParaRPr sz="1600"/>
          </a:p>
          <a:p>
            <a:pPr indent="-330200" lvl="1" marL="914400" rtl="0" algn="just">
              <a:lnSpc>
                <a:spcPct val="150000"/>
              </a:lnSpc>
              <a:spcBef>
                <a:spcPts val="0"/>
              </a:spcBef>
              <a:spcAft>
                <a:spcPts val="0"/>
              </a:spcAft>
              <a:buSzPts val="1600"/>
              <a:buAutoNum type="alphaLcPeriod"/>
            </a:pPr>
            <a:r>
              <a:rPr lang="en-ID" sz="1600"/>
              <a:t>Manual oil separator</a:t>
            </a:r>
            <a:endParaRPr sz="1600"/>
          </a:p>
          <a:p>
            <a:pPr indent="-330200" lvl="1" marL="914400" rtl="0" algn="just">
              <a:lnSpc>
                <a:spcPct val="150000"/>
              </a:lnSpc>
              <a:spcBef>
                <a:spcPts val="0"/>
              </a:spcBef>
              <a:spcAft>
                <a:spcPts val="0"/>
              </a:spcAft>
              <a:buSzPts val="1600"/>
              <a:buAutoNum type="alphaLcPeriod"/>
            </a:pPr>
            <a:r>
              <a:rPr lang="en-ID" sz="1600"/>
              <a:t>Gear oil pump </a:t>
            </a:r>
            <a:r>
              <a:rPr lang="en-ID" sz="1600">
                <a:solidFill>
                  <a:schemeClr val="dk1"/>
                </a:solidFill>
              </a:rPr>
              <a:t>driven</a:t>
            </a:r>
            <a:endParaRPr sz="1600"/>
          </a:p>
        </p:txBody>
      </p:sp>
      <p:sp>
        <p:nvSpPr>
          <p:cNvPr id="579" name="Google Shape;579;p47"/>
          <p:cNvSpPr txBox="1"/>
          <p:nvPr/>
        </p:nvSpPr>
        <p:spPr>
          <a:xfrm>
            <a:off x="6111550" y="1480350"/>
            <a:ext cx="5615400" cy="44946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t/>
            </a:r>
            <a:endParaRPr b="1" sz="1600"/>
          </a:p>
          <a:p>
            <a:pPr indent="0" lvl="0" marL="0" rtl="0" algn="just">
              <a:lnSpc>
                <a:spcPct val="150000"/>
              </a:lnSpc>
              <a:spcBef>
                <a:spcPts val="0"/>
              </a:spcBef>
              <a:spcAft>
                <a:spcPts val="0"/>
              </a:spcAft>
              <a:buNone/>
            </a:pPr>
            <a:r>
              <a:t/>
            </a:r>
            <a:endParaRPr b="1" sz="1600"/>
          </a:p>
          <a:p>
            <a:pPr indent="0" lvl="0" marL="0" rtl="0" algn="just">
              <a:lnSpc>
                <a:spcPct val="150000"/>
              </a:lnSpc>
              <a:spcBef>
                <a:spcPts val="0"/>
              </a:spcBef>
              <a:spcAft>
                <a:spcPts val="0"/>
              </a:spcAft>
              <a:buNone/>
            </a:pPr>
            <a:r>
              <a:rPr b="1" lang="en-ID" sz="1600"/>
              <a:t>3. 	Update Performance Activity</a:t>
            </a:r>
            <a:endParaRPr b="1" sz="1600"/>
          </a:p>
          <a:p>
            <a:pPr indent="-330200" lvl="1" marL="914400" rtl="0" algn="just">
              <a:lnSpc>
                <a:spcPct val="150000"/>
              </a:lnSpc>
              <a:spcBef>
                <a:spcPts val="0"/>
              </a:spcBef>
              <a:spcAft>
                <a:spcPts val="0"/>
              </a:spcAft>
              <a:buSzPts val="1600"/>
              <a:buAutoNum type="alphaLcPeriod"/>
            </a:pPr>
            <a:r>
              <a:rPr lang="en-ID" sz="1600"/>
              <a:t>MC 3 oil separator trial K1AL</a:t>
            </a:r>
            <a:endParaRPr sz="1600"/>
          </a:p>
          <a:p>
            <a:pPr indent="-330200" lvl="1" marL="914400" rtl="0" algn="just">
              <a:lnSpc>
                <a:spcPct val="150000"/>
              </a:lnSpc>
              <a:spcBef>
                <a:spcPts val="0"/>
              </a:spcBef>
              <a:spcAft>
                <a:spcPts val="0"/>
              </a:spcAft>
              <a:buSzPts val="1600"/>
              <a:buAutoNum type="alphaLcPeriod"/>
            </a:pPr>
            <a:r>
              <a:rPr lang="en-ID" sz="1600"/>
              <a:t>MC 45 casting K1ZV</a:t>
            </a:r>
            <a:endParaRPr sz="1600"/>
          </a:p>
          <a:p>
            <a:pPr indent="0" lvl="0" marL="0" rtl="0" algn="just">
              <a:lnSpc>
                <a:spcPct val="150000"/>
              </a:lnSpc>
              <a:spcBef>
                <a:spcPts val="0"/>
              </a:spcBef>
              <a:spcAft>
                <a:spcPts val="0"/>
              </a:spcAft>
              <a:buNone/>
            </a:pPr>
            <a:r>
              <a:t/>
            </a:r>
            <a:endParaRPr sz="1600"/>
          </a:p>
          <a:p>
            <a:pPr indent="0" lvl="0" marL="0" rtl="0" algn="just">
              <a:lnSpc>
                <a:spcPct val="150000"/>
              </a:lnSpc>
              <a:spcBef>
                <a:spcPts val="0"/>
              </a:spcBef>
              <a:spcAft>
                <a:spcPts val="0"/>
              </a:spcAft>
              <a:buNone/>
            </a:pPr>
            <a:r>
              <a:rPr b="1" lang="en-ID" sz="1600"/>
              <a:t>4. 	Dokumen </a:t>
            </a:r>
            <a:endParaRPr b="1" sz="1600"/>
          </a:p>
          <a:p>
            <a:pPr indent="-330200" lvl="0" marL="914400" rtl="0" algn="just">
              <a:lnSpc>
                <a:spcPct val="150000"/>
              </a:lnSpc>
              <a:spcBef>
                <a:spcPts val="0"/>
              </a:spcBef>
              <a:spcAft>
                <a:spcPts val="0"/>
              </a:spcAft>
              <a:buSzPts val="1600"/>
              <a:buAutoNum type="alphaLcPeriod"/>
            </a:pPr>
            <a:r>
              <a:rPr lang="en-ID" sz="1600"/>
              <a:t>BIRA monitoring oil separator lane K1AL &amp; K0JA</a:t>
            </a:r>
            <a:endParaRPr sz="1600"/>
          </a:p>
          <a:p>
            <a:pPr indent="-330200" lvl="0" marL="914400" rtl="0" algn="just">
              <a:lnSpc>
                <a:spcPct val="150000"/>
              </a:lnSpc>
              <a:spcBef>
                <a:spcPts val="0"/>
              </a:spcBef>
              <a:spcAft>
                <a:spcPts val="0"/>
              </a:spcAft>
              <a:buSzPts val="1600"/>
              <a:buAutoNum type="alphaLcPeriod"/>
            </a:pPr>
            <a:r>
              <a:rPr lang="en-ID" sz="1600"/>
              <a:t>BIRA monitoring gear oil pump driven </a:t>
            </a:r>
            <a:endParaRPr sz="1600"/>
          </a:p>
          <a:p>
            <a:pPr indent="0" lvl="0" marL="0" rtl="0" algn="just">
              <a:lnSpc>
                <a:spcPct val="150000"/>
              </a:lnSpc>
              <a:spcBef>
                <a:spcPts val="0"/>
              </a:spcBef>
              <a:spcAft>
                <a:spcPts val="0"/>
              </a:spcAft>
              <a:buNone/>
            </a:pPr>
            <a:r>
              <a:t/>
            </a:r>
            <a:endParaRPr b="1" sz="1600"/>
          </a:p>
          <a:p>
            <a:pPr indent="0" lvl="0" marL="0" rtl="0" algn="just">
              <a:lnSpc>
                <a:spcPct val="150000"/>
              </a:lnSpc>
              <a:spcBef>
                <a:spcPts val="0"/>
              </a:spcBef>
              <a:spcAft>
                <a:spcPts val="0"/>
              </a:spcAft>
              <a:buNone/>
            </a:pPr>
            <a:r>
              <a:rPr b="1" lang="en-ID" sz="1600"/>
              <a:t>5. 	Order Kerja</a:t>
            </a:r>
            <a:endParaRPr b="1" sz="1600"/>
          </a:p>
          <a:p>
            <a:pPr indent="-330200" lvl="0" marL="914400" rtl="0" algn="just">
              <a:lnSpc>
                <a:spcPct val="150000"/>
              </a:lnSpc>
              <a:spcBef>
                <a:spcPts val="0"/>
              </a:spcBef>
              <a:spcAft>
                <a:spcPts val="0"/>
              </a:spcAft>
              <a:buSzPts val="1600"/>
              <a:buAutoNum type="alphaLcPeriod"/>
            </a:pPr>
            <a:r>
              <a:rPr lang="en-ID" sz="1600"/>
              <a:t>Pemasangan lampu casting 5 to 1</a:t>
            </a:r>
            <a:endParaRPr sz="16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8"/>
          <p:cNvSpPr/>
          <p:nvPr/>
        </p:nvSpPr>
        <p:spPr>
          <a:xfrm>
            <a:off x="632536" y="837309"/>
            <a:ext cx="5208091" cy="40011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ID" sz="2000">
                <a:solidFill>
                  <a:srgbClr val="3F3F3F"/>
                </a:solidFill>
                <a:latin typeface="Microsoft Yahei"/>
                <a:ea typeface="Microsoft Yahei"/>
                <a:cs typeface="Microsoft Yahei"/>
                <a:sym typeface="Microsoft Yahei"/>
              </a:rPr>
              <a:t>05. Next Activity Plan</a:t>
            </a:r>
            <a:endParaRPr/>
          </a:p>
        </p:txBody>
      </p:sp>
      <p:sp>
        <p:nvSpPr>
          <p:cNvPr id="585" name="Google Shape;585;p48"/>
          <p:cNvSpPr/>
          <p:nvPr/>
        </p:nvSpPr>
        <p:spPr>
          <a:xfrm>
            <a:off x="0" y="885046"/>
            <a:ext cx="623392" cy="288032"/>
          </a:xfrm>
          <a:prstGeom prst="rect">
            <a:avLst/>
          </a:prstGeom>
          <a:solidFill>
            <a:srgbClr val="D2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rgbClr val="FFFFFF"/>
              </a:solidFill>
              <a:latin typeface="Calibri"/>
              <a:ea typeface="Calibri"/>
              <a:cs typeface="Calibri"/>
              <a:sym typeface="Calibri"/>
            </a:endParaRPr>
          </a:p>
        </p:txBody>
      </p:sp>
      <p:sp>
        <p:nvSpPr>
          <p:cNvPr id="586" name="Google Shape;586;p48"/>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graphicFrame>
        <p:nvGraphicFramePr>
          <p:cNvPr id="587" name="Google Shape;587;p48"/>
          <p:cNvGraphicFramePr/>
          <p:nvPr/>
        </p:nvGraphicFramePr>
        <p:xfrm>
          <a:off x="293163" y="3834000"/>
          <a:ext cx="3000000" cy="3000000"/>
        </p:xfrm>
        <a:graphic>
          <a:graphicData uri="http://schemas.openxmlformats.org/drawingml/2006/table">
            <a:tbl>
              <a:tblPr>
                <a:noFill/>
                <a:tableStyleId>{F07E7156-9326-4E86-A50B-C3B2185A36B2}</a:tableStyleId>
              </a:tblPr>
              <a:tblGrid>
                <a:gridCol w="5715600"/>
                <a:gridCol w="2412000"/>
                <a:gridCol w="2961600"/>
              </a:tblGrid>
              <a:tr h="743100">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Manufaktur pr</a:t>
                      </a:r>
                      <a:r>
                        <a:rPr lang="en-ID" sz="1300">
                          <a:solidFill>
                            <a:srgbClr val="1F1F1F"/>
                          </a:solidFill>
                          <a:highlight>
                            <a:srgbClr val="FFFFFF"/>
                          </a:highlight>
                          <a:latin typeface="Roboto"/>
                          <a:ea typeface="Roboto"/>
                          <a:cs typeface="Roboto"/>
                          <a:sym typeface="Roboto"/>
                        </a:rPr>
                        <a:t>oduk</a:t>
                      </a:r>
                      <a:r>
                        <a:rPr lang="en-ID" sz="1300">
                          <a:solidFill>
                            <a:srgbClr val="1F1F1F"/>
                          </a:solidFill>
                          <a:highlight>
                            <a:srgbClr val="FFFFFF"/>
                          </a:highlight>
                          <a:latin typeface="Roboto"/>
                          <a:ea typeface="Roboto"/>
                          <a:cs typeface="Roboto"/>
                          <a:sym typeface="Roboto"/>
                        </a:rPr>
                        <a:t> (Include assembling)</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29 Juli - 14 Agustus</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solidFill>
                            <a:schemeClr val="dk1"/>
                          </a:solidFill>
                        </a:rPr>
                        <a:t>29 Juli - Sekarang</a:t>
                      </a:r>
                      <a:endParaRPr/>
                    </a:p>
                  </a:txBody>
                  <a:tcPr marT="91425" marB="91425" marR="91425" marL="91425">
                    <a:solidFill>
                      <a:srgbClr val="00FF00"/>
                    </a:solidFill>
                  </a:tcPr>
                </a:tc>
              </a:tr>
              <a:tr h="743100">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Instalasi + Trial</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15 - 20 Agustus</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t>Belum dimulai</a:t>
                      </a:r>
                      <a:endParaRPr/>
                    </a:p>
                  </a:txBody>
                  <a:tcPr marT="91425" marB="91425" marR="91425" marL="91425" anchor="ctr"/>
                </a:tc>
              </a:tr>
              <a:tr h="743100">
                <a:tc>
                  <a:txBody>
                    <a:bodyPr/>
                    <a:lstStyle/>
                    <a:p>
                      <a:pPr indent="0" lvl="0" marL="0" rtl="0" algn="l">
                        <a:spcBef>
                          <a:spcPts val="0"/>
                        </a:spcBef>
                        <a:spcAft>
                          <a:spcPts val="0"/>
                        </a:spcAft>
                        <a:buNone/>
                      </a:pPr>
                      <a:r>
                        <a:rPr lang="en-ID" sz="1300">
                          <a:solidFill>
                            <a:srgbClr val="1F1F1F"/>
                          </a:solidFill>
                          <a:highlight>
                            <a:srgbClr val="FFFFFF"/>
                          </a:highlight>
                          <a:latin typeface="Roboto"/>
                          <a:ea typeface="Roboto"/>
                          <a:cs typeface="Roboto"/>
                          <a:sym typeface="Roboto"/>
                        </a:rPr>
                        <a:t>monitoring, endurance, durability test </a:t>
                      </a:r>
                      <a:endParaRPr sz="1300">
                        <a:solidFill>
                          <a:srgbClr val="1F1F1F"/>
                        </a:solidFill>
                        <a:highlight>
                          <a:srgbClr val="FFFFFF"/>
                        </a:highlight>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ID"/>
                        <a:t>21 - 23 Agustus</a:t>
                      </a:r>
                      <a:endParaRPr b="1"/>
                    </a:p>
                  </a:txBody>
                  <a:tcPr marT="91425" marB="91425" marR="91425" marL="91425" anchor="ctr">
                    <a:solidFill>
                      <a:srgbClr val="00FF00"/>
                    </a:solidFill>
                  </a:tcPr>
                </a:tc>
                <a:tc>
                  <a:txBody>
                    <a:bodyPr/>
                    <a:lstStyle/>
                    <a:p>
                      <a:pPr indent="0" lvl="0" marL="0" rtl="0" algn="ctr">
                        <a:spcBef>
                          <a:spcPts val="0"/>
                        </a:spcBef>
                        <a:spcAft>
                          <a:spcPts val="0"/>
                        </a:spcAft>
                        <a:buNone/>
                      </a:pPr>
                      <a:r>
                        <a:rPr lang="en-ID"/>
                        <a:t>Belum dimulai</a:t>
                      </a:r>
                      <a:endParaRPr/>
                    </a:p>
                  </a:txBody>
                  <a:tcPr marT="91425" marB="91425" marR="91425" marL="91425" anchor="ctr"/>
                </a:tc>
              </a:tr>
            </a:tbl>
          </a:graphicData>
        </a:graphic>
      </p:graphicFrame>
      <p:pic>
        <p:nvPicPr>
          <p:cNvPr id="588" name="Google Shape;588;p48"/>
          <p:cNvPicPr preferRelativeResize="0"/>
          <p:nvPr/>
        </p:nvPicPr>
        <p:blipFill>
          <a:blip r:embed="rId3">
            <a:alphaModFix/>
          </a:blip>
          <a:stretch>
            <a:fillRect/>
          </a:stretch>
        </p:blipFill>
        <p:spPr>
          <a:xfrm>
            <a:off x="4859125" y="1325298"/>
            <a:ext cx="1957325" cy="1674175"/>
          </a:xfrm>
          <a:prstGeom prst="rect">
            <a:avLst/>
          </a:prstGeom>
          <a:noFill/>
          <a:ln>
            <a:noFill/>
          </a:ln>
        </p:spPr>
      </p:pic>
      <p:sp>
        <p:nvSpPr>
          <p:cNvPr id="589" name="Google Shape;589;p48"/>
          <p:cNvSpPr txBox="1"/>
          <p:nvPr/>
        </p:nvSpPr>
        <p:spPr>
          <a:xfrm>
            <a:off x="4500075" y="3022825"/>
            <a:ext cx="2675400" cy="723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b="1" lang="en-ID">
                <a:solidFill>
                  <a:schemeClr val="dk1"/>
                </a:solidFill>
              </a:rPr>
              <a:t> Trial </a:t>
            </a:r>
            <a:r>
              <a:rPr b="1" lang="en-ID">
                <a:solidFill>
                  <a:schemeClr val="dk1"/>
                </a:solidFill>
              </a:rPr>
              <a:t>ERM with DC Motor</a:t>
            </a:r>
            <a:br>
              <a:rPr b="1" lang="en-ID">
                <a:solidFill>
                  <a:schemeClr val="dk1"/>
                </a:solidFill>
              </a:rPr>
            </a:br>
            <a:r>
              <a:rPr b="1" lang="en-ID">
                <a:solidFill>
                  <a:schemeClr val="dk1"/>
                </a:solidFill>
              </a:rPr>
              <a:t>(Eccentric </a:t>
            </a:r>
            <a:r>
              <a:rPr b="1" lang="en-ID">
                <a:solidFill>
                  <a:schemeClr val="dk1"/>
                </a:solidFill>
              </a:rPr>
              <a:t>Rotating</a:t>
            </a:r>
            <a:r>
              <a:rPr b="1" lang="en-ID">
                <a:solidFill>
                  <a:schemeClr val="dk1"/>
                </a:solidFill>
              </a:rPr>
              <a:t> Mass)</a:t>
            </a:r>
            <a:endParaRPr b="1">
              <a:solidFill>
                <a:schemeClr val="dk1"/>
              </a:solidFill>
            </a:endParaRPr>
          </a:p>
        </p:txBody>
      </p:sp>
      <p:pic>
        <p:nvPicPr>
          <p:cNvPr id="590" name="Google Shape;590;p48"/>
          <p:cNvPicPr preferRelativeResize="0"/>
          <p:nvPr/>
        </p:nvPicPr>
        <p:blipFill>
          <a:blip r:embed="rId4">
            <a:alphaModFix/>
          </a:blip>
          <a:stretch>
            <a:fillRect/>
          </a:stretch>
        </p:blipFill>
        <p:spPr>
          <a:xfrm>
            <a:off x="7312025" y="1325300"/>
            <a:ext cx="4336401" cy="1674175"/>
          </a:xfrm>
          <a:prstGeom prst="rect">
            <a:avLst/>
          </a:prstGeom>
          <a:noFill/>
          <a:ln>
            <a:noFill/>
          </a:ln>
        </p:spPr>
      </p:pic>
      <p:sp>
        <p:nvSpPr>
          <p:cNvPr id="591" name="Google Shape;591;p48"/>
          <p:cNvSpPr txBox="1"/>
          <p:nvPr/>
        </p:nvSpPr>
        <p:spPr>
          <a:xfrm>
            <a:off x="8021325" y="3022825"/>
            <a:ext cx="2917800" cy="400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b="1" lang="en-ID">
                <a:solidFill>
                  <a:schemeClr val="dk1"/>
                </a:solidFill>
              </a:rPr>
              <a:t>Monitoring + Application</a:t>
            </a:r>
            <a:endParaRPr b="1">
              <a:solidFill>
                <a:schemeClr val="dk1"/>
              </a:solidFill>
            </a:endParaRPr>
          </a:p>
        </p:txBody>
      </p:sp>
      <p:sp>
        <p:nvSpPr>
          <p:cNvPr id="592" name="Google Shape;592;p48"/>
          <p:cNvSpPr txBox="1"/>
          <p:nvPr/>
        </p:nvSpPr>
        <p:spPr>
          <a:xfrm>
            <a:off x="1110700" y="3338788"/>
            <a:ext cx="2675400" cy="4002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1200"/>
              </a:spcBef>
              <a:spcAft>
                <a:spcPts val="1200"/>
              </a:spcAft>
              <a:buNone/>
            </a:pPr>
            <a:r>
              <a:rPr b="1" lang="en-ID">
                <a:solidFill>
                  <a:schemeClr val="dk1"/>
                </a:solidFill>
              </a:rPr>
              <a:t>Manufacturing + Assembling</a:t>
            </a:r>
            <a:endParaRPr b="1">
              <a:solidFill>
                <a:schemeClr val="dk1"/>
              </a:solidFill>
            </a:endParaRPr>
          </a:p>
        </p:txBody>
      </p:sp>
      <p:pic>
        <p:nvPicPr>
          <p:cNvPr id="593" name="Google Shape;593;p48"/>
          <p:cNvPicPr preferRelativeResize="0"/>
          <p:nvPr/>
        </p:nvPicPr>
        <p:blipFill>
          <a:blip r:embed="rId5">
            <a:alphaModFix/>
          </a:blip>
          <a:stretch>
            <a:fillRect/>
          </a:stretch>
        </p:blipFill>
        <p:spPr>
          <a:xfrm>
            <a:off x="1211601" y="1237424"/>
            <a:ext cx="2473600" cy="20063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49"/>
          <p:cNvSpPr/>
          <p:nvPr/>
        </p:nvSpPr>
        <p:spPr>
          <a:xfrm flipH="1" rot="10800000">
            <a:off x="5198533" y="0"/>
            <a:ext cx="1278466" cy="547610"/>
          </a:xfrm>
          <a:prstGeom prst="triangle">
            <a:avLst>
              <a:gd fmla="val 50000" name="adj"/>
            </a:avLst>
          </a:prstGeom>
          <a:solidFill>
            <a:srgbClr val="FF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descr="Pin by Nabilah Fikriya on Power points | Thank you gifs, Thank you images,  Calligraphy thank you" id="599" name="Google Shape;599;p49"/>
          <p:cNvPicPr preferRelativeResize="0"/>
          <p:nvPr/>
        </p:nvPicPr>
        <p:blipFill rotWithShape="1">
          <a:blip r:embed="rId3">
            <a:alphaModFix/>
          </a:blip>
          <a:srcRect b="0" l="0" r="0" t="0"/>
          <a:stretch/>
        </p:blipFill>
        <p:spPr>
          <a:xfrm>
            <a:off x="3583737" y="2022295"/>
            <a:ext cx="4762500" cy="3190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